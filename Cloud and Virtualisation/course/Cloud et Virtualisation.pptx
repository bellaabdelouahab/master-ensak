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5.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7.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8.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9.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3.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4.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15.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16.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7.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8.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9.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20.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21.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22.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23.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24.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25.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26.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27.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28.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29.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notesSlides/notesSlide30.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notesSlides/notesSlide31.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32.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33.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9"/>
  </p:notesMasterIdLst>
  <p:sldIdLst>
    <p:sldId id="256" r:id="rId2"/>
    <p:sldId id="257" r:id="rId3"/>
    <p:sldId id="377" r:id="rId4"/>
    <p:sldId id="378" r:id="rId5"/>
    <p:sldId id="263" r:id="rId6"/>
    <p:sldId id="379" r:id="rId7"/>
    <p:sldId id="264" r:id="rId8"/>
    <p:sldId id="265" r:id="rId9"/>
    <p:sldId id="261" r:id="rId10"/>
    <p:sldId id="258" r:id="rId11"/>
    <p:sldId id="259" r:id="rId12"/>
    <p:sldId id="380" r:id="rId13"/>
    <p:sldId id="260" r:id="rId14"/>
    <p:sldId id="262" r:id="rId15"/>
    <p:sldId id="269" r:id="rId16"/>
    <p:sldId id="270" r:id="rId17"/>
    <p:sldId id="271" r:id="rId18"/>
    <p:sldId id="272" r:id="rId19"/>
    <p:sldId id="273" r:id="rId20"/>
    <p:sldId id="274" r:id="rId21"/>
    <p:sldId id="275" r:id="rId22"/>
    <p:sldId id="278" r:id="rId23"/>
    <p:sldId id="279" r:id="rId24"/>
    <p:sldId id="280" r:id="rId25"/>
    <p:sldId id="285" r:id="rId26"/>
    <p:sldId id="283" r:id="rId27"/>
    <p:sldId id="281" r:id="rId28"/>
    <p:sldId id="286" r:id="rId29"/>
    <p:sldId id="288" r:id="rId30"/>
    <p:sldId id="293" r:id="rId31"/>
    <p:sldId id="294" r:id="rId32"/>
    <p:sldId id="295" r:id="rId33"/>
    <p:sldId id="297" r:id="rId34"/>
    <p:sldId id="266" r:id="rId35"/>
    <p:sldId id="301" r:id="rId36"/>
    <p:sldId id="298" r:id="rId37"/>
    <p:sldId id="299" r:id="rId38"/>
    <p:sldId id="300" r:id="rId39"/>
    <p:sldId id="302" r:id="rId40"/>
    <p:sldId id="308" r:id="rId41"/>
    <p:sldId id="304" r:id="rId42"/>
    <p:sldId id="381" r:id="rId43"/>
    <p:sldId id="309" r:id="rId44"/>
    <p:sldId id="310" r:id="rId45"/>
    <p:sldId id="311" r:id="rId46"/>
    <p:sldId id="312" r:id="rId47"/>
    <p:sldId id="382" r:id="rId48"/>
    <p:sldId id="313" r:id="rId49"/>
    <p:sldId id="315" r:id="rId50"/>
    <p:sldId id="318" r:id="rId51"/>
    <p:sldId id="319" r:id="rId52"/>
    <p:sldId id="316" r:id="rId53"/>
    <p:sldId id="314" r:id="rId54"/>
    <p:sldId id="320" r:id="rId55"/>
    <p:sldId id="321" r:id="rId56"/>
    <p:sldId id="322" r:id="rId57"/>
    <p:sldId id="323" r:id="rId58"/>
    <p:sldId id="324" r:id="rId59"/>
    <p:sldId id="383" r:id="rId60"/>
    <p:sldId id="384" r:id="rId61"/>
    <p:sldId id="370" r:id="rId62"/>
    <p:sldId id="385" r:id="rId63"/>
    <p:sldId id="372" r:id="rId64"/>
    <p:sldId id="376" r:id="rId65"/>
    <p:sldId id="363" r:id="rId66"/>
    <p:sldId id="327" r:id="rId67"/>
    <p:sldId id="328" r:id="rId68"/>
    <p:sldId id="289" r:id="rId69"/>
    <p:sldId id="290" r:id="rId70"/>
    <p:sldId id="292" r:id="rId71"/>
    <p:sldId id="329" r:id="rId72"/>
    <p:sldId id="330" r:id="rId73"/>
    <p:sldId id="331" r:id="rId74"/>
    <p:sldId id="361" r:id="rId75"/>
    <p:sldId id="362" r:id="rId76"/>
    <p:sldId id="333" r:id="rId77"/>
    <p:sldId id="334" r:id="rId78"/>
    <p:sldId id="335" r:id="rId79"/>
    <p:sldId id="336" r:id="rId80"/>
    <p:sldId id="337" r:id="rId81"/>
    <p:sldId id="303" r:id="rId82"/>
    <p:sldId id="338" r:id="rId83"/>
    <p:sldId id="307" r:id="rId84"/>
    <p:sldId id="339" r:id="rId85"/>
    <p:sldId id="340" r:id="rId86"/>
    <p:sldId id="341" r:id="rId87"/>
    <p:sldId id="342" r:id="rId88"/>
    <p:sldId id="343" r:id="rId89"/>
    <p:sldId id="344" r:id="rId90"/>
    <p:sldId id="345" r:id="rId91"/>
    <p:sldId id="364" r:id="rId92"/>
    <p:sldId id="346" r:id="rId93"/>
    <p:sldId id="347" r:id="rId94"/>
    <p:sldId id="348" r:id="rId95"/>
    <p:sldId id="365" r:id="rId96"/>
    <p:sldId id="350" r:id="rId97"/>
    <p:sldId id="351" r:id="rId98"/>
    <p:sldId id="352" r:id="rId99"/>
    <p:sldId id="353" r:id="rId100"/>
    <p:sldId id="354" r:id="rId101"/>
    <p:sldId id="366" r:id="rId102"/>
    <p:sldId id="367" r:id="rId103"/>
    <p:sldId id="369" r:id="rId104"/>
    <p:sldId id="368" r:id="rId105"/>
    <p:sldId id="356" r:id="rId106"/>
    <p:sldId id="357" r:id="rId107"/>
    <p:sldId id="373" r:id="rId10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me Page" id="{6387C1A1-B794-417A-8086-948C0F073419}">
          <p14:sldIdLst>
            <p14:sldId id="256"/>
          </p14:sldIdLst>
        </p14:section>
        <p14:section name="Introduction à la Virtualisation" id="{D3F703AE-4DD0-4673-B74C-F97D062F825C}">
          <p14:sldIdLst>
            <p14:sldId id="257"/>
            <p14:sldId id="377"/>
            <p14:sldId id="378"/>
            <p14:sldId id="263"/>
            <p14:sldId id="379"/>
            <p14:sldId id="264"/>
            <p14:sldId id="265"/>
            <p14:sldId id="261"/>
            <p14:sldId id="258"/>
            <p14:sldId id="259"/>
            <p14:sldId id="380"/>
            <p14:sldId id="260"/>
          </p14:sldIdLst>
        </p14:section>
        <p14:section name="Techniques de cloisonnement" id="{5D1B53DE-93F4-4C12-9AA4-A50DA313938A}">
          <p14:sldIdLst>
            <p14:sldId id="262"/>
            <p14:sldId id="269"/>
            <p14:sldId id="270"/>
            <p14:sldId id="271"/>
            <p14:sldId id="272"/>
          </p14:sldIdLst>
        </p14:section>
        <p14:section name="Domaines de virtualisation" id="{01AC1A1A-FC63-4CF4-A91D-64126E109EDF}">
          <p14:sldIdLst>
            <p14:sldId id="273"/>
            <p14:sldId id="274"/>
            <p14:sldId id="275"/>
            <p14:sldId id="278"/>
            <p14:sldId id="279"/>
            <p14:sldId id="280"/>
            <p14:sldId id="285"/>
            <p14:sldId id="283"/>
            <p14:sldId id="281"/>
            <p14:sldId id="286"/>
          </p14:sldIdLst>
        </p14:section>
        <p14:section name="Virtualisation des machines" id="{45D94173-632A-4317-BA70-3596B79DACC9}">
          <p14:sldIdLst>
            <p14:sldId id="288"/>
            <p14:sldId id="293"/>
            <p14:sldId id="294"/>
            <p14:sldId id="295"/>
          </p14:sldIdLst>
        </p14:section>
        <p14:section name="Virtualisation des serveurs" id="{91CE001F-5B57-4C25-9B9B-9142DCB09F57}">
          <p14:sldIdLst>
            <p14:sldId id="297"/>
            <p14:sldId id="266"/>
            <p14:sldId id="301"/>
            <p14:sldId id="298"/>
            <p14:sldId id="299"/>
            <p14:sldId id="300"/>
          </p14:sldIdLst>
        </p14:section>
        <p14:section name="Stockage" id="{E0BCD42D-7A02-4478-A1DB-E7778DA21EDB}">
          <p14:sldIdLst>
            <p14:sldId id="302"/>
            <p14:sldId id="308"/>
            <p14:sldId id="304"/>
            <p14:sldId id="381"/>
            <p14:sldId id="309"/>
            <p14:sldId id="310"/>
            <p14:sldId id="311"/>
            <p14:sldId id="312"/>
            <p14:sldId id="382"/>
            <p14:sldId id="313"/>
            <p14:sldId id="315"/>
            <p14:sldId id="318"/>
            <p14:sldId id="319"/>
            <p14:sldId id="316"/>
            <p14:sldId id="314"/>
          </p14:sldIdLst>
        </p14:section>
        <p14:section name="Virtualisation du stockage" id="{D24A2ADF-BA12-4F69-BF2A-518297116DDA}">
          <p14:sldIdLst>
            <p14:sldId id="320"/>
            <p14:sldId id="321"/>
            <p14:sldId id="322"/>
            <p14:sldId id="323"/>
            <p14:sldId id="324"/>
            <p14:sldId id="383"/>
            <p14:sldId id="384"/>
            <p14:sldId id="370"/>
            <p14:sldId id="385"/>
            <p14:sldId id="372"/>
            <p14:sldId id="376"/>
          </p14:sldIdLst>
        </p14:section>
        <p14:section name="Docker" id="{E90035FB-4E3C-4F08-8DEA-B91C8AE3AD2E}">
          <p14:sldIdLst>
            <p14:sldId id="363"/>
            <p14:sldId id="327"/>
            <p14:sldId id="328"/>
            <p14:sldId id="289"/>
            <p14:sldId id="290"/>
            <p14:sldId id="292"/>
            <p14:sldId id="329"/>
            <p14:sldId id="330"/>
            <p14:sldId id="331"/>
            <p14:sldId id="361"/>
            <p14:sldId id="362"/>
            <p14:sldId id="333"/>
            <p14:sldId id="334"/>
            <p14:sldId id="335"/>
            <p14:sldId id="336"/>
            <p14:sldId id="337"/>
            <p14:sldId id="303"/>
            <p14:sldId id="338"/>
            <p14:sldId id="307"/>
            <p14:sldId id="339"/>
            <p14:sldId id="340"/>
            <p14:sldId id="341"/>
            <p14:sldId id="342"/>
            <p14:sldId id="343"/>
            <p14:sldId id="344"/>
            <p14:sldId id="345"/>
            <p14:sldId id="364"/>
            <p14:sldId id="346"/>
            <p14:sldId id="347"/>
            <p14:sldId id="348"/>
            <p14:sldId id="365"/>
            <p14:sldId id="350"/>
            <p14:sldId id="351"/>
            <p14:sldId id="352"/>
            <p14:sldId id="353"/>
            <p14:sldId id="354"/>
            <p14:sldId id="366"/>
            <p14:sldId id="367"/>
            <p14:sldId id="369"/>
            <p14:sldId id="368"/>
            <p14:sldId id="356"/>
            <p14:sldId id="357"/>
            <p14:sldId id="3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45" autoAdjust="0"/>
    <p:restoredTop sz="94660"/>
  </p:normalViewPr>
  <p:slideViewPr>
    <p:cSldViewPr snapToGrid="0">
      <p:cViewPr varScale="1">
        <p:scale>
          <a:sx n="85" d="100"/>
          <a:sy n="85" d="100"/>
        </p:scale>
        <p:origin x="37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M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242C19-6D17-4C65-A427-F62BA8FA2836}" type="datetimeFigureOut">
              <a:rPr lang="fr-MA" smtClean="0"/>
              <a:t>31/10/2024</a:t>
            </a:fld>
            <a:endParaRPr lang="fr-M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M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M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3B793-0AA4-4503-A366-FD059A62E0DC}" type="slidenum">
              <a:rPr lang="fr-MA" smtClean="0"/>
              <a:t>‹#›</a:t>
            </a:fld>
            <a:endParaRPr lang="fr-MA"/>
          </a:p>
        </p:txBody>
      </p:sp>
    </p:spTree>
    <p:extLst>
      <p:ext uri="{BB962C8B-B14F-4D97-AF65-F5344CB8AC3E}">
        <p14:creationId xmlns:p14="http://schemas.microsoft.com/office/powerpoint/2010/main" val="2137868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66</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67</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68</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69</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70</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71</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72</a:t>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73</a:t>
            </a:fld>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76</a:t>
            </a:fld>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77</a:t>
            </a:fld>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78</a:t>
            </a:fld>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79</a:t>
            </a:fld>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80</a:t>
            </a:fld>
            <a:endParaRPr lang="fr-F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81</a:t>
            </a:fld>
            <a:endParaRPr lang="fr-F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82</a:t>
            </a:fld>
            <a:endParaRPr lang="fr-F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83</a:t>
            </a:fld>
            <a:endParaRPr lang="fr-F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84</a:t>
            </a:fld>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85</a:t>
            </a:fld>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86</a:t>
            </a:fld>
            <a:endParaRPr lang="fr-F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87</a:t>
            </a:fld>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88</a:t>
            </a:fld>
            <a:endParaRPr lang="fr-F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89</a:t>
            </a:fld>
            <a:endParaRPr lang="fr-F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90</a:t>
            </a:fld>
            <a:endParaRPr lang="fr-F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92</a:t>
            </a:fld>
            <a:endParaRPr lang="fr-F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93</a:t>
            </a:fld>
            <a:endParaRPr lang="fr-F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94</a:t>
            </a:fld>
            <a:endParaRPr lang="fr-F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96</a:t>
            </a:fld>
            <a:endParaRPr lang="fr-F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97</a:t>
            </a:fld>
            <a:endParaRPr lang="fr-F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98</a:t>
            </a:fld>
            <a:endParaRPr lang="fr-F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99</a:t>
            </a:fld>
            <a:endParaRPr lang="fr-F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100</a:t>
            </a:fld>
            <a:endParaRPr lang="fr-F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104</a:t>
            </a:fld>
            <a:endParaRPr lang="fr-FR"/>
          </a:p>
        </p:txBody>
      </p:sp>
    </p:spTree>
    <p:extLst>
      <p:ext uri="{BB962C8B-B14F-4D97-AF65-F5344CB8AC3E}">
        <p14:creationId xmlns:p14="http://schemas.microsoft.com/office/powerpoint/2010/main" val="14198112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105</a:t>
            </a:fld>
            <a:endParaRPr lang="fr-F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fr-FR" dirty="0"/>
          </a:p>
        </p:txBody>
      </p:sp>
      <p:sp>
        <p:nvSpPr>
          <p:cNvPr id="4" name="Slide Number Placeholder 3"/>
          <p:cNvSpPr>
            <a:spLocks noGrp="1"/>
          </p:cNvSpPr>
          <p:nvPr>
            <p:ph type="sldNum" sz="quarter" idx="10"/>
          </p:nvPr>
        </p:nvSpPr>
        <p:spPr/>
        <p:txBody>
          <a:bodyPr/>
          <a:lstStyle/>
          <a:p>
            <a:fld id="{EC6EAC7D-5A89-47C2-8ABA-56C9C2DEF7A4}" type="slidenum">
              <a:rPr lang="fr-FR" smtClean="0"/>
              <a:pPr/>
              <a:t>106</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fr-FR"/>
              <a:t>Modifiez le style du titre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10/31/2024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10/31/2024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fr-FR"/>
              <a:t>Modifiez le style du titre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10/31/2024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fr-FR"/>
              <a:t>Modifiez le style du titre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10/31/2024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10/31/2024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10/31/2024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fr-FR"/>
              <a:t>Modifiez le style du titre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10/31/2024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10/31/2024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10/31/2024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gif"/><Relationship Id="rId5" Type="http://schemas.openxmlformats.org/officeDocument/2006/relationships/image" Target="../media/image5.pn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image" Target="../media/image45.jpg"/><Relationship Id="rId5" Type="http://schemas.openxmlformats.org/officeDocument/2006/relationships/image" Target="../media/image44.jpeg"/><Relationship Id="rId4" Type="http://schemas.openxmlformats.org/officeDocument/2006/relationships/image" Target="../media/image43.jpe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1.webp"/><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webp"/><Relationship Id="rId4" Type="http://schemas.openxmlformats.org/officeDocument/2006/relationships/image" Target="../media/image62.png"/></Relationships>
</file>

<file path=ppt/slides/_rels/slide60.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webp"/><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69.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70.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tags" Target="../tags/tag21.xml"/><Relationship Id="rId7" Type="http://schemas.openxmlformats.org/officeDocument/2006/relationships/image" Target="../media/image72.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71.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image" Target="../media/image76.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75.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tags" Target="../tags/tag30.xml"/><Relationship Id="rId7" Type="http://schemas.openxmlformats.org/officeDocument/2006/relationships/image" Target="../media/image78.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77.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80.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image" Target="../media/image82.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81.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tags" Target="../tags/tag39.xml"/><Relationship Id="rId7" Type="http://schemas.openxmlformats.org/officeDocument/2006/relationships/image" Target="../media/image84.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83.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image" Target="../media/image87.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86.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88.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tags" Target="../tags/tag48.xml"/><Relationship Id="rId7" Type="http://schemas.openxmlformats.org/officeDocument/2006/relationships/image" Target="../media/image90.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89.png"/><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91.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92.png"/><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tags" Target="../tags/tag60.xml"/><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notesSlide" Target="../notesSlides/notesSlide20.xml"/><Relationship Id="rId10" Type="http://schemas.openxmlformats.org/officeDocument/2006/relationships/image" Target="../media/image97.png"/><Relationship Id="rId4" Type="http://schemas.openxmlformats.org/officeDocument/2006/relationships/slideLayout" Target="../slideLayouts/slideLayout2.xml"/><Relationship Id="rId9" Type="http://schemas.openxmlformats.org/officeDocument/2006/relationships/image" Target="../media/image96.png"/></Relationships>
</file>

<file path=ppt/slides/_rels/slide88.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tags" Target="../tags/tag63.xml"/><Relationship Id="rId7" Type="http://schemas.openxmlformats.org/officeDocument/2006/relationships/image" Target="../media/image101.png"/><Relationship Id="rId12" Type="http://schemas.openxmlformats.org/officeDocument/2006/relationships/image" Target="../media/image97.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00.png"/><Relationship Id="rId11" Type="http://schemas.openxmlformats.org/officeDocument/2006/relationships/image" Target="../media/image95.png"/><Relationship Id="rId5" Type="http://schemas.openxmlformats.org/officeDocument/2006/relationships/notesSlide" Target="../notesSlides/notesSlide21.xml"/><Relationship Id="rId10" Type="http://schemas.openxmlformats.org/officeDocument/2006/relationships/image" Target="../media/image94.png"/><Relationship Id="rId4" Type="http://schemas.openxmlformats.org/officeDocument/2006/relationships/slideLayout" Target="../slideLayouts/slideLayout2.xml"/><Relationship Id="rId9" Type="http://schemas.openxmlformats.org/officeDocument/2006/relationships/image" Target="../media/image102.png"/></Relationships>
</file>

<file path=ppt/slides/_rels/slide89.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tags" Target="../tags/tag66.xml"/><Relationship Id="rId7" Type="http://schemas.openxmlformats.org/officeDocument/2006/relationships/image" Target="../media/image104.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103.png"/><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tags" Target="../tags/tag69.xml"/><Relationship Id="rId7" Type="http://schemas.openxmlformats.org/officeDocument/2006/relationships/image" Target="../media/image104.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103.png"/><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tags" Target="../tags/tag75.xml"/><Relationship Id="rId7" Type="http://schemas.openxmlformats.org/officeDocument/2006/relationships/image" Target="../media/image10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06.png"/><Relationship Id="rId5" Type="http://schemas.openxmlformats.org/officeDocument/2006/relationships/notesSlide" Target="../notesSlides/notesSlide25.xml"/><Relationship Id="rId4"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tags" Target="../tags/tag78.xml"/><Relationship Id="rId7" Type="http://schemas.openxmlformats.org/officeDocument/2006/relationships/image" Target="../media/image108.png"/><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07.png"/><Relationship Id="rId5" Type="http://schemas.openxmlformats.org/officeDocument/2006/relationships/notesSlide" Target="../notesSlides/notesSlide26.xml"/><Relationship Id="rId4" Type="http://schemas.openxmlformats.org/officeDocument/2006/relationships/slideLayout" Target="../slideLayouts/slideLayout2.xml"/><Relationship Id="rId9" Type="http://schemas.openxmlformats.org/officeDocument/2006/relationships/image" Target="../media/image11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11.png"/><Relationship Id="rId5" Type="http://schemas.openxmlformats.org/officeDocument/2006/relationships/notesSlide" Target="../notesSlides/notesSlide28.xml"/><Relationship Id="rId4"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tags" Target="../tags/tag87.xml"/><Relationship Id="rId7" Type="http://schemas.openxmlformats.org/officeDocument/2006/relationships/image" Target="../media/image113.pn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112.png"/><Relationship Id="rId5" Type="http://schemas.openxmlformats.org/officeDocument/2006/relationships/notesSlide" Target="../notesSlides/notesSlide29.xml"/><Relationship Id="rId4"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16.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notesSlide" Target="../notesSlides/notesSlide30.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19.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notesSlide" Target="../notesSlides/notesSlide3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notesSlide" Target="../notesSlides/notesSlide32.xml"/><Relationship Id="rId4"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 Id="rId5" Type="http://schemas.openxmlformats.org/officeDocument/2006/relationships/notesSlide" Target="../notesSlides/notesSlide33.xml"/><Relationship Id="rId4"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120.png"/><Relationship Id="rId5" Type="http://schemas.openxmlformats.org/officeDocument/2006/relationships/notesSlide" Target="../notesSlides/notesSlide34.xml"/><Relationship Id="rId4"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D14830-1B3D-EEA7-5A0C-0F41791A4825}"/>
              </a:ext>
            </a:extLst>
          </p:cNvPr>
          <p:cNvSpPr>
            <a:spLocks noGrp="1"/>
          </p:cNvSpPr>
          <p:nvPr>
            <p:ph type="ctrTitle"/>
          </p:nvPr>
        </p:nvSpPr>
        <p:spPr>
          <a:xfrm>
            <a:off x="1813528" y="2487973"/>
            <a:ext cx="8361229" cy="2098226"/>
          </a:xfrm>
        </p:spPr>
        <p:txBody>
          <a:bodyPr/>
          <a:lstStyle/>
          <a:p>
            <a:r>
              <a:rPr lang="fr-FR" dirty="0"/>
              <a:t>Cloud </a:t>
            </a:r>
            <a:br>
              <a:rPr lang="fr-FR" dirty="0"/>
            </a:br>
            <a:r>
              <a:rPr lang="fr-FR" dirty="0"/>
              <a:t>&amp; </a:t>
            </a:r>
            <a:br>
              <a:rPr lang="fr-FR" dirty="0"/>
            </a:br>
            <a:r>
              <a:rPr lang="fr-FR" dirty="0"/>
              <a:t>virtualisation</a:t>
            </a:r>
            <a:endParaRPr lang="fr-MA" dirty="0"/>
          </a:p>
        </p:txBody>
      </p:sp>
      <p:sp>
        <p:nvSpPr>
          <p:cNvPr id="3" name="Sous-titre 2">
            <a:extLst>
              <a:ext uri="{FF2B5EF4-FFF2-40B4-BE49-F238E27FC236}">
                <a16:creationId xmlns:a16="http://schemas.microsoft.com/office/drawing/2014/main" id="{A4E3B6BF-457A-1229-45E8-422B9B8A3A01}"/>
              </a:ext>
            </a:extLst>
          </p:cNvPr>
          <p:cNvSpPr>
            <a:spLocks noGrp="1"/>
          </p:cNvSpPr>
          <p:nvPr>
            <p:ph type="subTitle" idx="1"/>
          </p:nvPr>
        </p:nvSpPr>
        <p:spPr>
          <a:xfrm>
            <a:off x="4115244" y="4586199"/>
            <a:ext cx="6831673" cy="1086237"/>
          </a:xfrm>
        </p:spPr>
        <p:txBody>
          <a:bodyPr>
            <a:normAutofit fontScale="92500" lnSpcReduction="10000"/>
          </a:bodyPr>
          <a:lstStyle/>
          <a:p>
            <a:pPr algn="r"/>
            <a:endParaRPr lang="fr-FR" dirty="0"/>
          </a:p>
          <a:p>
            <a:pPr algn="r"/>
            <a:r>
              <a:rPr lang="fr-FR" dirty="0"/>
              <a:t>2024/2025</a:t>
            </a:r>
          </a:p>
          <a:p>
            <a:pPr algn="r"/>
            <a:r>
              <a:rPr lang="fr-FR" dirty="0"/>
              <a:t>Pr. Mohammed NASRI</a:t>
            </a:r>
            <a:endParaRPr lang="fr-MA" dirty="0"/>
          </a:p>
        </p:txBody>
      </p:sp>
    </p:spTree>
    <p:extLst>
      <p:ext uri="{BB962C8B-B14F-4D97-AF65-F5344CB8AC3E}">
        <p14:creationId xmlns:p14="http://schemas.microsoft.com/office/powerpoint/2010/main" val="1892994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731F6C-B562-C7B6-5E19-6041DBB2487A}"/>
              </a:ext>
            </a:extLst>
          </p:cNvPr>
          <p:cNvSpPr>
            <a:spLocks noGrp="1"/>
          </p:cNvSpPr>
          <p:nvPr>
            <p:ph type="title"/>
          </p:nvPr>
        </p:nvSpPr>
        <p:spPr/>
        <p:txBody>
          <a:bodyPr/>
          <a:lstStyle/>
          <a:p>
            <a:r>
              <a:rPr lang="fr-FR" dirty="0"/>
              <a:t>Chapitre 1</a:t>
            </a:r>
            <a:endParaRPr lang="fr-MA" dirty="0"/>
          </a:p>
        </p:txBody>
      </p:sp>
      <p:sp>
        <p:nvSpPr>
          <p:cNvPr id="3" name="Espace réservé du contenu 2">
            <a:extLst>
              <a:ext uri="{FF2B5EF4-FFF2-40B4-BE49-F238E27FC236}">
                <a16:creationId xmlns:a16="http://schemas.microsoft.com/office/drawing/2014/main" id="{832D990A-B9DA-52C8-F082-CA5F49B8F8FA}"/>
              </a:ext>
            </a:extLst>
          </p:cNvPr>
          <p:cNvSpPr>
            <a:spLocks noGrp="1"/>
          </p:cNvSpPr>
          <p:nvPr>
            <p:ph idx="1"/>
          </p:nvPr>
        </p:nvSpPr>
        <p:spPr>
          <a:xfrm>
            <a:off x="1806494" y="2729261"/>
            <a:ext cx="9601200" cy="1929161"/>
          </a:xfrm>
        </p:spPr>
        <p:txBody>
          <a:bodyPr>
            <a:normAutofit/>
          </a:bodyPr>
          <a:lstStyle/>
          <a:p>
            <a:pPr marL="0" indent="0" algn="ctr">
              <a:buNone/>
            </a:pPr>
            <a:r>
              <a:rPr lang="fr-FR" sz="11500" dirty="0"/>
              <a:t>Virtualisation</a:t>
            </a:r>
            <a:endParaRPr lang="fr-MA" sz="11500" dirty="0"/>
          </a:p>
        </p:txBody>
      </p:sp>
    </p:spTree>
    <p:extLst>
      <p:ext uri="{BB962C8B-B14F-4D97-AF65-F5344CB8AC3E}">
        <p14:creationId xmlns:p14="http://schemas.microsoft.com/office/powerpoint/2010/main" val="295411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normAutofit/>
          </a:bodyPr>
          <a:lstStyle/>
          <a:p>
            <a:r>
              <a:rPr lang="fr-FR" dirty="0"/>
              <a:t>Introduction :</a:t>
            </a:r>
            <a:endParaRPr lang="fr-MA" dirty="0"/>
          </a:p>
        </p:txBody>
      </p:sp>
      <p:pic>
        <p:nvPicPr>
          <p:cNvPr id="6" name="Picture 5">
            <a:extLst>
              <a:ext uri="{FF2B5EF4-FFF2-40B4-BE49-F238E27FC236}">
                <a16:creationId xmlns:a16="http://schemas.microsoft.com/office/drawing/2014/main" id="{59556C0E-F83A-5E16-4AA4-821E4F9A92AE}"/>
              </a:ext>
            </a:extLst>
          </p:cNvPr>
          <p:cNvPicPr>
            <a:picLocks noChangeAspect="1"/>
          </p:cNvPicPr>
          <p:nvPr/>
        </p:nvPicPr>
        <p:blipFill>
          <a:blip r:embed="rId2"/>
          <a:stretch>
            <a:fillRect/>
          </a:stretch>
        </p:blipFill>
        <p:spPr>
          <a:xfrm>
            <a:off x="2453527" y="3165941"/>
            <a:ext cx="7035454" cy="2701459"/>
          </a:xfrm>
          <a:prstGeom prst="rect">
            <a:avLst/>
          </a:prstGeom>
        </p:spPr>
      </p:pic>
      <p:sp>
        <p:nvSpPr>
          <p:cNvPr id="11" name="Content Placeholder 10">
            <a:extLst>
              <a:ext uri="{FF2B5EF4-FFF2-40B4-BE49-F238E27FC236}">
                <a16:creationId xmlns:a16="http://schemas.microsoft.com/office/drawing/2014/main" id="{B66CF281-0C6C-08EF-1836-32F416D62B3C}"/>
              </a:ext>
            </a:extLst>
          </p:cNvPr>
          <p:cNvSpPr>
            <a:spLocks noGrp="1"/>
          </p:cNvSpPr>
          <p:nvPr>
            <p:ph idx="1"/>
          </p:nvPr>
        </p:nvSpPr>
        <p:spPr/>
        <p:txBody>
          <a:bodyPr/>
          <a:lstStyle/>
          <a:p>
            <a:r>
              <a:rPr lang="fr-FR" dirty="0"/>
              <a:t>Architecture Traditionnelle Vs Architecture Virtualisée</a:t>
            </a:r>
          </a:p>
        </p:txBody>
      </p:sp>
    </p:spTree>
    <p:extLst>
      <p:ext uri="{BB962C8B-B14F-4D97-AF65-F5344CB8AC3E}">
        <p14:creationId xmlns:p14="http://schemas.microsoft.com/office/powerpoint/2010/main" val="2414384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Introduction</a:t>
            </a:r>
            <a:endParaRPr lang="fr-MA" dirty="0"/>
          </a:p>
        </p:txBody>
      </p:sp>
      <p:sp>
        <p:nvSpPr>
          <p:cNvPr id="8" name="Espace réservé du contenu 7">
            <a:extLst>
              <a:ext uri="{FF2B5EF4-FFF2-40B4-BE49-F238E27FC236}">
                <a16:creationId xmlns:a16="http://schemas.microsoft.com/office/drawing/2014/main" id="{CD64BE8B-19F0-FA84-C6DA-843406CA6D30}"/>
              </a:ext>
            </a:extLst>
          </p:cNvPr>
          <p:cNvSpPr>
            <a:spLocks noGrp="1"/>
          </p:cNvSpPr>
          <p:nvPr>
            <p:ph idx="1"/>
          </p:nvPr>
        </p:nvSpPr>
        <p:spPr>
          <a:xfrm>
            <a:off x="1299882" y="2017059"/>
            <a:ext cx="5289177" cy="4634753"/>
          </a:xfrm>
        </p:spPr>
        <p:txBody>
          <a:bodyPr>
            <a:normAutofit fontScale="92500" lnSpcReduction="10000"/>
          </a:bodyPr>
          <a:lstStyle/>
          <a:p>
            <a:pPr marL="0" lvl="0" indent="0" algn="just">
              <a:lnSpc>
                <a:spcPct val="150000"/>
              </a:lnSpc>
              <a:spcBef>
                <a:spcPts val="600"/>
              </a:spcBef>
              <a:buNone/>
            </a:pPr>
            <a:r>
              <a:rPr lang="fr-MA" sz="2600" b="1" kern="100" dirty="0">
                <a:effectLst/>
                <a:latin typeface="Times New Roman" panose="02020603050405020304" pitchFamily="18" charset="0"/>
                <a:ea typeface="Calibri" panose="020F0502020204030204" pitchFamily="34" charset="0"/>
                <a:cs typeface="Times New Roman" panose="02020603050405020304" pitchFamily="18" charset="0"/>
              </a:rPr>
              <a:t>Définitions &amp; Concepts</a:t>
            </a:r>
          </a:p>
          <a:p>
            <a:pPr marL="342900" lvl="0" indent="-342900" algn="just">
              <a:lnSpc>
                <a:spcPct val="150000"/>
              </a:lnSpc>
              <a:spcBef>
                <a:spcPts val="600"/>
              </a:spcBef>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Machine Virtuelle :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Drivers + OS + Docs et Apps.</a:t>
            </a:r>
          </a:p>
          <a:p>
            <a:pPr marL="342900" lvl="0" indent="-342900" algn="just">
              <a:lnSpc>
                <a:spcPct val="150000"/>
              </a:lnSpc>
              <a:spcBef>
                <a:spcPts val="600"/>
              </a:spcBef>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Hyperviseur :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Logiciel de virtualisation (VMWare</a:t>
            </a:r>
            <a:r>
              <a:rPr lang="fr-MA" sz="1800" kern="100" dirty="0">
                <a:latin typeface="Times New Roman" panose="02020603050405020304" pitchFamily="18" charset="0"/>
                <a:ea typeface="Calibri" panose="020F0502020204030204" pitchFamily="34" charset="0"/>
                <a:cs typeface="Times New Roman" panose="02020603050405020304" pitchFamily="18" charset="0"/>
              </a:rPr>
              <a:t>, VirtualBox, </a:t>
            </a:r>
            <a:r>
              <a:rPr lang="fr-MA" sz="1800" kern="100" dirty="0" err="1">
                <a:latin typeface="Times New Roman" panose="02020603050405020304" pitchFamily="18" charset="0"/>
                <a:ea typeface="Calibri" panose="020F0502020204030204" pitchFamily="34" charset="0"/>
                <a:cs typeface="Times New Roman" panose="02020603050405020304" pitchFamily="18" charset="0"/>
              </a:rPr>
              <a:t>HyperV</a:t>
            </a:r>
            <a:r>
              <a:rPr lang="fr-MA" sz="1800" kern="100" dirty="0">
                <a:latin typeface="Times New Roman" panose="02020603050405020304" pitchFamily="18" charset="0"/>
                <a:ea typeface="Calibri" panose="020F0502020204030204" pitchFamily="34" charset="0"/>
                <a:cs typeface="Times New Roman" panose="02020603050405020304" pitchFamily="18" charset="0"/>
              </a:rPr>
              <a:t>, etc.)</a:t>
            </a: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Bef>
                <a:spcPts val="600"/>
              </a:spcBef>
              <a:buFont typeface="Symbol" panose="05050102010706020507" pitchFamily="18" charset="2"/>
              <a:buChar char=""/>
            </a:pPr>
            <a:r>
              <a:rPr lang="fr-MA" sz="1800" b="1" kern="100" dirty="0">
                <a:latin typeface="Times New Roman" panose="02020603050405020304" pitchFamily="18" charset="0"/>
                <a:ea typeface="Calibri" panose="020F0502020204030204" pitchFamily="34" charset="0"/>
                <a:cs typeface="Times New Roman" panose="02020603050405020304" pitchFamily="18" charset="0"/>
              </a:rPr>
              <a:t>OS Hôte : </a:t>
            </a:r>
            <a:r>
              <a:rPr lang="fr-MA" sz="1800" kern="100" dirty="0">
                <a:latin typeface="Times New Roman" panose="02020603050405020304" pitchFamily="18" charset="0"/>
                <a:ea typeface="Calibri" panose="020F0502020204030204" pitchFamily="34" charset="0"/>
                <a:cs typeface="Times New Roman" panose="02020603050405020304" pitchFamily="18" charset="0"/>
              </a:rPr>
              <a:t>l’OS de la machine physique, sur lequel est installé l’hyperviseur</a:t>
            </a:r>
          </a:p>
          <a:p>
            <a:pPr marL="342900" lvl="0" indent="-342900" algn="just">
              <a:lnSpc>
                <a:spcPct val="150000"/>
              </a:lnSpc>
              <a:spcBef>
                <a:spcPts val="600"/>
              </a:spcBef>
              <a:buFont typeface="Symbol" panose="05050102010706020507" pitchFamily="18" charset="2"/>
              <a:buChar char=""/>
            </a:pPr>
            <a:r>
              <a:rPr lang="fr-MA" sz="1800" b="1" kern="100" dirty="0">
                <a:latin typeface="Times New Roman" panose="02020603050405020304" pitchFamily="18" charset="0"/>
                <a:ea typeface="Calibri" panose="020F0502020204030204" pitchFamily="34" charset="0"/>
                <a:cs typeface="Times New Roman" panose="02020603050405020304" pitchFamily="18" charset="0"/>
              </a:rPr>
              <a:t>OS Invité : </a:t>
            </a:r>
            <a:r>
              <a:rPr lang="fr-MA" sz="1800" kern="100" dirty="0">
                <a:latin typeface="Times New Roman" panose="02020603050405020304" pitchFamily="18" charset="0"/>
                <a:ea typeface="Calibri" panose="020F0502020204030204" pitchFamily="34" charset="0"/>
                <a:cs typeface="Times New Roman" panose="02020603050405020304" pitchFamily="18" charset="0"/>
              </a:rPr>
              <a:t>L’OS installé sur la machine virtuelle.</a:t>
            </a:r>
          </a:p>
          <a:p>
            <a:pPr marL="342900" lvl="0" indent="-342900" algn="just">
              <a:lnSpc>
                <a:spcPct val="150000"/>
              </a:lnSpc>
              <a:spcBef>
                <a:spcPts val="600"/>
              </a:spcBef>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Drivers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 Le </a:t>
            </a:r>
            <a:r>
              <a:rPr lang="fr-MA" sz="1800" kern="100" dirty="0">
                <a:latin typeface="Times New Roman" panose="02020603050405020304" pitchFamily="18" charset="0"/>
                <a:ea typeface="Calibri" panose="020F0502020204030204" pitchFamily="34" charset="0"/>
                <a:cs typeface="Times New Roman" panose="02020603050405020304" pitchFamily="18" charset="0"/>
              </a:rPr>
              <a:t>matériel</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dans les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VMs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n’est pas réel. D’où la nécessité des drivers.</a:t>
            </a:r>
            <a:endParaRPr lang="fr-MA" sz="1800" kern="1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Bef>
                <a:spcPts val="600"/>
              </a:spcBef>
              <a:buNone/>
            </a:pPr>
            <a:r>
              <a:rPr lang="fr-MA" sz="1800"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Est-ce la même chose que la conteneurisation ?</a:t>
            </a:r>
          </a:p>
          <a:p>
            <a:endParaRPr lang="fr-MA" dirty="0"/>
          </a:p>
        </p:txBody>
      </p:sp>
      <p:grpSp>
        <p:nvGrpSpPr>
          <p:cNvPr id="35" name="Group 34">
            <a:extLst>
              <a:ext uri="{FF2B5EF4-FFF2-40B4-BE49-F238E27FC236}">
                <a16:creationId xmlns:a16="http://schemas.microsoft.com/office/drawing/2014/main" id="{8124D5E2-F10B-02C4-C067-A70BB241E7AB}"/>
              </a:ext>
            </a:extLst>
          </p:cNvPr>
          <p:cNvGrpSpPr/>
          <p:nvPr/>
        </p:nvGrpSpPr>
        <p:grpSpPr>
          <a:xfrm>
            <a:off x="6934197" y="694759"/>
            <a:ext cx="5020235" cy="5576041"/>
            <a:chOff x="6934197" y="694759"/>
            <a:chExt cx="5020235" cy="5576041"/>
          </a:xfrm>
        </p:grpSpPr>
        <p:sp>
          <p:nvSpPr>
            <p:cNvPr id="11" name="Rectangle: Rounded Corners 10">
              <a:extLst>
                <a:ext uri="{FF2B5EF4-FFF2-40B4-BE49-F238E27FC236}">
                  <a16:creationId xmlns:a16="http://schemas.microsoft.com/office/drawing/2014/main" id="{191C5057-4E38-6089-69FD-FF096961B585}"/>
                </a:ext>
              </a:extLst>
            </p:cNvPr>
            <p:cNvSpPr/>
            <p:nvPr/>
          </p:nvSpPr>
          <p:spPr>
            <a:xfrm>
              <a:off x="7458634" y="5531218"/>
              <a:ext cx="3971365" cy="430306"/>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FR" dirty="0"/>
                <a:t>Matériel</a:t>
              </a:r>
              <a:endParaRPr lang="en-US" dirty="0"/>
            </a:p>
          </p:txBody>
        </p:sp>
        <p:sp>
          <p:nvSpPr>
            <p:cNvPr id="13" name="Rectangle: Rounded Corners 12">
              <a:extLst>
                <a:ext uri="{FF2B5EF4-FFF2-40B4-BE49-F238E27FC236}">
                  <a16:creationId xmlns:a16="http://schemas.microsoft.com/office/drawing/2014/main" id="{C1645C61-506C-6199-E2F2-FFE8912E8E9B}"/>
                </a:ext>
              </a:extLst>
            </p:cNvPr>
            <p:cNvSpPr/>
            <p:nvPr/>
          </p:nvSpPr>
          <p:spPr>
            <a:xfrm>
              <a:off x="7458634" y="4946272"/>
              <a:ext cx="3971365" cy="430306"/>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r-FR" dirty="0"/>
                <a:t>Système d’opération Hôte</a:t>
              </a:r>
              <a:endParaRPr lang="en-US" dirty="0"/>
            </a:p>
          </p:txBody>
        </p:sp>
        <p:sp>
          <p:nvSpPr>
            <p:cNvPr id="14" name="Rectangle: Rounded Corners 13">
              <a:extLst>
                <a:ext uri="{FF2B5EF4-FFF2-40B4-BE49-F238E27FC236}">
                  <a16:creationId xmlns:a16="http://schemas.microsoft.com/office/drawing/2014/main" id="{2C2B767C-94C0-9B2B-5B55-7BEA556840F3}"/>
                </a:ext>
              </a:extLst>
            </p:cNvPr>
            <p:cNvSpPr/>
            <p:nvPr/>
          </p:nvSpPr>
          <p:spPr>
            <a:xfrm>
              <a:off x="7458633" y="4329938"/>
              <a:ext cx="3971365" cy="430306"/>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r-FR" dirty="0"/>
                <a:t>Hyperviseur / Emulateur</a:t>
              </a:r>
              <a:endParaRPr lang="en-US" dirty="0"/>
            </a:p>
          </p:txBody>
        </p:sp>
        <p:sp>
          <p:nvSpPr>
            <p:cNvPr id="15" name="Rectangle: Rounded Corners 14">
              <a:extLst>
                <a:ext uri="{FF2B5EF4-FFF2-40B4-BE49-F238E27FC236}">
                  <a16:creationId xmlns:a16="http://schemas.microsoft.com/office/drawing/2014/main" id="{C27FB4B2-D9C7-D01C-DE0E-2459887BAE04}"/>
                </a:ext>
              </a:extLst>
            </p:cNvPr>
            <p:cNvSpPr/>
            <p:nvPr/>
          </p:nvSpPr>
          <p:spPr>
            <a:xfrm>
              <a:off x="6934197" y="694759"/>
              <a:ext cx="5020235" cy="5576041"/>
            </a:xfrm>
            <a:prstGeom prst="roundRect">
              <a:avLst/>
            </a:prstGeom>
            <a:noFill/>
            <a:ln>
              <a:solidFill>
                <a:srgbClr val="002060"/>
              </a:solidFill>
            </a:ln>
          </p:spPr>
          <p:style>
            <a:lnRef idx="0">
              <a:scrgbClr r="0" g="0" b="0"/>
            </a:lnRef>
            <a:fillRef idx="0">
              <a:scrgbClr r="0" g="0" b="0"/>
            </a:fillRef>
            <a:effectRef idx="0">
              <a:scrgbClr r="0" g="0" b="0"/>
            </a:effectRef>
            <a:fontRef idx="minor">
              <a:schemeClr val="accent5"/>
            </a:fontRef>
          </p:style>
          <p:txBody>
            <a:bodyPr rtlCol="0" anchor="t"/>
            <a:lstStyle/>
            <a:p>
              <a:pPr algn="ctr"/>
              <a:r>
                <a:rPr lang="fr-FR" dirty="0">
                  <a:solidFill>
                    <a:schemeClr val="tx2"/>
                  </a:solidFill>
                </a:rPr>
                <a:t>Serveur / Machine physique</a:t>
              </a:r>
              <a:endParaRPr lang="en-US" dirty="0">
                <a:solidFill>
                  <a:schemeClr val="tx2"/>
                </a:solidFill>
              </a:endParaRPr>
            </a:p>
          </p:txBody>
        </p:sp>
        <p:grpSp>
          <p:nvGrpSpPr>
            <p:cNvPr id="28" name="Group 27">
              <a:extLst>
                <a:ext uri="{FF2B5EF4-FFF2-40B4-BE49-F238E27FC236}">
                  <a16:creationId xmlns:a16="http://schemas.microsoft.com/office/drawing/2014/main" id="{620608AB-E735-C046-0B58-14462B8FFB3F}"/>
                </a:ext>
              </a:extLst>
            </p:cNvPr>
            <p:cNvGrpSpPr/>
            <p:nvPr/>
          </p:nvGrpSpPr>
          <p:grpSpPr>
            <a:xfrm>
              <a:off x="7458633" y="1753739"/>
              <a:ext cx="1707779" cy="2390171"/>
              <a:chOff x="7458633" y="1753739"/>
              <a:chExt cx="1707779" cy="2390171"/>
            </a:xfrm>
          </p:grpSpPr>
          <p:grpSp>
            <p:nvGrpSpPr>
              <p:cNvPr id="20" name="Group 19">
                <a:extLst>
                  <a:ext uri="{FF2B5EF4-FFF2-40B4-BE49-F238E27FC236}">
                    <a16:creationId xmlns:a16="http://schemas.microsoft.com/office/drawing/2014/main" id="{34B0A98D-9342-CE4D-36FE-339C9FB0C0CF}"/>
                  </a:ext>
                </a:extLst>
              </p:cNvPr>
              <p:cNvGrpSpPr/>
              <p:nvPr/>
            </p:nvGrpSpPr>
            <p:grpSpPr>
              <a:xfrm>
                <a:off x="7458633" y="1753739"/>
                <a:ext cx="1698814" cy="2390171"/>
                <a:chOff x="7485528" y="1278615"/>
                <a:chExt cx="1698814" cy="2390171"/>
              </a:xfrm>
            </p:grpSpPr>
            <p:sp>
              <p:nvSpPr>
                <p:cNvPr id="16" name="Rectangle: Rounded Corners 15">
                  <a:extLst>
                    <a:ext uri="{FF2B5EF4-FFF2-40B4-BE49-F238E27FC236}">
                      <a16:creationId xmlns:a16="http://schemas.microsoft.com/office/drawing/2014/main" id="{177DC898-A574-F37F-81A2-014FBE5A2D85}"/>
                    </a:ext>
                  </a:extLst>
                </p:cNvPr>
                <p:cNvSpPr/>
                <p:nvPr/>
              </p:nvSpPr>
              <p:spPr>
                <a:xfrm>
                  <a:off x="7485528" y="1281954"/>
                  <a:ext cx="1698814" cy="2386832"/>
                </a:xfrm>
                <a:prstGeom prst="roundRect">
                  <a:avLst/>
                </a:prstGeom>
                <a:noFill/>
                <a:ln>
                  <a:solidFill>
                    <a:srgbClr val="002060"/>
                  </a:solidFill>
                </a:ln>
              </p:spPr>
              <p:style>
                <a:lnRef idx="0">
                  <a:scrgbClr r="0" g="0" b="0"/>
                </a:lnRef>
                <a:fillRef idx="0">
                  <a:scrgbClr r="0" g="0" b="0"/>
                </a:fillRef>
                <a:effectRef idx="0">
                  <a:scrgbClr r="0" g="0" b="0"/>
                </a:effectRef>
                <a:fontRef idx="minor">
                  <a:schemeClr val="accent5"/>
                </a:fontRef>
              </p:style>
              <p:txBody>
                <a:bodyPr rtlCol="0" anchor="b"/>
                <a:lstStyle/>
                <a:p>
                  <a:pPr algn="ctr"/>
                  <a:r>
                    <a:rPr lang="fr-FR" dirty="0"/>
                    <a:t>MV 1</a:t>
                  </a:r>
                  <a:endParaRPr lang="en-US" dirty="0"/>
                </a:p>
              </p:txBody>
            </p:sp>
            <p:sp>
              <p:nvSpPr>
                <p:cNvPr id="17" name="Rectangle: Rounded Corners 16">
                  <a:extLst>
                    <a:ext uri="{FF2B5EF4-FFF2-40B4-BE49-F238E27FC236}">
                      <a16:creationId xmlns:a16="http://schemas.microsoft.com/office/drawing/2014/main" id="{330CA840-302B-FA62-BDD0-07259AA947D4}"/>
                    </a:ext>
                  </a:extLst>
                </p:cNvPr>
                <p:cNvSpPr/>
                <p:nvPr/>
              </p:nvSpPr>
              <p:spPr>
                <a:xfrm>
                  <a:off x="7485528" y="1990160"/>
                  <a:ext cx="1698814" cy="537864"/>
                </a:xfrm>
                <a:prstGeom prst="roundRect">
                  <a:avLst/>
                </a:prstGeom>
                <a:ln w="9525"/>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OS invité</a:t>
                  </a:r>
                </a:p>
              </p:txBody>
            </p:sp>
            <p:sp>
              <p:nvSpPr>
                <p:cNvPr id="18" name="Rectangle: Rounded Corners 17">
                  <a:extLst>
                    <a:ext uri="{FF2B5EF4-FFF2-40B4-BE49-F238E27FC236}">
                      <a16:creationId xmlns:a16="http://schemas.microsoft.com/office/drawing/2014/main" id="{E4A8D3A2-4D7A-A7BA-A0FF-3C65270C0691}"/>
                    </a:ext>
                  </a:extLst>
                </p:cNvPr>
                <p:cNvSpPr/>
                <p:nvPr/>
              </p:nvSpPr>
              <p:spPr>
                <a:xfrm>
                  <a:off x="7485528" y="1278615"/>
                  <a:ext cx="1698814" cy="5378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App / Docs</a:t>
                  </a:r>
                </a:p>
              </p:txBody>
            </p:sp>
          </p:grpSp>
          <p:sp>
            <p:nvSpPr>
              <p:cNvPr id="26" name="Rectangle: Rounded Corners 25">
                <a:extLst>
                  <a:ext uri="{FF2B5EF4-FFF2-40B4-BE49-F238E27FC236}">
                    <a16:creationId xmlns:a16="http://schemas.microsoft.com/office/drawing/2014/main" id="{E76D7659-8DF4-F84B-6D38-69DC5A6AA966}"/>
                  </a:ext>
                </a:extLst>
              </p:cNvPr>
              <p:cNvSpPr/>
              <p:nvPr/>
            </p:nvSpPr>
            <p:spPr>
              <a:xfrm>
                <a:off x="7467598" y="3191448"/>
                <a:ext cx="1698814" cy="537864"/>
              </a:xfrm>
              <a:prstGeom prst="round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fr-FR" dirty="0"/>
                  <a:t>Drivers</a:t>
                </a:r>
              </a:p>
            </p:txBody>
          </p:sp>
        </p:grpSp>
        <p:grpSp>
          <p:nvGrpSpPr>
            <p:cNvPr id="29" name="Group 28">
              <a:extLst>
                <a:ext uri="{FF2B5EF4-FFF2-40B4-BE49-F238E27FC236}">
                  <a16:creationId xmlns:a16="http://schemas.microsoft.com/office/drawing/2014/main" id="{0524585A-9CEF-16DE-B4FE-9F905A0688BC}"/>
                </a:ext>
              </a:extLst>
            </p:cNvPr>
            <p:cNvGrpSpPr/>
            <p:nvPr/>
          </p:nvGrpSpPr>
          <p:grpSpPr>
            <a:xfrm>
              <a:off x="9646020" y="1753736"/>
              <a:ext cx="1707779" cy="2390171"/>
              <a:chOff x="7458633" y="1753739"/>
              <a:chExt cx="1707779" cy="2390171"/>
            </a:xfrm>
          </p:grpSpPr>
          <p:grpSp>
            <p:nvGrpSpPr>
              <p:cNvPr id="30" name="Group 29">
                <a:extLst>
                  <a:ext uri="{FF2B5EF4-FFF2-40B4-BE49-F238E27FC236}">
                    <a16:creationId xmlns:a16="http://schemas.microsoft.com/office/drawing/2014/main" id="{CD11614B-AFC6-69AF-CD49-9F83ECE26711}"/>
                  </a:ext>
                </a:extLst>
              </p:cNvPr>
              <p:cNvGrpSpPr/>
              <p:nvPr/>
            </p:nvGrpSpPr>
            <p:grpSpPr>
              <a:xfrm>
                <a:off x="7458633" y="1753739"/>
                <a:ext cx="1698814" cy="2390171"/>
                <a:chOff x="7485528" y="1278615"/>
                <a:chExt cx="1698814" cy="2390171"/>
              </a:xfrm>
            </p:grpSpPr>
            <p:sp>
              <p:nvSpPr>
                <p:cNvPr id="32" name="Rectangle: Rounded Corners 31">
                  <a:extLst>
                    <a:ext uri="{FF2B5EF4-FFF2-40B4-BE49-F238E27FC236}">
                      <a16:creationId xmlns:a16="http://schemas.microsoft.com/office/drawing/2014/main" id="{0D061FF4-F6E1-3A23-B099-B1A901685D6D}"/>
                    </a:ext>
                  </a:extLst>
                </p:cNvPr>
                <p:cNvSpPr/>
                <p:nvPr/>
              </p:nvSpPr>
              <p:spPr>
                <a:xfrm>
                  <a:off x="7485528" y="1281954"/>
                  <a:ext cx="1698814" cy="2386832"/>
                </a:xfrm>
                <a:prstGeom prst="roundRect">
                  <a:avLst/>
                </a:prstGeom>
                <a:noFill/>
                <a:ln>
                  <a:solidFill>
                    <a:srgbClr val="002060"/>
                  </a:solidFill>
                </a:ln>
              </p:spPr>
              <p:style>
                <a:lnRef idx="0">
                  <a:scrgbClr r="0" g="0" b="0"/>
                </a:lnRef>
                <a:fillRef idx="0">
                  <a:scrgbClr r="0" g="0" b="0"/>
                </a:fillRef>
                <a:effectRef idx="0">
                  <a:scrgbClr r="0" g="0" b="0"/>
                </a:effectRef>
                <a:fontRef idx="minor">
                  <a:schemeClr val="accent5"/>
                </a:fontRef>
              </p:style>
              <p:txBody>
                <a:bodyPr rtlCol="0" anchor="b"/>
                <a:lstStyle/>
                <a:p>
                  <a:pPr algn="ctr"/>
                  <a:r>
                    <a:rPr lang="fr-FR" dirty="0"/>
                    <a:t>MV 2</a:t>
                  </a:r>
                  <a:endParaRPr lang="en-US" dirty="0"/>
                </a:p>
              </p:txBody>
            </p:sp>
            <p:sp>
              <p:nvSpPr>
                <p:cNvPr id="33" name="Rectangle: Rounded Corners 32">
                  <a:extLst>
                    <a:ext uri="{FF2B5EF4-FFF2-40B4-BE49-F238E27FC236}">
                      <a16:creationId xmlns:a16="http://schemas.microsoft.com/office/drawing/2014/main" id="{8E993CA8-4B24-472A-E649-176E5A53AF26}"/>
                    </a:ext>
                  </a:extLst>
                </p:cNvPr>
                <p:cNvSpPr/>
                <p:nvPr/>
              </p:nvSpPr>
              <p:spPr>
                <a:xfrm>
                  <a:off x="7485528" y="1990160"/>
                  <a:ext cx="1698814" cy="537864"/>
                </a:xfrm>
                <a:prstGeom prst="roundRect">
                  <a:avLst/>
                </a:prstGeom>
                <a:ln w="9525"/>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OS invité</a:t>
                  </a:r>
                </a:p>
              </p:txBody>
            </p:sp>
            <p:sp>
              <p:nvSpPr>
                <p:cNvPr id="34" name="Rectangle: Rounded Corners 33">
                  <a:extLst>
                    <a:ext uri="{FF2B5EF4-FFF2-40B4-BE49-F238E27FC236}">
                      <a16:creationId xmlns:a16="http://schemas.microsoft.com/office/drawing/2014/main" id="{FD778FAE-76E0-CC23-23CB-F4E4FB7FB1AB}"/>
                    </a:ext>
                  </a:extLst>
                </p:cNvPr>
                <p:cNvSpPr/>
                <p:nvPr/>
              </p:nvSpPr>
              <p:spPr>
                <a:xfrm>
                  <a:off x="7485528" y="1278615"/>
                  <a:ext cx="1698814" cy="5378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App / Docs</a:t>
                  </a:r>
                </a:p>
              </p:txBody>
            </p:sp>
          </p:grpSp>
          <p:sp>
            <p:nvSpPr>
              <p:cNvPr id="31" name="Rectangle: Rounded Corners 30">
                <a:extLst>
                  <a:ext uri="{FF2B5EF4-FFF2-40B4-BE49-F238E27FC236}">
                    <a16:creationId xmlns:a16="http://schemas.microsoft.com/office/drawing/2014/main" id="{777F424F-9766-A23C-3D0B-1826A1DE220E}"/>
                  </a:ext>
                </a:extLst>
              </p:cNvPr>
              <p:cNvSpPr/>
              <p:nvPr/>
            </p:nvSpPr>
            <p:spPr>
              <a:xfrm>
                <a:off x="7467598" y="3191448"/>
                <a:ext cx="1698814" cy="537864"/>
              </a:xfrm>
              <a:prstGeom prst="round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fr-FR" dirty="0"/>
                  <a:t>Drivers</a:t>
                </a:r>
              </a:p>
            </p:txBody>
          </p:sp>
        </p:grpSp>
      </p:grpSp>
    </p:spTree>
    <p:extLst>
      <p:ext uri="{BB962C8B-B14F-4D97-AF65-F5344CB8AC3E}">
        <p14:creationId xmlns:p14="http://schemas.microsoft.com/office/powerpoint/2010/main" val="2765423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Virtualisation / Conteneurisation</a:t>
            </a:r>
            <a:endParaRPr lang="fr-MA" dirty="0"/>
          </a:p>
        </p:txBody>
      </p:sp>
      <p:grpSp>
        <p:nvGrpSpPr>
          <p:cNvPr id="3" name="Group 2">
            <a:extLst>
              <a:ext uri="{FF2B5EF4-FFF2-40B4-BE49-F238E27FC236}">
                <a16:creationId xmlns:a16="http://schemas.microsoft.com/office/drawing/2014/main" id="{2A49E2DC-DEF8-6535-7E46-4454EE7BED75}"/>
              </a:ext>
            </a:extLst>
          </p:cNvPr>
          <p:cNvGrpSpPr/>
          <p:nvPr/>
        </p:nvGrpSpPr>
        <p:grpSpPr>
          <a:xfrm>
            <a:off x="6635674" y="1577788"/>
            <a:ext cx="5020235" cy="5127812"/>
            <a:chOff x="6934197" y="694759"/>
            <a:chExt cx="5020235" cy="5576041"/>
          </a:xfrm>
        </p:grpSpPr>
        <p:sp>
          <p:nvSpPr>
            <p:cNvPr id="6" name="Rectangle: Rounded Corners 5">
              <a:extLst>
                <a:ext uri="{FF2B5EF4-FFF2-40B4-BE49-F238E27FC236}">
                  <a16:creationId xmlns:a16="http://schemas.microsoft.com/office/drawing/2014/main" id="{CCCE1439-C3E7-B14D-0529-19E43E931A6B}"/>
                </a:ext>
              </a:extLst>
            </p:cNvPr>
            <p:cNvSpPr/>
            <p:nvPr/>
          </p:nvSpPr>
          <p:spPr>
            <a:xfrm>
              <a:off x="7458634" y="5593973"/>
              <a:ext cx="3971365" cy="430306"/>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FR" dirty="0"/>
                <a:t>Matériel</a:t>
              </a:r>
              <a:endParaRPr lang="en-US" dirty="0"/>
            </a:p>
          </p:txBody>
        </p:sp>
        <p:sp>
          <p:nvSpPr>
            <p:cNvPr id="7" name="Rectangle: Rounded Corners 6">
              <a:extLst>
                <a:ext uri="{FF2B5EF4-FFF2-40B4-BE49-F238E27FC236}">
                  <a16:creationId xmlns:a16="http://schemas.microsoft.com/office/drawing/2014/main" id="{92D089F0-E7C0-71B1-237E-20A6B8799F9A}"/>
                </a:ext>
              </a:extLst>
            </p:cNvPr>
            <p:cNvSpPr/>
            <p:nvPr/>
          </p:nvSpPr>
          <p:spPr>
            <a:xfrm>
              <a:off x="7458634" y="5044887"/>
              <a:ext cx="3971365" cy="430306"/>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r-FR" dirty="0"/>
                <a:t>Système d’opération Hôte</a:t>
              </a:r>
              <a:endParaRPr lang="en-US" dirty="0"/>
            </a:p>
          </p:txBody>
        </p:sp>
        <p:sp>
          <p:nvSpPr>
            <p:cNvPr id="8" name="Rectangle: Rounded Corners 7">
              <a:extLst>
                <a:ext uri="{FF2B5EF4-FFF2-40B4-BE49-F238E27FC236}">
                  <a16:creationId xmlns:a16="http://schemas.microsoft.com/office/drawing/2014/main" id="{6877E5D3-A9BA-4915-B4D0-890B2D47C0B4}"/>
                </a:ext>
              </a:extLst>
            </p:cNvPr>
            <p:cNvSpPr/>
            <p:nvPr/>
          </p:nvSpPr>
          <p:spPr>
            <a:xfrm>
              <a:off x="7458633" y="4262687"/>
              <a:ext cx="3971365" cy="658927"/>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fr-FR" dirty="0"/>
                <a:t>Moteur de conteneurs (ex. Docker)</a:t>
              </a:r>
              <a:endParaRPr lang="en-US" dirty="0"/>
            </a:p>
          </p:txBody>
        </p:sp>
        <p:sp>
          <p:nvSpPr>
            <p:cNvPr id="9" name="Rectangle: Rounded Corners 8">
              <a:extLst>
                <a:ext uri="{FF2B5EF4-FFF2-40B4-BE49-F238E27FC236}">
                  <a16:creationId xmlns:a16="http://schemas.microsoft.com/office/drawing/2014/main" id="{2B9465EC-8EA5-EB00-7D04-97ABC0930789}"/>
                </a:ext>
              </a:extLst>
            </p:cNvPr>
            <p:cNvSpPr/>
            <p:nvPr/>
          </p:nvSpPr>
          <p:spPr>
            <a:xfrm>
              <a:off x="6934197" y="694759"/>
              <a:ext cx="5020235" cy="5576041"/>
            </a:xfrm>
            <a:prstGeom prst="roundRect">
              <a:avLst/>
            </a:prstGeom>
            <a:noFill/>
            <a:ln>
              <a:solidFill>
                <a:srgbClr val="002060"/>
              </a:solidFill>
            </a:ln>
          </p:spPr>
          <p:style>
            <a:lnRef idx="0">
              <a:scrgbClr r="0" g="0" b="0"/>
            </a:lnRef>
            <a:fillRef idx="0">
              <a:scrgbClr r="0" g="0" b="0"/>
            </a:fillRef>
            <a:effectRef idx="0">
              <a:scrgbClr r="0" g="0" b="0"/>
            </a:effectRef>
            <a:fontRef idx="minor">
              <a:schemeClr val="accent5"/>
            </a:fontRef>
          </p:style>
          <p:txBody>
            <a:bodyPr rtlCol="0" anchor="t"/>
            <a:lstStyle/>
            <a:p>
              <a:pPr algn="ctr"/>
              <a:r>
                <a:rPr lang="fr-FR" dirty="0">
                  <a:solidFill>
                    <a:schemeClr val="tx2"/>
                  </a:solidFill>
                </a:rPr>
                <a:t>Conteneurs</a:t>
              </a:r>
              <a:endParaRPr lang="en-US" dirty="0">
                <a:solidFill>
                  <a:schemeClr val="tx2"/>
                </a:solidFill>
              </a:endParaRPr>
            </a:p>
          </p:txBody>
        </p:sp>
        <p:grpSp>
          <p:nvGrpSpPr>
            <p:cNvPr id="10" name="Group 9">
              <a:extLst>
                <a:ext uri="{FF2B5EF4-FFF2-40B4-BE49-F238E27FC236}">
                  <a16:creationId xmlns:a16="http://schemas.microsoft.com/office/drawing/2014/main" id="{747AF3BB-F3CA-2736-ADDE-4C347CE0F147}"/>
                </a:ext>
              </a:extLst>
            </p:cNvPr>
            <p:cNvGrpSpPr/>
            <p:nvPr/>
          </p:nvGrpSpPr>
          <p:grpSpPr>
            <a:xfrm>
              <a:off x="7458633" y="2467244"/>
              <a:ext cx="1707779" cy="1676665"/>
              <a:chOff x="7458633" y="2467244"/>
              <a:chExt cx="1707779" cy="1676665"/>
            </a:xfrm>
          </p:grpSpPr>
          <p:grpSp>
            <p:nvGrpSpPr>
              <p:cNvPr id="17" name="Group 16">
                <a:extLst>
                  <a:ext uri="{FF2B5EF4-FFF2-40B4-BE49-F238E27FC236}">
                    <a16:creationId xmlns:a16="http://schemas.microsoft.com/office/drawing/2014/main" id="{C5C46825-41BF-3C81-5EF0-1DC44F07EA34}"/>
                  </a:ext>
                </a:extLst>
              </p:cNvPr>
              <p:cNvGrpSpPr/>
              <p:nvPr/>
            </p:nvGrpSpPr>
            <p:grpSpPr>
              <a:xfrm>
                <a:off x="7458633" y="2467244"/>
                <a:ext cx="1707779" cy="1676665"/>
                <a:chOff x="7485528" y="1992120"/>
                <a:chExt cx="1707779" cy="1676665"/>
              </a:xfrm>
            </p:grpSpPr>
            <p:sp>
              <p:nvSpPr>
                <p:cNvPr id="19" name="Rectangle: Rounded Corners 18">
                  <a:extLst>
                    <a:ext uri="{FF2B5EF4-FFF2-40B4-BE49-F238E27FC236}">
                      <a16:creationId xmlns:a16="http://schemas.microsoft.com/office/drawing/2014/main" id="{AC1023EB-C803-24F0-33B4-00CF86C2DB4F}"/>
                    </a:ext>
                  </a:extLst>
                </p:cNvPr>
                <p:cNvSpPr/>
                <p:nvPr/>
              </p:nvSpPr>
              <p:spPr>
                <a:xfrm>
                  <a:off x="7485528" y="1992120"/>
                  <a:ext cx="1698814" cy="1676665"/>
                </a:xfrm>
                <a:prstGeom prst="roundRect">
                  <a:avLst/>
                </a:prstGeom>
                <a:noFill/>
                <a:ln>
                  <a:solidFill>
                    <a:srgbClr val="002060"/>
                  </a:solidFill>
                </a:ln>
              </p:spPr>
              <p:style>
                <a:lnRef idx="0">
                  <a:scrgbClr r="0" g="0" b="0"/>
                </a:lnRef>
                <a:fillRef idx="0">
                  <a:scrgbClr r="0" g="0" b="0"/>
                </a:fillRef>
                <a:effectRef idx="0">
                  <a:scrgbClr r="0" g="0" b="0"/>
                </a:effectRef>
                <a:fontRef idx="minor">
                  <a:schemeClr val="accent5"/>
                </a:fontRef>
              </p:style>
              <p:txBody>
                <a:bodyPr rtlCol="0" anchor="b"/>
                <a:lstStyle/>
                <a:p>
                  <a:pPr algn="ctr"/>
                  <a:r>
                    <a:rPr lang="fr-FR" dirty="0"/>
                    <a:t>Conteneur 1</a:t>
                  </a:r>
                  <a:endParaRPr lang="en-US" dirty="0"/>
                </a:p>
              </p:txBody>
            </p:sp>
            <p:sp>
              <p:nvSpPr>
                <p:cNvPr id="21" name="Rectangle: Rounded Corners 20">
                  <a:extLst>
                    <a:ext uri="{FF2B5EF4-FFF2-40B4-BE49-F238E27FC236}">
                      <a16:creationId xmlns:a16="http://schemas.microsoft.com/office/drawing/2014/main" id="{B38D15BA-0F52-50AB-5AC0-727E71561757}"/>
                    </a:ext>
                  </a:extLst>
                </p:cNvPr>
                <p:cNvSpPr/>
                <p:nvPr/>
              </p:nvSpPr>
              <p:spPr>
                <a:xfrm>
                  <a:off x="7494493" y="1992121"/>
                  <a:ext cx="1698814" cy="5378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App / Docs</a:t>
                  </a:r>
                </a:p>
              </p:txBody>
            </p:sp>
          </p:grpSp>
          <p:sp>
            <p:nvSpPr>
              <p:cNvPr id="18" name="Rectangle: Rounded Corners 17">
                <a:extLst>
                  <a:ext uri="{FF2B5EF4-FFF2-40B4-BE49-F238E27FC236}">
                    <a16:creationId xmlns:a16="http://schemas.microsoft.com/office/drawing/2014/main" id="{F1B2BE96-069C-60EA-A16B-A71F2435ED5B}"/>
                  </a:ext>
                </a:extLst>
              </p:cNvPr>
              <p:cNvSpPr/>
              <p:nvPr/>
            </p:nvSpPr>
            <p:spPr>
              <a:xfrm>
                <a:off x="7467598" y="3191448"/>
                <a:ext cx="1698814" cy="537864"/>
              </a:xfrm>
              <a:prstGeom prst="round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fr-FR" dirty="0" err="1"/>
                  <a:t>Bins</a:t>
                </a:r>
                <a:r>
                  <a:rPr lang="fr-FR" dirty="0"/>
                  <a:t> / Lib</a:t>
                </a:r>
              </a:p>
            </p:txBody>
          </p:sp>
        </p:grpSp>
        <p:grpSp>
          <p:nvGrpSpPr>
            <p:cNvPr id="11" name="Group 10">
              <a:extLst>
                <a:ext uri="{FF2B5EF4-FFF2-40B4-BE49-F238E27FC236}">
                  <a16:creationId xmlns:a16="http://schemas.microsoft.com/office/drawing/2014/main" id="{52AB8890-F5B9-CE48-AF50-A6CD02EC5E30}"/>
                </a:ext>
              </a:extLst>
            </p:cNvPr>
            <p:cNvGrpSpPr/>
            <p:nvPr/>
          </p:nvGrpSpPr>
          <p:grpSpPr>
            <a:xfrm>
              <a:off x="9646020" y="2467241"/>
              <a:ext cx="1707779" cy="1676666"/>
              <a:chOff x="7458633" y="2467244"/>
              <a:chExt cx="1707779" cy="1676666"/>
            </a:xfrm>
          </p:grpSpPr>
          <p:grpSp>
            <p:nvGrpSpPr>
              <p:cNvPr id="12" name="Group 11">
                <a:extLst>
                  <a:ext uri="{FF2B5EF4-FFF2-40B4-BE49-F238E27FC236}">
                    <a16:creationId xmlns:a16="http://schemas.microsoft.com/office/drawing/2014/main" id="{E40115CE-87CF-FF97-A420-D5B7F1CED294}"/>
                  </a:ext>
                </a:extLst>
              </p:cNvPr>
              <p:cNvGrpSpPr/>
              <p:nvPr/>
            </p:nvGrpSpPr>
            <p:grpSpPr>
              <a:xfrm>
                <a:off x="7458633" y="2467244"/>
                <a:ext cx="1707779" cy="1676666"/>
                <a:chOff x="7485528" y="1992120"/>
                <a:chExt cx="1707779" cy="1676666"/>
              </a:xfrm>
            </p:grpSpPr>
            <p:sp>
              <p:nvSpPr>
                <p:cNvPr id="14" name="Rectangle: Rounded Corners 13">
                  <a:extLst>
                    <a:ext uri="{FF2B5EF4-FFF2-40B4-BE49-F238E27FC236}">
                      <a16:creationId xmlns:a16="http://schemas.microsoft.com/office/drawing/2014/main" id="{1BD00862-43E9-D154-C1A2-CCD833A29CE9}"/>
                    </a:ext>
                  </a:extLst>
                </p:cNvPr>
                <p:cNvSpPr/>
                <p:nvPr/>
              </p:nvSpPr>
              <p:spPr>
                <a:xfrm>
                  <a:off x="7485528" y="1992120"/>
                  <a:ext cx="1698814" cy="1676666"/>
                </a:xfrm>
                <a:prstGeom prst="roundRect">
                  <a:avLst/>
                </a:prstGeom>
                <a:noFill/>
                <a:ln>
                  <a:solidFill>
                    <a:srgbClr val="002060"/>
                  </a:solidFill>
                </a:ln>
              </p:spPr>
              <p:style>
                <a:lnRef idx="0">
                  <a:scrgbClr r="0" g="0" b="0"/>
                </a:lnRef>
                <a:fillRef idx="0">
                  <a:scrgbClr r="0" g="0" b="0"/>
                </a:fillRef>
                <a:effectRef idx="0">
                  <a:scrgbClr r="0" g="0" b="0"/>
                </a:effectRef>
                <a:fontRef idx="minor">
                  <a:schemeClr val="accent5"/>
                </a:fontRef>
              </p:style>
              <p:txBody>
                <a:bodyPr rtlCol="0" anchor="b"/>
                <a:lstStyle/>
                <a:p>
                  <a:pPr algn="ctr"/>
                  <a:r>
                    <a:rPr lang="fr-FR" dirty="0"/>
                    <a:t>Conteneur 2</a:t>
                  </a:r>
                  <a:endParaRPr lang="en-US" dirty="0"/>
                </a:p>
              </p:txBody>
            </p:sp>
            <p:sp>
              <p:nvSpPr>
                <p:cNvPr id="16" name="Rectangle: Rounded Corners 15">
                  <a:extLst>
                    <a:ext uri="{FF2B5EF4-FFF2-40B4-BE49-F238E27FC236}">
                      <a16:creationId xmlns:a16="http://schemas.microsoft.com/office/drawing/2014/main" id="{E85150DA-57EB-6487-BC11-B8EB6577838C}"/>
                    </a:ext>
                  </a:extLst>
                </p:cNvPr>
                <p:cNvSpPr/>
                <p:nvPr/>
              </p:nvSpPr>
              <p:spPr>
                <a:xfrm>
                  <a:off x="7494493" y="1992123"/>
                  <a:ext cx="1698814" cy="5378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App / Docs</a:t>
                  </a:r>
                </a:p>
              </p:txBody>
            </p:sp>
          </p:grpSp>
          <p:sp>
            <p:nvSpPr>
              <p:cNvPr id="13" name="Rectangle: Rounded Corners 12">
                <a:extLst>
                  <a:ext uri="{FF2B5EF4-FFF2-40B4-BE49-F238E27FC236}">
                    <a16:creationId xmlns:a16="http://schemas.microsoft.com/office/drawing/2014/main" id="{CC4953EF-DADC-086C-7E2B-9EEFB1D64A5D}"/>
                  </a:ext>
                </a:extLst>
              </p:cNvPr>
              <p:cNvSpPr/>
              <p:nvPr/>
            </p:nvSpPr>
            <p:spPr>
              <a:xfrm>
                <a:off x="7467598" y="3191448"/>
                <a:ext cx="1698814" cy="537864"/>
              </a:xfrm>
              <a:prstGeom prst="round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fr-FR" dirty="0" err="1"/>
                  <a:t>Bins</a:t>
                </a:r>
                <a:r>
                  <a:rPr lang="fr-FR" dirty="0"/>
                  <a:t> / Lib</a:t>
                </a:r>
              </a:p>
            </p:txBody>
          </p:sp>
        </p:grpSp>
      </p:grpSp>
      <p:grpSp>
        <p:nvGrpSpPr>
          <p:cNvPr id="22" name="Group 21">
            <a:extLst>
              <a:ext uri="{FF2B5EF4-FFF2-40B4-BE49-F238E27FC236}">
                <a16:creationId xmlns:a16="http://schemas.microsoft.com/office/drawing/2014/main" id="{EBBBEAEC-6842-4338-92D4-0EB2416A99A5}"/>
              </a:ext>
            </a:extLst>
          </p:cNvPr>
          <p:cNvGrpSpPr/>
          <p:nvPr/>
        </p:nvGrpSpPr>
        <p:grpSpPr>
          <a:xfrm>
            <a:off x="1422699" y="1577788"/>
            <a:ext cx="5020235" cy="5127812"/>
            <a:chOff x="6934197" y="694759"/>
            <a:chExt cx="5020235" cy="5576041"/>
          </a:xfrm>
        </p:grpSpPr>
        <p:sp>
          <p:nvSpPr>
            <p:cNvPr id="23" name="Rectangle: Rounded Corners 22">
              <a:extLst>
                <a:ext uri="{FF2B5EF4-FFF2-40B4-BE49-F238E27FC236}">
                  <a16:creationId xmlns:a16="http://schemas.microsoft.com/office/drawing/2014/main" id="{4AFDE90D-CAB0-D8D6-5E4A-DF28A0A179F5}"/>
                </a:ext>
              </a:extLst>
            </p:cNvPr>
            <p:cNvSpPr/>
            <p:nvPr/>
          </p:nvSpPr>
          <p:spPr>
            <a:xfrm>
              <a:off x="7458634" y="5611903"/>
              <a:ext cx="3971365" cy="430306"/>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fr-FR" dirty="0"/>
                <a:t>Matériel</a:t>
              </a:r>
              <a:endParaRPr lang="en-US" dirty="0"/>
            </a:p>
          </p:txBody>
        </p:sp>
        <p:sp>
          <p:nvSpPr>
            <p:cNvPr id="24" name="Rectangle: Rounded Corners 23">
              <a:extLst>
                <a:ext uri="{FF2B5EF4-FFF2-40B4-BE49-F238E27FC236}">
                  <a16:creationId xmlns:a16="http://schemas.microsoft.com/office/drawing/2014/main" id="{5E08D054-5707-33CE-420B-17F76816382B}"/>
                </a:ext>
              </a:extLst>
            </p:cNvPr>
            <p:cNvSpPr/>
            <p:nvPr/>
          </p:nvSpPr>
          <p:spPr>
            <a:xfrm>
              <a:off x="7458634" y="5053852"/>
              <a:ext cx="3971365" cy="430306"/>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r-FR" dirty="0"/>
                <a:t>Système d’opération Hôte</a:t>
              </a:r>
              <a:endParaRPr lang="en-US" dirty="0"/>
            </a:p>
          </p:txBody>
        </p:sp>
        <p:sp>
          <p:nvSpPr>
            <p:cNvPr id="25" name="Rectangle: Rounded Corners 24">
              <a:extLst>
                <a:ext uri="{FF2B5EF4-FFF2-40B4-BE49-F238E27FC236}">
                  <a16:creationId xmlns:a16="http://schemas.microsoft.com/office/drawing/2014/main" id="{A474101A-D59F-53FA-D849-2BF70F4AE309}"/>
                </a:ext>
              </a:extLst>
            </p:cNvPr>
            <p:cNvSpPr/>
            <p:nvPr/>
          </p:nvSpPr>
          <p:spPr>
            <a:xfrm>
              <a:off x="7467598" y="4461025"/>
              <a:ext cx="3971365" cy="430306"/>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r-FR" dirty="0"/>
                <a:t>Hyperviseur / Emulateur</a:t>
              </a:r>
              <a:endParaRPr lang="en-US" dirty="0"/>
            </a:p>
          </p:txBody>
        </p:sp>
        <p:sp>
          <p:nvSpPr>
            <p:cNvPr id="26" name="Rectangle: Rounded Corners 25">
              <a:extLst>
                <a:ext uri="{FF2B5EF4-FFF2-40B4-BE49-F238E27FC236}">
                  <a16:creationId xmlns:a16="http://schemas.microsoft.com/office/drawing/2014/main" id="{B131BAE4-B9C2-95AD-F644-3BAF67C83AEE}"/>
                </a:ext>
              </a:extLst>
            </p:cNvPr>
            <p:cNvSpPr/>
            <p:nvPr/>
          </p:nvSpPr>
          <p:spPr>
            <a:xfrm>
              <a:off x="6934197" y="694759"/>
              <a:ext cx="5020235" cy="5576041"/>
            </a:xfrm>
            <a:prstGeom prst="roundRect">
              <a:avLst/>
            </a:prstGeom>
            <a:noFill/>
            <a:ln>
              <a:solidFill>
                <a:srgbClr val="002060"/>
              </a:solidFill>
            </a:ln>
          </p:spPr>
          <p:style>
            <a:lnRef idx="0">
              <a:scrgbClr r="0" g="0" b="0"/>
            </a:lnRef>
            <a:fillRef idx="0">
              <a:scrgbClr r="0" g="0" b="0"/>
            </a:fillRef>
            <a:effectRef idx="0">
              <a:scrgbClr r="0" g="0" b="0"/>
            </a:effectRef>
            <a:fontRef idx="minor">
              <a:schemeClr val="accent5"/>
            </a:fontRef>
          </p:style>
          <p:txBody>
            <a:bodyPr rtlCol="0" anchor="t"/>
            <a:lstStyle/>
            <a:p>
              <a:pPr algn="ctr"/>
              <a:r>
                <a:rPr lang="fr-FR" dirty="0">
                  <a:solidFill>
                    <a:schemeClr val="tx2"/>
                  </a:solidFill>
                </a:rPr>
                <a:t>Machines Virtuelles</a:t>
              </a:r>
              <a:endParaRPr lang="en-US" dirty="0">
                <a:solidFill>
                  <a:schemeClr val="tx2"/>
                </a:solidFill>
              </a:endParaRPr>
            </a:p>
          </p:txBody>
        </p:sp>
        <p:grpSp>
          <p:nvGrpSpPr>
            <p:cNvPr id="27" name="Group 26">
              <a:extLst>
                <a:ext uri="{FF2B5EF4-FFF2-40B4-BE49-F238E27FC236}">
                  <a16:creationId xmlns:a16="http://schemas.microsoft.com/office/drawing/2014/main" id="{489C2F60-D412-4F9E-FA10-D2CF1CBF0A29}"/>
                </a:ext>
              </a:extLst>
            </p:cNvPr>
            <p:cNvGrpSpPr/>
            <p:nvPr/>
          </p:nvGrpSpPr>
          <p:grpSpPr>
            <a:xfrm>
              <a:off x="7458633" y="1753739"/>
              <a:ext cx="1707779" cy="2390171"/>
              <a:chOff x="7458633" y="1753739"/>
              <a:chExt cx="1707779" cy="2390171"/>
            </a:xfrm>
          </p:grpSpPr>
          <p:grpSp>
            <p:nvGrpSpPr>
              <p:cNvPr id="34" name="Group 33">
                <a:extLst>
                  <a:ext uri="{FF2B5EF4-FFF2-40B4-BE49-F238E27FC236}">
                    <a16:creationId xmlns:a16="http://schemas.microsoft.com/office/drawing/2014/main" id="{518C2453-0B63-16F3-AC7E-59A2181003B6}"/>
                  </a:ext>
                </a:extLst>
              </p:cNvPr>
              <p:cNvGrpSpPr/>
              <p:nvPr/>
            </p:nvGrpSpPr>
            <p:grpSpPr>
              <a:xfrm>
                <a:off x="7458633" y="1753739"/>
                <a:ext cx="1698814" cy="2390171"/>
                <a:chOff x="7485528" y="1278615"/>
                <a:chExt cx="1698814" cy="2390171"/>
              </a:xfrm>
            </p:grpSpPr>
            <p:sp>
              <p:nvSpPr>
                <p:cNvPr id="36" name="Rectangle: Rounded Corners 35">
                  <a:extLst>
                    <a:ext uri="{FF2B5EF4-FFF2-40B4-BE49-F238E27FC236}">
                      <a16:creationId xmlns:a16="http://schemas.microsoft.com/office/drawing/2014/main" id="{6FF329C4-301A-609E-5A5B-0C77BC9B31E0}"/>
                    </a:ext>
                  </a:extLst>
                </p:cNvPr>
                <p:cNvSpPr/>
                <p:nvPr/>
              </p:nvSpPr>
              <p:spPr>
                <a:xfrm>
                  <a:off x="7485528" y="1281954"/>
                  <a:ext cx="1698814" cy="2386832"/>
                </a:xfrm>
                <a:prstGeom prst="roundRect">
                  <a:avLst/>
                </a:prstGeom>
                <a:noFill/>
                <a:ln>
                  <a:solidFill>
                    <a:srgbClr val="002060"/>
                  </a:solidFill>
                </a:ln>
              </p:spPr>
              <p:style>
                <a:lnRef idx="0">
                  <a:scrgbClr r="0" g="0" b="0"/>
                </a:lnRef>
                <a:fillRef idx="0">
                  <a:scrgbClr r="0" g="0" b="0"/>
                </a:fillRef>
                <a:effectRef idx="0">
                  <a:scrgbClr r="0" g="0" b="0"/>
                </a:effectRef>
                <a:fontRef idx="minor">
                  <a:schemeClr val="accent5"/>
                </a:fontRef>
              </p:style>
              <p:txBody>
                <a:bodyPr rtlCol="0" anchor="b"/>
                <a:lstStyle/>
                <a:p>
                  <a:pPr algn="ctr"/>
                  <a:r>
                    <a:rPr lang="fr-FR" dirty="0"/>
                    <a:t>MV 1</a:t>
                  </a:r>
                  <a:endParaRPr lang="en-US" dirty="0"/>
                </a:p>
              </p:txBody>
            </p:sp>
            <p:sp>
              <p:nvSpPr>
                <p:cNvPr id="37" name="Rectangle: Rounded Corners 36">
                  <a:extLst>
                    <a:ext uri="{FF2B5EF4-FFF2-40B4-BE49-F238E27FC236}">
                      <a16:creationId xmlns:a16="http://schemas.microsoft.com/office/drawing/2014/main" id="{F635372B-A174-81F3-8DD2-DDEBD8C3B33C}"/>
                    </a:ext>
                  </a:extLst>
                </p:cNvPr>
                <p:cNvSpPr/>
                <p:nvPr/>
              </p:nvSpPr>
              <p:spPr>
                <a:xfrm>
                  <a:off x="7485528" y="1990160"/>
                  <a:ext cx="1698814" cy="537864"/>
                </a:xfrm>
                <a:prstGeom prst="roundRect">
                  <a:avLst/>
                </a:prstGeom>
                <a:ln w="9525"/>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OS invité</a:t>
                  </a:r>
                </a:p>
              </p:txBody>
            </p:sp>
            <p:sp>
              <p:nvSpPr>
                <p:cNvPr id="38" name="Rectangle: Rounded Corners 37">
                  <a:extLst>
                    <a:ext uri="{FF2B5EF4-FFF2-40B4-BE49-F238E27FC236}">
                      <a16:creationId xmlns:a16="http://schemas.microsoft.com/office/drawing/2014/main" id="{D9B9D74F-7637-2F6A-0194-E13517C980E1}"/>
                    </a:ext>
                  </a:extLst>
                </p:cNvPr>
                <p:cNvSpPr/>
                <p:nvPr/>
              </p:nvSpPr>
              <p:spPr>
                <a:xfrm>
                  <a:off x="7485528" y="1278615"/>
                  <a:ext cx="1698814" cy="5378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App / Docs</a:t>
                  </a:r>
                </a:p>
              </p:txBody>
            </p:sp>
          </p:grpSp>
          <p:sp>
            <p:nvSpPr>
              <p:cNvPr id="35" name="Rectangle: Rounded Corners 34">
                <a:extLst>
                  <a:ext uri="{FF2B5EF4-FFF2-40B4-BE49-F238E27FC236}">
                    <a16:creationId xmlns:a16="http://schemas.microsoft.com/office/drawing/2014/main" id="{D9AA1953-5E0F-CA0C-6111-C0F9E37A6AB5}"/>
                  </a:ext>
                </a:extLst>
              </p:cNvPr>
              <p:cNvSpPr/>
              <p:nvPr/>
            </p:nvSpPr>
            <p:spPr>
              <a:xfrm>
                <a:off x="7467598" y="3191448"/>
                <a:ext cx="1698814" cy="537864"/>
              </a:xfrm>
              <a:prstGeom prst="round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fr-FR" dirty="0"/>
                  <a:t>Drivers</a:t>
                </a:r>
              </a:p>
            </p:txBody>
          </p:sp>
        </p:grpSp>
        <p:grpSp>
          <p:nvGrpSpPr>
            <p:cNvPr id="28" name="Group 27">
              <a:extLst>
                <a:ext uri="{FF2B5EF4-FFF2-40B4-BE49-F238E27FC236}">
                  <a16:creationId xmlns:a16="http://schemas.microsoft.com/office/drawing/2014/main" id="{9A7D8C88-2044-A687-610F-300E8B5BA496}"/>
                </a:ext>
              </a:extLst>
            </p:cNvPr>
            <p:cNvGrpSpPr/>
            <p:nvPr/>
          </p:nvGrpSpPr>
          <p:grpSpPr>
            <a:xfrm>
              <a:off x="9637055" y="1753736"/>
              <a:ext cx="1716744" cy="2399145"/>
              <a:chOff x="7449668" y="1753739"/>
              <a:chExt cx="1716744" cy="2399145"/>
            </a:xfrm>
          </p:grpSpPr>
          <p:grpSp>
            <p:nvGrpSpPr>
              <p:cNvPr id="29" name="Group 28">
                <a:extLst>
                  <a:ext uri="{FF2B5EF4-FFF2-40B4-BE49-F238E27FC236}">
                    <a16:creationId xmlns:a16="http://schemas.microsoft.com/office/drawing/2014/main" id="{E159EFEF-280B-2D9A-3877-601BF04A7783}"/>
                  </a:ext>
                </a:extLst>
              </p:cNvPr>
              <p:cNvGrpSpPr/>
              <p:nvPr/>
            </p:nvGrpSpPr>
            <p:grpSpPr>
              <a:xfrm>
                <a:off x="7449668" y="1753739"/>
                <a:ext cx="1707779" cy="2399145"/>
                <a:chOff x="7476563" y="1278615"/>
                <a:chExt cx="1707779" cy="2399145"/>
              </a:xfrm>
            </p:grpSpPr>
            <p:sp>
              <p:nvSpPr>
                <p:cNvPr id="31" name="Rectangle: Rounded Corners 30">
                  <a:extLst>
                    <a:ext uri="{FF2B5EF4-FFF2-40B4-BE49-F238E27FC236}">
                      <a16:creationId xmlns:a16="http://schemas.microsoft.com/office/drawing/2014/main" id="{698AB45C-82F7-9683-C334-B51DAE19221A}"/>
                    </a:ext>
                  </a:extLst>
                </p:cNvPr>
                <p:cNvSpPr/>
                <p:nvPr/>
              </p:nvSpPr>
              <p:spPr>
                <a:xfrm>
                  <a:off x="7476563" y="1290928"/>
                  <a:ext cx="1698814" cy="2386832"/>
                </a:xfrm>
                <a:prstGeom prst="roundRect">
                  <a:avLst/>
                </a:prstGeom>
                <a:noFill/>
                <a:ln>
                  <a:solidFill>
                    <a:srgbClr val="002060"/>
                  </a:solidFill>
                </a:ln>
              </p:spPr>
              <p:style>
                <a:lnRef idx="0">
                  <a:scrgbClr r="0" g="0" b="0"/>
                </a:lnRef>
                <a:fillRef idx="0">
                  <a:scrgbClr r="0" g="0" b="0"/>
                </a:fillRef>
                <a:effectRef idx="0">
                  <a:scrgbClr r="0" g="0" b="0"/>
                </a:effectRef>
                <a:fontRef idx="minor">
                  <a:schemeClr val="accent5"/>
                </a:fontRef>
              </p:style>
              <p:txBody>
                <a:bodyPr rtlCol="0" anchor="b"/>
                <a:lstStyle/>
                <a:p>
                  <a:pPr algn="ctr"/>
                  <a:r>
                    <a:rPr lang="fr-FR" dirty="0"/>
                    <a:t>MV 2</a:t>
                  </a:r>
                  <a:endParaRPr lang="en-US" dirty="0"/>
                </a:p>
              </p:txBody>
            </p:sp>
            <p:sp>
              <p:nvSpPr>
                <p:cNvPr id="32" name="Rectangle: Rounded Corners 31">
                  <a:extLst>
                    <a:ext uri="{FF2B5EF4-FFF2-40B4-BE49-F238E27FC236}">
                      <a16:creationId xmlns:a16="http://schemas.microsoft.com/office/drawing/2014/main" id="{D03B2732-E247-DEE3-709B-21E62104062D}"/>
                    </a:ext>
                  </a:extLst>
                </p:cNvPr>
                <p:cNvSpPr/>
                <p:nvPr/>
              </p:nvSpPr>
              <p:spPr>
                <a:xfrm>
                  <a:off x="7485528" y="1990160"/>
                  <a:ext cx="1698814" cy="537864"/>
                </a:xfrm>
                <a:prstGeom prst="roundRect">
                  <a:avLst/>
                </a:prstGeom>
                <a:ln w="9525"/>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OS invité</a:t>
                  </a:r>
                </a:p>
              </p:txBody>
            </p:sp>
            <p:sp>
              <p:nvSpPr>
                <p:cNvPr id="33" name="Rectangle: Rounded Corners 32">
                  <a:extLst>
                    <a:ext uri="{FF2B5EF4-FFF2-40B4-BE49-F238E27FC236}">
                      <a16:creationId xmlns:a16="http://schemas.microsoft.com/office/drawing/2014/main" id="{C53575E1-22C7-E058-2030-5E2E749F4F6E}"/>
                    </a:ext>
                  </a:extLst>
                </p:cNvPr>
                <p:cNvSpPr/>
                <p:nvPr/>
              </p:nvSpPr>
              <p:spPr>
                <a:xfrm>
                  <a:off x="7485528" y="1278615"/>
                  <a:ext cx="1698814" cy="5378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App / Docs</a:t>
                  </a:r>
                </a:p>
              </p:txBody>
            </p:sp>
          </p:grpSp>
          <p:sp>
            <p:nvSpPr>
              <p:cNvPr id="30" name="Rectangle: Rounded Corners 29">
                <a:extLst>
                  <a:ext uri="{FF2B5EF4-FFF2-40B4-BE49-F238E27FC236}">
                    <a16:creationId xmlns:a16="http://schemas.microsoft.com/office/drawing/2014/main" id="{36D313AA-D8D8-B118-8B1F-F57A2E9AE63B}"/>
                  </a:ext>
                </a:extLst>
              </p:cNvPr>
              <p:cNvSpPr/>
              <p:nvPr/>
            </p:nvSpPr>
            <p:spPr>
              <a:xfrm>
                <a:off x="7467598" y="3191448"/>
                <a:ext cx="1698814" cy="537864"/>
              </a:xfrm>
              <a:prstGeom prst="roundRect">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fr-FR" dirty="0"/>
                  <a:t>Drivers</a:t>
                </a:r>
              </a:p>
            </p:txBody>
          </p:sp>
        </p:grpSp>
      </p:grpSp>
    </p:spTree>
    <p:extLst>
      <p:ext uri="{BB962C8B-B14F-4D97-AF65-F5344CB8AC3E}">
        <p14:creationId xmlns:p14="http://schemas.microsoft.com/office/powerpoint/2010/main" val="22849029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Virtualisation / Conteneurisation</a:t>
            </a:r>
            <a:endParaRPr lang="fr-MA" dirty="0"/>
          </a:p>
        </p:txBody>
      </p:sp>
      <p:sp>
        <p:nvSpPr>
          <p:cNvPr id="4" name="TextBox 3">
            <a:extLst>
              <a:ext uri="{FF2B5EF4-FFF2-40B4-BE49-F238E27FC236}">
                <a16:creationId xmlns:a16="http://schemas.microsoft.com/office/drawing/2014/main" id="{042BA6ED-B538-52A1-6A39-BD0E77B16962}"/>
              </a:ext>
            </a:extLst>
          </p:cNvPr>
          <p:cNvSpPr txBox="1"/>
          <p:nvPr/>
        </p:nvSpPr>
        <p:spPr>
          <a:xfrm>
            <a:off x="2492755" y="2464966"/>
            <a:ext cx="8060576" cy="3046988"/>
          </a:xfrm>
          <a:prstGeom prst="rect">
            <a:avLst/>
          </a:prstGeom>
          <a:solidFill>
            <a:schemeClr val="accent4">
              <a:lumMod val="60000"/>
              <a:lumOff val="40000"/>
            </a:schemeClr>
          </a:solidFill>
        </p:spPr>
        <p:txBody>
          <a:bodyPr wrap="square" rtlCol="0">
            <a:spAutoFit/>
          </a:bodyPr>
          <a:lstStyle/>
          <a:p>
            <a:pPr algn="ctr"/>
            <a:r>
              <a:rPr lang="fr-FR" sz="2400" dirty="0"/>
              <a:t>La conteneurisation est </a:t>
            </a:r>
          </a:p>
          <a:p>
            <a:pPr algn="ctr"/>
            <a:r>
              <a:rPr lang="fr-FR" sz="2400" dirty="0"/>
              <a:t>un </a:t>
            </a:r>
            <a:r>
              <a:rPr lang="fr-FR" sz="2400" b="1" dirty="0"/>
              <a:t>processus de développement et de déploiement logiciel </a:t>
            </a:r>
          </a:p>
          <a:p>
            <a:pPr algn="ctr"/>
            <a:r>
              <a:rPr lang="fr-FR" sz="2400" dirty="0"/>
              <a:t>qui</a:t>
            </a:r>
            <a:r>
              <a:rPr lang="fr-FR" sz="2400" b="1" dirty="0"/>
              <a:t> </a:t>
            </a:r>
          </a:p>
          <a:p>
            <a:pPr algn="ctr"/>
            <a:r>
              <a:rPr lang="fr-FR" sz="2400" b="1" dirty="0"/>
              <a:t>regroupe le code d'une application </a:t>
            </a:r>
          </a:p>
          <a:p>
            <a:pPr algn="ctr"/>
            <a:r>
              <a:rPr lang="fr-FR" sz="2400" dirty="0"/>
              <a:t>avec</a:t>
            </a:r>
            <a:r>
              <a:rPr lang="fr-FR" sz="2400" b="1" dirty="0"/>
              <a:t> </a:t>
            </a:r>
          </a:p>
          <a:p>
            <a:pPr algn="ctr"/>
            <a:r>
              <a:rPr lang="fr-FR" sz="2400" b="1" dirty="0"/>
              <a:t>tous les fichiers et bibliothèques dont elle a besoin </a:t>
            </a:r>
          </a:p>
          <a:p>
            <a:pPr algn="ctr"/>
            <a:r>
              <a:rPr lang="fr-FR" sz="2400" dirty="0"/>
              <a:t>pour</a:t>
            </a:r>
            <a:r>
              <a:rPr lang="fr-FR" sz="2400" b="1" dirty="0"/>
              <a:t> </a:t>
            </a:r>
          </a:p>
          <a:p>
            <a:pPr algn="ctr"/>
            <a:r>
              <a:rPr lang="fr-FR" sz="2400" b="1" dirty="0"/>
              <a:t>s'exécuter sur n'importe quelle infrastructure</a:t>
            </a:r>
            <a:r>
              <a:rPr lang="fr-FR" sz="2400" dirty="0"/>
              <a:t>.</a:t>
            </a:r>
            <a:endParaRPr lang="en-US" sz="2400" dirty="0"/>
          </a:p>
        </p:txBody>
      </p:sp>
    </p:spTree>
    <p:extLst>
      <p:ext uri="{BB962C8B-B14F-4D97-AF65-F5344CB8AC3E}">
        <p14:creationId xmlns:p14="http://schemas.microsoft.com/office/powerpoint/2010/main" val="3521711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Machine Virtuelle</a:t>
            </a:r>
            <a:endParaRPr lang="fr-MA" dirty="0"/>
          </a:p>
        </p:txBody>
      </p:sp>
      <p:sp>
        <p:nvSpPr>
          <p:cNvPr id="8" name="Espace réservé du contenu 7">
            <a:extLst>
              <a:ext uri="{FF2B5EF4-FFF2-40B4-BE49-F238E27FC236}">
                <a16:creationId xmlns:a16="http://schemas.microsoft.com/office/drawing/2014/main" id="{CD64BE8B-19F0-FA84-C6DA-843406CA6D30}"/>
              </a:ext>
            </a:extLst>
          </p:cNvPr>
          <p:cNvSpPr>
            <a:spLocks noGrp="1"/>
          </p:cNvSpPr>
          <p:nvPr>
            <p:ph idx="1"/>
          </p:nvPr>
        </p:nvSpPr>
        <p:spPr>
          <a:xfrm>
            <a:off x="1371600" y="1794225"/>
            <a:ext cx="8496154" cy="4762691"/>
          </a:xfrm>
        </p:spPr>
        <p:txBody>
          <a:bodyPr>
            <a:normAutofit/>
          </a:bodyPr>
          <a:lstStyle/>
          <a:p>
            <a:pPr marL="342900" lvl="0" indent="-342900" algn="just">
              <a:lnSpc>
                <a:spcPct val="150000"/>
              </a:lnSpc>
              <a:spcBef>
                <a:spcPts val="600"/>
              </a:spcBef>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Définition</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Une machine virtuelle est une émulation logicielle d'un système physique. Elle fonctionne sur la base d'un hyperviseur, qui permet à plusieurs VM de partager les ressources d'un même serveur physique tout en fonctionnant comme des systèmes distincts.</a:t>
            </a:r>
          </a:p>
          <a:p>
            <a:pPr marL="342900" lvl="0" indent="-342900" algn="just">
              <a:lnSpc>
                <a:spcPct val="150000"/>
              </a:lnSpc>
              <a:spcBef>
                <a:spcPts val="600"/>
              </a:spcBef>
              <a:buFont typeface="Symbol" panose="05050102010706020507" pitchFamily="18" charset="2"/>
              <a:buChar char=""/>
            </a:pPr>
            <a:r>
              <a:rPr lang="fr-MA" sz="1800" b="1" kern="100" dirty="0">
                <a:latin typeface="Times New Roman" panose="02020603050405020304" pitchFamily="18" charset="0"/>
                <a:ea typeface="Calibri" panose="020F0502020204030204" pitchFamily="34" charset="0"/>
                <a:cs typeface="Times New Roman" panose="02020603050405020304" pitchFamily="18" charset="0"/>
              </a:rPr>
              <a:t>Outils</a:t>
            </a:r>
            <a:r>
              <a:rPr lang="fr-MA" sz="1800" kern="100" dirty="0">
                <a:latin typeface="Times New Roman" panose="02020603050405020304" pitchFamily="18" charset="0"/>
                <a:ea typeface="Calibri" panose="020F0502020204030204" pitchFamily="34" charset="0"/>
                <a:cs typeface="Times New Roman" panose="02020603050405020304" pitchFamily="18" charset="0"/>
              </a:rPr>
              <a:t> : VirtualBox, VMWare, Linux KVM, </a:t>
            </a:r>
            <a:r>
              <a:rPr lang="fr-MA" sz="1800" kern="100" dirty="0" err="1">
                <a:latin typeface="Times New Roman" panose="02020603050405020304" pitchFamily="18" charset="0"/>
                <a:ea typeface="Calibri" panose="020F0502020204030204" pitchFamily="34" charset="0"/>
                <a:cs typeface="Times New Roman" panose="02020603050405020304" pitchFamily="18" charset="0"/>
              </a:rPr>
              <a:t>Xen</a:t>
            </a:r>
            <a:r>
              <a:rPr lang="fr-MA" sz="1800" kern="100" dirty="0">
                <a:latin typeface="Times New Roman" panose="02020603050405020304" pitchFamily="18" charset="0"/>
                <a:ea typeface="Calibri" panose="020F0502020204030204" pitchFamily="34" charset="0"/>
                <a:cs typeface="Times New Roman" panose="02020603050405020304" pitchFamily="18" charset="0"/>
              </a:rPr>
              <a:t>, etc.</a:t>
            </a: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1400"/>
              </a:spcAft>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Isolation</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Chaque VM dispose de ses propres ressources (CPU, mémoire, disque, etc.) et exécute un système d'exploitation complet, ce qui peut être différent pour chaque VM.</a:t>
            </a:r>
          </a:p>
          <a:p>
            <a:r>
              <a:rPr lang="fr-MA" sz="1800" b="1" dirty="0">
                <a:effectLst/>
                <a:latin typeface="Times New Roman" panose="02020603050405020304" pitchFamily="18" charset="0"/>
                <a:ea typeface="Calibri" panose="020F0502020204030204" pitchFamily="34" charset="0"/>
              </a:rPr>
              <a:t>Utilisation</a:t>
            </a:r>
            <a:r>
              <a:rPr lang="fr-MA" sz="1800" dirty="0">
                <a:effectLst/>
                <a:latin typeface="Times New Roman" panose="02020603050405020304" pitchFamily="18" charset="0"/>
                <a:ea typeface="Calibri" panose="020F0502020204030204" pitchFamily="34" charset="0"/>
              </a:rPr>
              <a:t>: Les VM sont souvent utilisées pour partitionner de grandes ressources physiques, pour consolider des serveurs </a:t>
            </a: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22EAD8A-4ADA-A7A8-0E2C-6722E41143EA}"/>
              </a:ext>
            </a:extLst>
          </p:cNvPr>
          <p:cNvPicPr>
            <a:picLocks noChangeAspect="1"/>
          </p:cNvPicPr>
          <p:nvPr/>
        </p:nvPicPr>
        <p:blipFill>
          <a:blip r:embed="rId2"/>
          <a:stretch>
            <a:fillRect/>
          </a:stretch>
        </p:blipFill>
        <p:spPr>
          <a:xfrm>
            <a:off x="10022982" y="123852"/>
            <a:ext cx="2063692" cy="1035001"/>
          </a:xfrm>
          <a:prstGeom prst="rect">
            <a:avLst/>
          </a:prstGeom>
        </p:spPr>
      </p:pic>
      <p:pic>
        <p:nvPicPr>
          <p:cNvPr id="6" name="Picture 5">
            <a:extLst>
              <a:ext uri="{FF2B5EF4-FFF2-40B4-BE49-F238E27FC236}">
                <a16:creationId xmlns:a16="http://schemas.microsoft.com/office/drawing/2014/main" id="{4A9B134F-DF23-CFED-F1D7-484B549775E1}"/>
              </a:ext>
            </a:extLst>
          </p:cNvPr>
          <p:cNvPicPr>
            <a:picLocks noChangeAspect="1"/>
          </p:cNvPicPr>
          <p:nvPr/>
        </p:nvPicPr>
        <p:blipFill>
          <a:blip r:embed="rId3"/>
          <a:stretch>
            <a:fillRect/>
          </a:stretch>
        </p:blipFill>
        <p:spPr>
          <a:xfrm>
            <a:off x="10444928" y="1089519"/>
            <a:ext cx="1747072" cy="1196930"/>
          </a:xfrm>
          <a:prstGeom prst="rect">
            <a:avLst/>
          </a:prstGeom>
        </p:spPr>
      </p:pic>
      <p:pic>
        <p:nvPicPr>
          <p:cNvPr id="9" name="Picture 8">
            <a:extLst>
              <a:ext uri="{FF2B5EF4-FFF2-40B4-BE49-F238E27FC236}">
                <a16:creationId xmlns:a16="http://schemas.microsoft.com/office/drawing/2014/main" id="{DBBD5AEC-B1C5-28C8-178E-EB693D078034}"/>
              </a:ext>
            </a:extLst>
          </p:cNvPr>
          <p:cNvPicPr>
            <a:picLocks noChangeAspect="1"/>
          </p:cNvPicPr>
          <p:nvPr/>
        </p:nvPicPr>
        <p:blipFill>
          <a:blip r:embed="rId4"/>
          <a:stretch>
            <a:fillRect/>
          </a:stretch>
        </p:blipFill>
        <p:spPr>
          <a:xfrm>
            <a:off x="11029421" y="2658369"/>
            <a:ext cx="1036615" cy="1143183"/>
          </a:xfrm>
          <a:prstGeom prst="rect">
            <a:avLst/>
          </a:prstGeom>
        </p:spPr>
      </p:pic>
      <p:pic>
        <p:nvPicPr>
          <p:cNvPr id="11" name="Picture 10">
            <a:extLst>
              <a:ext uri="{FF2B5EF4-FFF2-40B4-BE49-F238E27FC236}">
                <a16:creationId xmlns:a16="http://schemas.microsoft.com/office/drawing/2014/main" id="{AE38EE23-EEC0-C22A-8531-AA6FF0879D8D}"/>
              </a:ext>
            </a:extLst>
          </p:cNvPr>
          <p:cNvPicPr>
            <a:picLocks noChangeAspect="1"/>
          </p:cNvPicPr>
          <p:nvPr/>
        </p:nvPicPr>
        <p:blipFill>
          <a:blip r:embed="rId5"/>
          <a:stretch>
            <a:fillRect/>
          </a:stretch>
        </p:blipFill>
        <p:spPr>
          <a:xfrm>
            <a:off x="10972800" y="5570876"/>
            <a:ext cx="986408" cy="1202647"/>
          </a:xfrm>
          <a:prstGeom prst="rect">
            <a:avLst/>
          </a:prstGeom>
        </p:spPr>
      </p:pic>
      <p:pic>
        <p:nvPicPr>
          <p:cNvPr id="15" name="Picture 14">
            <a:extLst>
              <a:ext uri="{FF2B5EF4-FFF2-40B4-BE49-F238E27FC236}">
                <a16:creationId xmlns:a16="http://schemas.microsoft.com/office/drawing/2014/main" id="{E9802CAF-C386-CC14-E9D4-594416455356}"/>
              </a:ext>
            </a:extLst>
          </p:cNvPr>
          <p:cNvPicPr>
            <a:picLocks noChangeAspect="1"/>
          </p:cNvPicPr>
          <p:nvPr/>
        </p:nvPicPr>
        <p:blipFill>
          <a:blip r:embed="rId6"/>
          <a:stretch>
            <a:fillRect/>
          </a:stretch>
        </p:blipFill>
        <p:spPr>
          <a:xfrm>
            <a:off x="10486341" y="4443280"/>
            <a:ext cx="1579695" cy="763519"/>
          </a:xfrm>
          <a:prstGeom prst="rect">
            <a:avLst/>
          </a:prstGeom>
        </p:spPr>
      </p:pic>
    </p:spTree>
    <p:extLst>
      <p:ext uri="{BB962C8B-B14F-4D97-AF65-F5344CB8AC3E}">
        <p14:creationId xmlns:p14="http://schemas.microsoft.com/office/powerpoint/2010/main" val="2031115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Conteneur</a:t>
            </a:r>
            <a:endParaRPr lang="fr-MA" dirty="0"/>
          </a:p>
        </p:txBody>
      </p:sp>
      <p:sp>
        <p:nvSpPr>
          <p:cNvPr id="8" name="Espace réservé du contenu 7">
            <a:extLst>
              <a:ext uri="{FF2B5EF4-FFF2-40B4-BE49-F238E27FC236}">
                <a16:creationId xmlns:a16="http://schemas.microsoft.com/office/drawing/2014/main" id="{CD64BE8B-19F0-FA84-C6DA-843406CA6D30}"/>
              </a:ext>
            </a:extLst>
          </p:cNvPr>
          <p:cNvSpPr>
            <a:spLocks noGrp="1"/>
          </p:cNvSpPr>
          <p:nvPr>
            <p:ph idx="1"/>
          </p:nvPr>
        </p:nvSpPr>
        <p:spPr>
          <a:xfrm>
            <a:off x="1446531" y="1901283"/>
            <a:ext cx="8053386" cy="4270917"/>
          </a:xfrm>
        </p:spPr>
        <p:txBody>
          <a:bodyPr>
            <a:normAutofit/>
          </a:bodyPr>
          <a:lstStyle/>
          <a:p>
            <a:pPr marL="342900" lvl="0" indent="-342900" algn="just">
              <a:lnSpc>
                <a:spcPct val="150000"/>
              </a:lnSpc>
              <a:spcBef>
                <a:spcPts val="600"/>
              </a:spcBef>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Définition</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Les conteneurs sont des environnements d'exécution isolés qui partagent le même noyau du système d'exploitation, mais fonctionnent dans des espaces utilisateur séparés.</a:t>
            </a:r>
          </a:p>
          <a:p>
            <a:pPr marL="342900" lvl="0" indent="-342900" algn="just">
              <a:lnSpc>
                <a:spcPct val="150000"/>
              </a:lnSpc>
              <a:spcBef>
                <a:spcPts val="600"/>
              </a:spcBef>
              <a:buFont typeface="Symbol" panose="05050102010706020507" pitchFamily="18" charset="2"/>
              <a:buChar char=""/>
            </a:pPr>
            <a:r>
              <a:rPr lang="fr-MA" sz="1800" kern="100" dirty="0">
                <a:latin typeface="Times New Roman" panose="02020603050405020304" pitchFamily="18" charset="0"/>
                <a:ea typeface="Calibri" panose="020F0502020204030204" pitchFamily="34" charset="0"/>
                <a:cs typeface="Times New Roman" panose="02020603050405020304" pitchFamily="18" charset="0"/>
              </a:rPr>
              <a:t>Outils : Docker, </a:t>
            </a:r>
            <a:r>
              <a:rPr lang="fr-MA" sz="1800" kern="100" dirty="0" err="1">
                <a:latin typeface="Times New Roman" panose="02020603050405020304" pitchFamily="18" charset="0"/>
                <a:ea typeface="Calibri" panose="020F0502020204030204" pitchFamily="34" charset="0"/>
                <a:cs typeface="Times New Roman" panose="02020603050405020304" pitchFamily="18" charset="0"/>
              </a:rPr>
              <a:t>Podman</a:t>
            </a:r>
            <a:r>
              <a:rPr lang="fr-MA" sz="1800" kern="100" dirty="0">
                <a:latin typeface="Times New Roman" panose="02020603050405020304" pitchFamily="18" charset="0"/>
                <a:ea typeface="Calibri" panose="020F0502020204030204" pitchFamily="34" charset="0"/>
                <a:cs typeface="Times New Roman" panose="02020603050405020304" pitchFamily="18" charset="0"/>
              </a:rPr>
              <a:t>, Linux Containers LXC.</a:t>
            </a: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Isolation</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Les conteneurs sont plus légers que les VM car ils ne nécessitent pas de système d'exploitation complet. Au lieu de cela, ils reposent sur le noyau du système d'exploitation hôte.</a:t>
            </a:r>
          </a:p>
          <a:p>
            <a:pPr marL="342900" lvl="0" indent="-342900" algn="just">
              <a:lnSpc>
                <a:spcPct val="150000"/>
              </a:lnSpc>
              <a:spcAft>
                <a:spcPts val="1400"/>
              </a:spcAft>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Utilisation</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Idéal pour la micro-segmentation, la mise en œuvre de micro-services et l'orchestration de services avec des outils comme Docker et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Kubernetes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a:t>
            </a:r>
          </a:p>
        </p:txBody>
      </p:sp>
      <p:pic>
        <p:nvPicPr>
          <p:cNvPr id="4" name="Picture 3">
            <a:extLst>
              <a:ext uri="{FF2B5EF4-FFF2-40B4-BE49-F238E27FC236}">
                <a16:creationId xmlns:a16="http://schemas.microsoft.com/office/drawing/2014/main" id="{4CCF246F-E09C-97DB-0CD9-7B79C6706D66}"/>
              </a:ext>
            </a:extLst>
          </p:cNvPr>
          <p:cNvPicPr>
            <a:picLocks noChangeAspect="1"/>
          </p:cNvPicPr>
          <p:nvPr/>
        </p:nvPicPr>
        <p:blipFill>
          <a:blip r:embed="rId2"/>
          <a:stretch>
            <a:fillRect/>
          </a:stretch>
        </p:blipFill>
        <p:spPr>
          <a:xfrm>
            <a:off x="10236358" y="1026684"/>
            <a:ext cx="1472883" cy="1259315"/>
          </a:xfrm>
          <a:prstGeom prst="rect">
            <a:avLst/>
          </a:prstGeom>
        </p:spPr>
      </p:pic>
      <p:pic>
        <p:nvPicPr>
          <p:cNvPr id="6" name="Picture 5">
            <a:extLst>
              <a:ext uri="{FF2B5EF4-FFF2-40B4-BE49-F238E27FC236}">
                <a16:creationId xmlns:a16="http://schemas.microsoft.com/office/drawing/2014/main" id="{28DD6DC1-3D30-EE6E-DAE2-6DF88C668189}"/>
              </a:ext>
            </a:extLst>
          </p:cNvPr>
          <p:cNvPicPr>
            <a:picLocks noChangeAspect="1"/>
          </p:cNvPicPr>
          <p:nvPr/>
        </p:nvPicPr>
        <p:blipFill>
          <a:blip r:embed="rId3"/>
          <a:stretch>
            <a:fillRect/>
          </a:stretch>
        </p:blipFill>
        <p:spPr>
          <a:xfrm>
            <a:off x="9751244" y="2945286"/>
            <a:ext cx="2138312" cy="1626716"/>
          </a:xfrm>
          <a:prstGeom prst="rect">
            <a:avLst/>
          </a:prstGeom>
        </p:spPr>
      </p:pic>
      <p:pic>
        <p:nvPicPr>
          <p:cNvPr id="9" name="Picture 8">
            <a:extLst>
              <a:ext uri="{FF2B5EF4-FFF2-40B4-BE49-F238E27FC236}">
                <a16:creationId xmlns:a16="http://schemas.microsoft.com/office/drawing/2014/main" id="{FCB105EA-2B58-A9E1-E4C9-F87CDC9C607F}"/>
              </a:ext>
            </a:extLst>
          </p:cNvPr>
          <p:cNvPicPr>
            <a:picLocks noChangeAspect="1"/>
          </p:cNvPicPr>
          <p:nvPr/>
        </p:nvPicPr>
        <p:blipFill>
          <a:blip r:embed="rId4"/>
          <a:stretch>
            <a:fillRect/>
          </a:stretch>
        </p:blipFill>
        <p:spPr>
          <a:xfrm>
            <a:off x="9424986" y="5049060"/>
            <a:ext cx="3095625" cy="1666875"/>
          </a:xfrm>
          <a:prstGeom prst="rect">
            <a:avLst/>
          </a:prstGeom>
        </p:spPr>
      </p:pic>
    </p:spTree>
    <p:extLst>
      <p:ext uri="{BB962C8B-B14F-4D97-AF65-F5344CB8AC3E}">
        <p14:creationId xmlns:p14="http://schemas.microsoft.com/office/powerpoint/2010/main" val="3075250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Pourquoi utiliser la virtualisation ?</a:t>
            </a:r>
            <a:endParaRPr lang="fr-MA" dirty="0"/>
          </a:p>
        </p:txBody>
      </p:sp>
      <p:sp>
        <p:nvSpPr>
          <p:cNvPr id="8" name="Espace réservé du contenu 7">
            <a:extLst>
              <a:ext uri="{FF2B5EF4-FFF2-40B4-BE49-F238E27FC236}">
                <a16:creationId xmlns:a16="http://schemas.microsoft.com/office/drawing/2014/main" id="{CD64BE8B-19F0-FA84-C6DA-843406CA6D30}"/>
              </a:ext>
            </a:extLst>
          </p:cNvPr>
          <p:cNvSpPr>
            <a:spLocks noGrp="1"/>
          </p:cNvSpPr>
          <p:nvPr>
            <p:ph idx="1"/>
          </p:nvPr>
        </p:nvSpPr>
        <p:spPr>
          <a:xfrm>
            <a:off x="1371600" y="1943101"/>
            <a:ext cx="9601200" cy="4613816"/>
          </a:xfrm>
        </p:spPr>
        <p:txBody>
          <a:bodyPr>
            <a:normAutofit/>
          </a:bodyPr>
          <a:lstStyle/>
          <a:p>
            <a:pPr marL="342900" lvl="0" indent="-342900" algn="just">
              <a:lnSpc>
                <a:spcPct val="150000"/>
              </a:lnSpc>
              <a:spcBef>
                <a:spcPts val="600"/>
              </a:spcBef>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Moins de  serveurs physiques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Moins d’espace physique, moins de climatisation, moins de personnes pour la gestion, moins d’</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inverstissements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indent="-342900" algn="just">
              <a:lnSpc>
                <a:spcPct val="150000"/>
              </a:lnSpc>
              <a:spcBef>
                <a:spcPts val="600"/>
              </a:spcBef>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Disponibilité optimale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Avec les outils pour la sauvegarde et la réplication de serveurs, le clonage des machines (OS + Services</a:t>
            </a:r>
            <a:r>
              <a:rPr lang="fr-MA" sz="1800" kern="100" dirty="0">
                <a:latin typeface="Times New Roman" panose="02020603050405020304" pitchFamily="18" charset="0"/>
                <a:ea typeface="Calibri" panose="020F0502020204030204" pitchFamily="34" charset="0"/>
                <a:cs typeface="Times New Roman" panose="02020603050405020304" pitchFamily="18" charset="0"/>
              </a:rPr>
              <a:t> + Données)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et la redondance est possible et peu couteuse.</a:t>
            </a:r>
          </a:p>
          <a:p>
            <a:pPr marL="342900" lvl="0" indent="-342900" algn="just">
              <a:lnSpc>
                <a:spcPct val="150000"/>
              </a:lnSpc>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Isolation des environnements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Possibilité d'exécuter plusieurs environnements de développement, de test et de production sur un même serveur physique.</a:t>
            </a:r>
          </a:p>
          <a:p>
            <a:pPr marL="342900" indent="-342900" algn="just">
              <a:lnSpc>
                <a:spcPct val="150000"/>
              </a:lnSpc>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Isolation des services :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Web, Base de données, messagerie, FTP, ce qui permet plus de sécurité</a:t>
            </a:r>
          </a:p>
          <a:p>
            <a:pPr marL="342900" lvl="0" indent="-342900" algn="just">
              <a:lnSpc>
                <a:spcPct val="150000"/>
              </a:lnSpc>
              <a:spcAft>
                <a:spcPts val="1400"/>
              </a:spcAft>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Compatibilité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La virtualisation permet d'exécuter d'anciens logiciels ou systèmes d'exploitation sur du matériel moderne.</a:t>
            </a:r>
          </a:p>
        </p:txBody>
      </p:sp>
    </p:spTree>
    <p:extLst>
      <p:ext uri="{BB962C8B-B14F-4D97-AF65-F5344CB8AC3E}">
        <p14:creationId xmlns:p14="http://schemas.microsoft.com/office/powerpoint/2010/main" val="4115708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31B785D-C664-B512-B0D7-C2F52E85B08E}"/>
              </a:ext>
            </a:extLst>
          </p:cNvPr>
          <p:cNvSpPr>
            <a:spLocks noGrp="1"/>
          </p:cNvSpPr>
          <p:nvPr>
            <p:ph type="title"/>
          </p:nvPr>
        </p:nvSpPr>
        <p:spPr/>
        <p:txBody>
          <a:bodyPr>
            <a:normAutofit/>
          </a:bodyPr>
          <a:lstStyle/>
          <a:p>
            <a:r>
              <a:rPr lang="fr-MA" dirty="0"/>
              <a:t>Histoire de la Virtualisation</a:t>
            </a:r>
          </a:p>
        </p:txBody>
      </p:sp>
      <p:pic>
        <p:nvPicPr>
          <p:cNvPr id="8" name="Image 7">
            <a:extLst>
              <a:ext uri="{FF2B5EF4-FFF2-40B4-BE49-F238E27FC236}">
                <a16:creationId xmlns:a16="http://schemas.microsoft.com/office/drawing/2014/main" id="{38015C2B-FB35-5A83-569F-56345A11B99F}"/>
              </a:ext>
            </a:extLst>
          </p:cNvPr>
          <p:cNvPicPr>
            <a:picLocks noChangeAspect="1"/>
          </p:cNvPicPr>
          <p:nvPr/>
        </p:nvPicPr>
        <p:blipFill>
          <a:blip r:embed="rId2"/>
          <a:stretch>
            <a:fillRect/>
          </a:stretch>
        </p:blipFill>
        <p:spPr>
          <a:xfrm>
            <a:off x="1371600" y="2171700"/>
            <a:ext cx="10357429" cy="2800733"/>
          </a:xfrm>
          <a:prstGeom prst="rect">
            <a:avLst/>
          </a:prstGeom>
        </p:spPr>
      </p:pic>
    </p:spTree>
    <p:extLst>
      <p:ext uri="{BB962C8B-B14F-4D97-AF65-F5344CB8AC3E}">
        <p14:creationId xmlns:p14="http://schemas.microsoft.com/office/powerpoint/2010/main" val="3102003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Avantage de la virtualisation</a:t>
            </a:r>
            <a:endParaRPr lang="fr-MA" dirty="0"/>
          </a:p>
        </p:txBody>
      </p:sp>
      <p:sp>
        <p:nvSpPr>
          <p:cNvPr id="8" name="Espace réservé du contenu 7">
            <a:extLst>
              <a:ext uri="{FF2B5EF4-FFF2-40B4-BE49-F238E27FC236}">
                <a16:creationId xmlns:a16="http://schemas.microsoft.com/office/drawing/2014/main" id="{CD64BE8B-19F0-FA84-C6DA-843406CA6D30}"/>
              </a:ext>
            </a:extLst>
          </p:cNvPr>
          <p:cNvSpPr>
            <a:spLocks noGrp="1"/>
          </p:cNvSpPr>
          <p:nvPr>
            <p:ph idx="1"/>
          </p:nvPr>
        </p:nvSpPr>
        <p:spPr>
          <a:xfrm>
            <a:off x="1371600" y="3576689"/>
            <a:ext cx="9601200" cy="2706602"/>
          </a:xfrm>
        </p:spPr>
        <p:txBody>
          <a:bodyPr>
            <a:noAutofit/>
          </a:bodyPr>
          <a:lstStyle/>
          <a:p>
            <a:pPr marL="342900" lvl="0" indent="-342900" algn="just">
              <a:lnSpc>
                <a:spcPct val="120000"/>
              </a:lnSpc>
              <a:spcBef>
                <a:spcPts val="600"/>
              </a:spcBef>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Consolidation des serveurs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Réduction de nombreux serveurs physiques, ce qui entraîne une économie d'énergie et une réduction des coûts.</a:t>
            </a:r>
          </a:p>
          <a:p>
            <a:pPr marL="342900" lvl="0" indent="-342900" algn="just">
              <a:lnSpc>
                <a:spcPct val="120000"/>
              </a:lnSpc>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Isolation</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 Chaque VM fonctionne de manière indépendante. Si une VM échoue, cela n'affecte pas les autres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VMs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sur le même hôte.</a:t>
            </a:r>
          </a:p>
          <a:p>
            <a:pPr marL="342900" lvl="0" indent="-342900" algn="just">
              <a:lnSpc>
                <a:spcPct val="120000"/>
              </a:lnSpc>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Flexibilité et rapidité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Possibilité de déployer rapidement de nouvelles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VMs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sans avoir besoin d'acquérir et d'installer de nouveaux équipements physiques.</a:t>
            </a:r>
          </a:p>
        </p:txBody>
      </p:sp>
      <p:pic>
        <p:nvPicPr>
          <p:cNvPr id="6" name="Picture 5">
            <a:extLst>
              <a:ext uri="{FF2B5EF4-FFF2-40B4-BE49-F238E27FC236}">
                <a16:creationId xmlns:a16="http://schemas.microsoft.com/office/drawing/2014/main" id="{287170F9-B30C-5E79-20DB-F6AC5A294A41}"/>
              </a:ext>
            </a:extLst>
          </p:cNvPr>
          <p:cNvPicPr>
            <a:picLocks noChangeAspect="1"/>
          </p:cNvPicPr>
          <p:nvPr/>
        </p:nvPicPr>
        <p:blipFill>
          <a:blip r:embed="rId2"/>
          <a:stretch>
            <a:fillRect/>
          </a:stretch>
        </p:blipFill>
        <p:spPr>
          <a:xfrm>
            <a:off x="7617807" y="574709"/>
            <a:ext cx="5201637" cy="3677720"/>
          </a:xfrm>
          <a:prstGeom prst="rect">
            <a:avLst/>
          </a:prstGeom>
        </p:spPr>
      </p:pic>
    </p:spTree>
    <p:extLst>
      <p:ext uri="{BB962C8B-B14F-4D97-AF65-F5344CB8AC3E}">
        <p14:creationId xmlns:p14="http://schemas.microsoft.com/office/powerpoint/2010/main" val="1661775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Avantage de la virtualisation</a:t>
            </a:r>
            <a:endParaRPr lang="fr-MA" dirty="0"/>
          </a:p>
        </p:txBody>
      </p:sp>
      <p:sp>
        <p:nvSpPr>
          <p:cNvPr id="8" name="Espace réservé du contenu 7">
            <a:extLst>
              <a:ext uri="{FF2B5EF4-FFF2-40B4-BE49-F238E27FC236}">
                <a16:creationId xmlns:a16="http://schemas.microsoft.com/office/drawing/2014/main" id="{CD64BE8B-19F0-FA84-C6DA-843406CA6D30}"/>
              </a:ext>
            </a:extLst>
          </p:cNvPr>
          <p:cNvSpPr>
            <a:spLocks noGrp="1"/>
          </p:cNvSpPr>
          <p:nvPr>
            <p:ph idx="1"/>
          </p:nvPr>
        </p:nvSpPr>
        <p:spPr>
          <a:xfrm>
            <a:off x="1219200" y="1777850"/>
            <a:ext cx="9395012" cy="1485900"/>
          </a:xfrm>
        </p:spPr>
        <p:txBody>
          <a:bodyPr>
            <a:noAutofit/>
          </a:bodyPr>
          <a:lstStyle/>
          <a:p>
            <a:pPr marL="342900" lvl="0" indent="-342900" algn="just">
              <a:lnSpc>
                <a:spcPct val="120000"/>
              </a:lnSpc>
              <a:spcAft>
                <a:spcPts val="1400"/>
              </a:spcAft>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Migration en direct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Capacité de déplacer une VM en cours d'exécution d'un serveur à un autre sans interruption de service, grâce à des technologies comme VMware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vMotion</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ou Hyper-V Live Migration.</a:t>
            </a:r>
          </a:p>
          <a:p>
            <a:pPr marL="342900" lvl="0" indent="-342900" algn="just">
              <a:lnSpc>
                <a:spcPct val="120000"/>
              </a:lnSpc>
              <a:spcAft>
                <a:spcPts val="1400"/>
              </a:spcAft>
              <a:buFont typeface="Symbol" panose="05050102010706020507" pitchFamily="18" charset="2"/>
              <a:buChar char=""/>
            </a:pPr>
            <a:endParaRPr lang="fr-MA" sz="1800" kern="1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20000"/>
              </a:lnSpc>
              <a:spcAft>
                <a:spcPts val="1400"/>
              </a:spcAft>
              <a:buFont typeface="Symbol" panose="05050102010706020507" pitchFamily="18" charset="2"/>
              <a:buChar char=""/>
            </a:pP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20000"/>
              </a:lnSpc>
              <a:spcAft>
                <a:spcPts val="1400"/>
              </a:spcAft>
              <a:buFont typeface="Symbol" panose="05050102010706020507" pitchFamily="18" charset="2"/>
              <a:buChar char=""/>
            </a:pPr>
            <a:endParaRPr lang="fr-MA" sz="1800" kern="1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20000"/>
              </a:lnSpc>
              <a:spcAft>
                <a:spcPts val="1400"/>
              </a:spcAft>
              <a:buFont typeface="Symbol" panose="05050102010706020507" pitchFamily="18" charset="2"/>
              <a:buChar char=""/>
            </a:pP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20000"/>
              </a:lnSpc>
              <a:spcAft>
                <a:spcPts val="1400"/>
              </a:spcAft>
              <a:buFont typeface="Symbol" panose="05050102010706020507" pitchFamily="18" charset="2"/>
              <a:buChar char=""/>
            </a:pPr>
            <a:r>
              <a:rPr lang="fr-MA" sz="1800" kern="100"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rPr>
              <a:t>La technologie de virtualisation a permis, à travers ces outils, d’améliorer la disponibilité et la résilience </a:t>
            </a:r>
            <a:r>
              <a:rPr lang="fr-MA" sz="1800" kern="100"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 Data centers</a:t>
            </a:r>
            <a:endParaRPr lang="fr-MA" sz="1800" kern="100" dirty="0">
              <a:solidFill>
                <a:schemeClr val="bg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fr-MA" sz="1800" dirty="0"/>
          </a:p>
        </p:txBody>
      </p:sp>
      <p:grpSp>
        <p:nvGrpSpPr>
          <p:cNvPr id="11" name="Group 10">
            <a:extLst>
              <a:ext uri="{FF2B5EF4-FFF2-40B4-BE49-F238E27FC236}">
                <a16:creationId xmlns:a16="http://schemas.microsoft.com/office/drawing/2014/main" id="{65AA8512-EF33-AAAA-25DE-C49074652115}"/>
              </a:ext>
            </a:extLst>
          </p:cNvPr>
          <p:cNvGrpSpPr/>
          <p:nvPr/>
        </p:nvGrpSpPr>
        <p:grpSpPr>
          <a:xfrm>
            <a:off x="3848717" y="2918299"/>
            <a:ext cx="5400675" cy="2476972"/>
            <a:chOff x="6791325" y="4194243"/>
            <a:chExt cx="5400675" cy="2476972"/>
          </a:xfrm>
        </p:grpSpPr>
        <p:pic>
          <p:nvPicPr>
            <p:cNvPr id="9" name="Picture 8">
              <a:extLst>
                <a:ext uri="{FF2B5EF4-FFF2-40B4-BE49-F238E27FC236}">
                  <a16:creationId xmlns:a16="http://schemas.microsoft.com/office/drawing/2014/main" id="{91B77499-6949-C3EB-83FE-C1AB536CF62D}"/>
                </a:ext>
              </a:extLst>
            </p:cNvPr>
            <p:cNvPicPr>
              <a:picLocks noChangeAspect="1"/>
            </p:cNvPicPr>
            <p:nvPr/>
          </p:nvPicPr>
          <p:blipFill>
            <a:blip r:embed="rId2"/>
            <a:stretch>
              <a:fillRect/>
            </a:stretch>
          </p:blipFill>
          <p:spPr>
            <a:xfrm>
              <a:off x="6791325" y="4280440"/>
              <a:ext cx="5400675" cy="2390775"/>
            </a:xfrm>
            <a:prstGeom prst="rect">
              <a:avLst/>
            </a:prstGeom>
          </p:spPr>
        </p:pic>
        <p:sp>
          <p:nvSpPr>
            <p:cNvPr id="10" name="TextBox 9">
              <a:extLst>
                <a:ext uri="{FF2B5EF4-FFF2-40B4-BE49-F238E27FC236}">
                  <a16:creationId xmlns:a16="http://schemas.microsoft.com/office/drawing/2014/main" id="{DE2A45AF-1965-1EEB-33DF-C5CAD2B36FBD}"/>
                </a:ext>
              </a:extLst>
            </p:cNvPr>
            <p:cNvSpPr txBox="1"/>
            <p:nvPr/>
          </p:nvSpPr>
          <p:spPr>
            <a:xfrm>
              <a:off x="8683530" y="4194243"/>
              <a:ext cx="1330814" cy="338554"/>
            </a:xfrm>
            <a:prstGeom prst="rect">
              <a:avLst/>
            </a:prstGeom>
            <a:solidFill>
              <a:schemeClr val="accent1">
                <a:lumMod val="20000"/>
                <a:lumOff val="80000"/>
              </a:schemeClr>
            </a:solidFill>
            <a:ln>
              <a:solidFill>
                <a:schemeClr val="tx2"/>
              </a:solidFill>
            </a:ln>
          </p:spPr>
          <p:txBody>
            <a:bodyPr wrap="none" rtlCol="0">
              <a:spAutoFit/>
            </a:bodyPr>
            <a:lstStyle/>
            <a:p>
              <a:r>
                <a:rPr lang="fr-FR" sz="1600" b="1" dirty="0"/>
                <a:t>VM Migration</a:t>
              </a:r>
              <a:endParaRPr lang="en-US" sz="1600" b="1" dirty="0"/>
            </a:p>
          </p:txBody>
        </p:sp>
      </p:grpSp>
    </p:spTree>
    <p:extLst>
      <p:ext uri="{BB962C8B-B14F-4D97-AF65-F5344CB8AC3E}">
        <p14:creationId xmlns:p14="http://schemas.microsoft.com/office/powerpoint/2010/main" val="270896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Inconvénients de la virtualisation</a:t>
            </a:r>
            <a:endParaRPr lang="fr-MA" dirty="0"/>
          </a:p>
        </p:txBody>
      </p:sp>
      <p:sp>
        <p:nvSpPr>
          <p:cNvPr id="8" name="Espace réservé du contenu 7">
            <a:extLst>
              <a:ext uri="{FF2B5EF4-FFF2-40B4-BE49-F238E27FC236}">
                <a16:creationId xmlns:a16="http://schemas.microsoft.com/office/drawing/2014/main" id="{CD64BE8B-19F0-FA84-C6DA-843406CA6D30}"/>
              </a:ext>
            </a:extLst>
          </p:cNvPr>
          <p:cNvSpPr>
            <a:spLocks noGrp="1"/>
          </p:cNvSpPr>
          <p:nvPr>
            <p:ph idx="1"/>
          </p:nvPr>
        </p:nvSpPr>
        <p:spPr>
          <a:xfrm>
            <a:off x="1371600" y="2285999"/>
            <a:ext cx="9601200" cy="4270917"/>
          </a:xfrm>
        </p:spPr>
        <p:txBody>
          <a:bodyPr>
            <a:normAutofit/>
          </a:bodyPr>
          <a:lstStyle/>
          <a:p>
            <a:pPr marL="342900" lvl="0" indent="-342900" algn="just">
              <a:lnSpc>
                <a:spcPct val="150000"/>
              </a:lnSpc>
              <a:spcBef>
                <a:spcPts val="600"/>
              </a:spcBef>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Surcharge</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Overhead</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 L'introduction d'une couche supplémentaire (l'hyperviseur) peut entraîner une légère perte de performance (au niveau de la machine hôte, et</a:t>
            </a:r>
            <a:r>
              <a:rPr lang="fr-MA" sz="1800" kern="100" dirty="0">
                <a:latin typeface="Times New Roman" panose="02020603050405020304" pitchFamily="18" charset="0"/>
                <a:ea typeface="Calibri" panose="020F0502020204030204" pitchFamily="34" charset="0"/>
                <a:cs typeface="Times New Roman" panose="02020603050405020304" pitchFamily="18" charset="0"/>
              </a:rPr>
              <a:t> au niveau de l’invité à cause de la couche de l’émulateur)</a:t>
            </a: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Complexité</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 La gestion de multiples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VMs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et de leurs ressources associées peut devenir complexe sans les bons outils.</a:t>
            </a:r>
          </a:p>
          <a:p>
            <a:pPr marL="342900" lvl="0" indent="-342900" algn="just">
              <a:lnSpc>
                <a:spcPct val="150000"/>
              </a:lnSpc>
              <a:spcAft>
                <a:spcPts val="1400"/>
              </a:spcAft>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Problèmes de sécurité </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Les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VMs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peuvent être vulnérables à des attaques inter-VM (par exemple, les attaques de canal secondaire).</a:t>
            </a:r>
          </a:p>
        </p:txBody>
      </p:sp>
    </p:spTree>
    <p:extLst>
      <p:ext uri="{BB962C8B-B14F-4D97-AF65-F5344CB8AC3E}">
        <p14:creationId xmlns:p14="http://schemas.microsoft.com/office/powerpoint/2010/main" val="41946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731F6C-B562-C7B6-5E19-6041DBB2487A}"/>
              </a:ext>
            </a:extLst>
          </p:cNvPr>
          <p:cNvSpPr>
            <a:spLocks noGrp="1"/>
          </p:cNvSpPr>
          <p:nvPr>
            <p:ph type="title"/>
          </p:nvPr>
        </p:nvSpPr>
        <p:spPr/>
        <p:txBody>
          <a:bodyPr/>
          <a:lstStyle/>
          <a:p>
            <a:r>
              <a:rPr lang="fr-FR" dirty="0"/>
              <a:t>Chapitre 2</a:t>
            </a:r>
            <a:endParaRPr lang="fr-MA" dirty="0"/>
          </a:p>
        </p:txBody>
      </p:sp>
      <p:sp>
        <p:nvSpPr>
          <p:cNvPr id="3" name="Espace réservé du contenu 2">
            <a:extLst>
              <a:ext uri="{FF2B5EF4-FFF2-40B4-BE49-F238E27FC236}">
                <a16:creationId xmlns:a16="http://schemas.microsoft.com/office/drawing/2014/main" id="{832D990A-B9DA-52C8-F082-CA5F49B8F8FA}"/>
              </a:ext>
            </a:extLst>
          </p:cNvPr>
          <p:cNvSpPr>
            <a:spLocks noGrp="1"/>
          </p:cNvSpPr>
          <p:nvPr>
            <p:ph idx="1"/>
          </p:nvPr>
        </p:nvSpPr>
        <p:spPr>
          <a:xfrm>
            <a:off x="1806493" y="1940560"/>
            <a:ext cx="9701565" cy="3991889"/>
          </a:xfrm>
        </p:spPr>
        <p:txBody>
          <a:bodyPr>
            <a:normAutofit/>
          </a:bodyPr>
          <a:lstStyle/>
          <a:p>
            <a:pPr marL="0" indent="0" algn="ctr">
              <a:buNone/>
            </a:pPr>
            <a:r>
              <a:rPr lang="fr-FR" sz="11500" dirty="0"/>
              <a:t>Isolation</a:t>
            </a:r>
            <a:endParaRPr lang="fr-MA" sz="11500" dirty="0"/>
          </a:p>
        </p:txBody>
      </p:sp>
    </p:spTree>
    <p:extLst>
      <p:ext uri="{BB962C8B-B14F-4D97-AF65-F5344CB8AC3E}">
        <p14:creationId xmlns:p14="http://schemas.microsoft.com/office/powerpoint/2010/main" val="1390907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Techniques de cloisonnement</a:t>
            </a:r>
            <a:endParaRPr lang="fr-MA" dirty="0"/>
          </a:p>
        </p:txBody>
      </p:sp>
      <p:pic>
        <p:nvPicPr>
          <p:cNvPr id="7" name="Image 6">
            <a:extLst>
              <a:ext uri="{FF2B5EF4-FFF2-40B4-BE49-F238E27FC236}">
                <a16:creationId xmlns:a16="http://schemas.microsoft.com/office/drawing/2014/main" id="{A5A5540B-709D-87C1-9DFD-CB9D8B5C4936}"/>
              </a:ext>
            </a:extLst>
          </p:cNvPr>
          <p:cNvPicPr>
            <a:picLocks noChangeAspect="1"/>
          </p:cNvPicPr>
          <p:nvPr/>
        </p:nvPicPr>
        <p:blipFill>
          <a:blip r:embed="rId2"/>
          <a:stretch>
            <a:fillRect/>
          </a:stretch>
        </p:blipFill>
        <p:spPr>
          <a:xfrm>
            <a:off x="1626135" y="2838253"/>
            <a:ext cx="9281702" cy="3210853"/>
          </a:xfrm>
          <a:prstGeom prst="rect">
            <a:avLst/>
          </a:prstGeom>
        </p:spPr>
      </p:pic>
      <p:sp>
        <p:nvSpPr>
          <p:cNvPr id="3" name="Espace réservé du contenu 7">
            <a:extLst>
              <a:ext uri="{FF2B5EF4-FFF2-40B4-BE49-F238E27FC236}">
                <a16:creationId xmlns:a16="http://schemas.microsoft.com/office/drawing/2014/main" id="{E86A5EB9-F611-33D1-2031-E999BFA008D4}"/>
              </a:ext>
            </a:extLst>
          </p:cNvPr>
          <p:cNvSpPr>
            <a:spLocks noGrp="1"/>
          </p:cNvSpPr>
          <p:nvPr>
            <p:ph idx="1"/>
          </p:nvPr>
        </p:nvSpPr>
        <p:spPr>
          <a:xfrm>
            <a:off x="1371600" y="1981199"/>
            <a:ext cx="9245065" cy="4374683"/>
          </a:xfrm>
        </p:spPr>
        <p:txBody>
          <a:bodyPr>
            <a:normAutofit/>
          </a:bodyPr>
          <a:lstStyle/>
          <a:p>
            <a:pPr algn="just">
              <a:lnSpc>
                <a:spcPct val="150000"/>
              </a:lnSpc>
              <a:spcBef>
                <a:spcPts val="600"/>
              </a:spcBef>
              <a:spcAft>
                <a:spcPts val="1400"/>
              </a:spcAft>
            </a:pP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Techniques grâce auxquelles la virtualisation est possible.</a:t>
            </a:r>
          </a:p>
        </p:txBody>
      </p:sp>
    </p:spTree>
    <p:extLst>
      <p:ext uri="{BB962C8B-B14F-4D97-AF65-F5344CB8AC3E}">
        <p14:creationId xmlns:p14="http://schemas.microsoft.com/office/powerpoint/2010/main" val="2779216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Techniques de cloisonnement</a:t>
            </a:r>
            <a:endParaRPr lang="fr-MA" dirty="0">
              <a:solidFill>
                <a:schemeClr val="accent2">
                  <a:lumMod val="75000"/>
                </a:schemeClr>
              </a:solidFill>
            </a:endParaRPr>
          </a:p>
        </p:txBody>
      </p:sp>
      <p:sp>
        <p:nvSpPr>
          <p:cNvPr id="8" name="Espace réservé du contenu 7">
            <a:extLst>
              <a:ext uri="{FF2B5EF4-FFF2-40B4-BE49-F238E27FC236}">
                <a16:creationId xmlns:a16="http://schemas.microsoft.com/office/drawing/2014/main" id="{CD64BE8B-19F0-FA84-C6DA-843406CA6D30}"/>
              </a:ext>
            </a:extLst>
          </p:cNvPr>
          <p:cNvSpPr>
            <a:spLocks noGrp="1"/>
          </p:cNvSpPr>
          <p:nvPr>
            <p:ph idx="1"/>
          </p:nvPr>
        </p:nvSpPr>
        <p:spPr>
          <a:xfrm>
            <a:off x="1371600" y="2285999"/>
            <a:ext cx="9245065" cy="4374683"/>
          </a:xfrm>
        </p:spPr>
        <p:txBody>
          <a:bodyPr>
            <a:normAutofit/>
          </a:bodyPr>
          <a:lstStyle/>
          <a:p>
            <a:pPr algn="just">
              <a:lnSpc>
                <a:spcPct val="150000"/>
              </a:lnSpc>
              <a:spcBef>
                <a:spcPts val="600"/>
              </a:spcBef>
              <a:spcAft>
                <a:spcPts val="1400"/>
              </a:spcAft>
            </a:pP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Le programme </a:t>
            </a:r>
            <a:r>
              <a:rPr lang="fr-MA" sz="1800" b="1" kern="100" dirty="0" err="1">
                <a:effectLst/>
                <a:latin typeface="Times New Roman" panose="02020603050405020304" pitchFamily="18" charset="0"/>
                <a:ea typeface="Calibri" panose="020F0502020204030204" pitchFamily="34" charset="0"/>
                <a:cs typeface="Times New Roman" panose="02020603050405020304" pitchFamily="18" charset="0"/>
              </a:rPr>
              <a:t>chroot</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change le root pour un processus particulier. Ceci permet donc d’avoir plusieurs environnements avec chacun sa propre racine « / »</a:t>
            </a:r>
            <a:r>
              <a:rPr lang="fr-MA" sz="1800" b="1" kern="100" dirty="0">
                <a:effectLst/>
                <a:latin typeface="Courier New" panose="02070309020205020404" pitchFamily="49" charset="0"/>
                <a:ea typeface="Courier New" panose="02070309020205020404" pitchFamily="49" charset="0"/>
                <a:cs typeface="Times New Roman" panose="02020603050405020304" pitchFamily="18" charset="0"/>
              </a:rPr>
              <a:t>.</a:t>
            </a: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Bef>
                <a:spcPts val="600"/>
              </a:spcBef>
              <a:spcAft>
                <a:spcPts val="1400"/>
              </a:spcAft>
            </a:pPr>
            <a:r>
              <a:rPr lang="fr-FR" altLang="fr-FR" sz="1800" kern="100" dirty="0">
                <a:latin typeface="Times New Roman" panose="02020603050405020304" pitchFamily="18" charset="0"/>
                <a:ea typeface="Calibri" panose="020F0502020204030204" pitchFamily="34" charset="0"/>
                <a:cs typeface="Times New Roman" panose="02020603050405020304" pitchFamily="18" charset="0"/>
              </a:rPr>
              <a:t>L'utilisation de </a:t>
            </a:r>
            <a:r>
              <a:rPr lang="fr-FR" altLang="fr-FR" sz="1800" b="1" kern="100" dirty="0" err="1">
                <a:latin typeface="Times New Roman" panose="02020603050405020304" pitchFamily="18" charset="0"/>
                <a:ea typeface="Calibri" panose="020F0502020204030204" pitchFamily="34" charset="0"/>
                <a:cs typeface="Times New Roman" panose="02020603050405020304" pitchFamily="18" charset="0"/>
              </a:rPr>
              <a:t>chroot</a:t>
            </a:r>
            <a:r>
              <a:rPr lang="fr-FR" altLang="fr-FR" sz="1800" kern="100" dirty="0">
                <a:latin typeface="Times New Roman" panose="02020603050405020304" pitchFamily="18" charset="0"/>
                <a:ea typeface="Calibri" panose="020F0502020204030204" pitchFamily="34" charset="0"/>
                <a:cs typeface="Times New Roman" panose="02020603050405020304" pitchFamily="18" charset="0"/>
              </a:rPr>
              <a:t> est courante dans les scénarios de sécurité et d'isolation, ainsi que dans la création d'environnements d'exécution autonomes.</a:t>
            </a:r>
          </a:p>
          <a:p>
            <a:pPr marL="0" indent="0" algn="just">
              <a:lnSpc>
                <a:spcPct val="150000"/>
              </a:lnSpc>
              <a:spcBef>
                <a:spcPts val="600"/>
              </a:spcBef>
              <a:spcAft>
                <a:spcPts val="1400"/>
              </a:spcAft>
              <a:buNone/>
            </a:pPr>
            <a:r>
              <a:rPr lang="fr-FR" altLang="fr-FR" sz="1800" b="1" i="1" kern="100"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rPr>
              <a:t>Attention</a:t>
            </a:r>
            <a:r>
              <a:rPr lang="fr-FR" altLang="fr-FR" sz="1800" i="1" kern="100"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rPr>
              <a:t> : </a:t>
            </a:r>
            <a:r>
              <a:rPr lang="fr-FR" altLang="fr-FR" sz="1800" i="1" kern="100" dirty="0" err="1">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rPr>
              <a:t>chroot</a:t>
            </a:r>
            <a:r>
              <a:rPr lang="fr-FR" altLang="fr-FR" sz="1800" i="1" kern="100"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rPr>
              <a:t> ne fournit pas une isolation aussi forte que la virtualisation complète, car il partage généralement le noyau du système hôte. </a:t>
            </a:r>
          </a:p>
          <a:p>
            <a:pPr algn="just">
              <a:lnSpc>
                <a:spcPct val="150000"/>
              </a:lnSpc>
              <a:spcBef>
                <a:spcPts val="600"/>
              </a:spcBef>
              <a:spcAft>
                <a:spcPts val="1400"/>
              </a:spcAft>
            </a:pPr>
            <a:endParaRPr lang="fr-FR"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Bef>
                <a:spcPts val="600"/>
              </a:spcBef>
              <a:spcAft>
                <a:spcPts val="1400"/>
              </a:spcAft>
            </a:pP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Image 4">
            <a:extLst>
              <a:ext uri="{FF2B5EF4-FFF2-40B4-BE49-F238E27FC236}">
                <a16:creationId xmlns:a16="http://schemas.microsoft.com/office/drawing/2014/main" id="{427E13AF-E1AE-CCF1-134F-E21F7CC3BCAE}"/>
              </a:ext>
            </a:extLst>
          </p:cNvPr>
          <p:cNvPicPr>
            <a:picLocks noChangeAspect="1"/>
          </p:cNvPicPr>
          <p:nvPr/>
        </p:nvPicPr>
        <p:blipFill>
          <a:blip r:embed="rId2"/>
          <a:stretch>
            <a:fillRect/>
          </a:stretch>
        </p:blipFill>
        <p:spPr>
          <a:xfrm>
            <a:off x="9054056" y="288290"/>
            <a:ext cx="2233704" cy="1485899"/>
          </a:xfrm>
          <a:prstGeom prst="rect">
            <a:avLst/>
          </a:prstGeom>
        </p:spPr>
      </p:pic>
      <p:sp>
        <p:nvSpPr>
          <p:cNvPr id="3" name="Rectangle 1">
            <a:extLst>
              <a:ext uri="{FF2B5EF4-FFF2-40B4-BE49-F238E27FC236}">
                <a16:creationId xmlns:a16="http://schemas.microsoft.com/office/drawing/2014/main" id="{5EC53764-D78A-C282-2419-85194536E229}"/>
              </a:ext>
            </a:extLst>
          </p:cNvPr>
          <p:cNvSpPr>
            <a:spLocks noChangeArrowheads="1"/>
          </p:cNvSpPr>
          <p:nvPr/>
        </p:nvSpPr>
        <p:spPr bwMode="auto">
          <a:xfrm>
            <a:off x="0" y="-184666"/>
            <a:ext cx="184731" cy="369332"/>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86E563AC-A4AF-5953-9701-761444C8E6CF}"/>
              </a:ext>
            </a:extLst>
          </p:cNvPr>
          <p:cNvSpPr>
            <a:spLocks noChangeArrowheads="1"/>
          </p:cNvSpPr>
          <p:nvPr/>
        </p:nvSpPr>
        <p:spPr bwMode="auto">
          <a:xfrm>
            <a:off x="0" y="-184666"/>
            <a:ext cx="184731" cy="369332"/>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0515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Techniques de cloisonnement</a:t>
            </a:r>
            <a:endParaRPr lang="fr-MA" dirty="0">
              <a:solidFill>
                <a:schemeClr val="accent2">
                  <a:lumMod val="75000"/>
                </a:schemeClr>
              </a:solidFill>
            </a:endParaRPr>
          </a:p>
        </p:txBody>
      </p:sp>
      <p:sp>
        <p:nvSpPr>
          <p:cNvPr id="8" name="Espace réservé du contenu 7">
            <a:extLst>
              <a:ext uri="{FF2B5EF4-FFF2-40B4-BE49-F238E27FC236}">
                <a16:creationId xmlns:a16="http://schemas.microsoft.com/office/drawing/2014/main" id="{CD64BE8B-19F0-FA84-C6DA-843406CA6D30}"/>
              </a:ext>
            </a:extLst>
          </p:cNvPr>
          <p:cNvSpPr>
            <a:spLocks noGrp="1"/>
          </p:cNvSpPr>
          <p:nvPr>
            <p:ph idx="1"/>
          </p:nvPr>
        </p:nvSpPr>
        <p:spPr>
          <a:xfrm>
            <a:off x="1371600" y="2285999"/>
            <a:ext cx="9245065" cy="4374683"/>
          </a:xfrm>
        </p:spPr>
        <p:txBody>
          <a:bodyPr>
            <a:normAutofit/>
          </a:bodyPr>
          <a:lstStyle/>
          <a:p>
            <a:pPr algn="just">
              <a:lnSpc>
                <a:spcPct val="150000"/>
              </a:lnSpc>
              <a:spcBef>
                <a:spcPts val="600"/>
              </a:spcBef>
              <a:spcAft>
                <a:spcPts val="1400"/>
              </a:spcAft>
            </a:pPr>
            <a:r>
              <a:rPr lang="fr-MA" sz="1800" b="1" kern="100" dirty="0" err="1">
                <a:effectLst/>
                <a:latin typeface="Times New Roman" panose="02020603050405020304" pitchFamily="18" charset="0"/>
                <a:ea typeface="Calibri" panose="020F0502020204030204" pitchFamily="34" charset="0"/>
                <a:cs typeface="Times New Roman" panose="02020603050405020304" pitchFamily="18" charset="0"/>
              </a:rPr>
              <a:t>cgroups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ou Control groups est une fonctionnalité du noyau Linux qui limite, isole et mesure l'utilisation des ressources d'un groupe de processus. Il est possible de définir des quotas de ressources pour la mémoire, le CPU, le réseau et les E/S. Celle-ci a été intégrée au noyau dans Linux 2.6.24.</a:t>
            </a:r>
          </a:p>
          <a:p>
            <a:pPr algn="just">
              <a:lnSpc>
                <a:spcPct val="150000"/>
              </a:lnSpc>
              <a:spcBef>
                <a:spcPts val="600"/>
              </a:spcBef>
              <a:spcAft>
                <a:spcPts val="1400"/>
              </a:spcAft>
            </a:pP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Bien que Linux gère très bien et partage les ressources disponibles entre les processus, nous souhaitons parfois un meilleur contrôle des ressources. Nous souhaitons allouer ou garantir une certaine quantité de ressources à un groupe de processus. Nous faisons cela avec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cgroups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Ceci isole les ressources d’une application ou un groupe.</a:t>
            </a:r>
          </a:p>
        </p:txBody>
      </p:sp>
      <p:pic>
        <p:nvPicPr>
          <p:cNvPr id="4" name="Image 3">
            <a:extLst>
              <a:ext uri="{FF2B5EF4-FFF2-40B4-BE49-F238E27FC236}">
                <a16:creationId xmlns:a16="http://schemas.microsoft.com/office/drawing/2014/main" id="{7D31CA8D-4FF0-D229-6297-DA45C7DC8307}"/>
              </a:ext>
            </a:extLst>
          </p:cNvPr>
          <p:cNvPicPr>
            <a:picLocks noChangeAspect="1"/>
          </p:cNvPicPr>
          <p:nvPr/>
        </p:nvPicPr>
        <p:blipFill>
          <a:blip r:embed="rId2"/>
          <a:stretch>
            <a:fillRect/>
          </a:stretch>
        </p:blipFill>
        <p:spPr>
          <a:xfrm>
            <a:off x="9169763" y="389890"/>
            <a:ext cx="2273723" cy="1485899"/>
          </a:xfrm>
          <a:prstGeom prst="rect">
            <a:avLst/>
          </a:prstGeom>
        </p:spPr>
      </p:pic>
    </p:spTree>
    <p:extLst>
      <p:ext uri="{BB962C8B-B14F-4D97-AF65-F5344CB8AC3E}">
        <p14:creationId xmlns:p14="http://schemas.microsoft.com/office/powerpoint/2010/main" val="2728464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Techniques de cloisonnement</a:t>
            </a:r>
            <a:endParaRPr lang="fr-MA" dirty="0"/>
          </a:p>
        </p:txBody>
      </p:sp>
      <p:sp>
        <p:nvSpPr>
          <p:cNvPr id="8" name="Espace réservé du contenu 7">
            <a:extLst>
              <a:ext uri="{FF2B5EF4-FFF2-40B4-BE49-F238E27FC236}">
                <a16:creationId xmlns:a16="http://schemas.microsoft.com/office/drawing/2014/main" id="{CD64BE8B-19F0-FA84-C6DA-843406CA6D30}"/>
              </a:ext>
            </a:extLst>
          </p:cNvPr>
          <p:cNvSpPr>
            <a:spLocks noGrp="1"/>
          </p:cNvSpPr>
          <p:nvPr>
            <p:ph idx="1"/>
          </p:nvPr>
        </p:nvSpPr>
        <p:spPr>
          <a:xfrm>
            <a:off x="1371600" y="2285999"/>
            <a:ext cx="9245065" cy="4374683"/>
          </a:xfrm>
        </p:spPr>
        <p:txBody>
          <a:bodyPr>
            <a:normAutofit/>
          </a:bodyPr>
          <a:lstStyle/>
          <a:p>
            <a:pPr algn="just">
              <a:lnSpc>
                <a:spcPct val="150000"/>
              </a:lnSpc>
              <a:spcBef>
                <a:spcPts val="600"/>
              </a:spcBef>
              <a:spcAft>
                <a:spcPts val="1400"/>
              </a:spcAft>
            </a:pP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Les processus Linux forment une hiérarchie unique (tous fils de </a:t>
            </a: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init</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Les processus privilégiés de cette arborescence peuvent généralement suivre ou tuer d'autres processus. Le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namespace</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permet à plusieurs hiérarchies de processus de disposer de leurs propres « sous-arbres », de sorte que les processus d'un sous-arbre ne peuvent pas accéder ou ne connaissent pas ceux d'un autre.</a:t>
            </a:r>
          </a:p>
          <a:p>
            <a:pPr marL="0" indent="0" algn="just">
              <a:lnSpc>
                <a:spcPct val="150000"/>
              </a:lnSpc>
              <a:spcBef>
                <a:spcPts val="600"/>
              </a:spcBef>
              <a:spcAft>
                <a:spcPts val="1400"/>
              </a:spcAft>
              <a:buNone/>
            </a:pP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Image 4">
            <a:extLst>
              <a:ext uri="{FF2B5EF4-FFF2-40B4-BE49-F238E27FC236}">
                <a16:creationId xmlns:a16="http://schemas.microsoft.com/office/drawing/2014/main" id="{40B97E69-7D49-9CD1-2AB2-4BDEF94B6C7D}"/>
              </a:ext>
            </a:extLst>
          </p:cNvPr>
          <p:cNvPicPr>
            <a:picLocks noChangeAspect="1"/>
          </p:cNvPicPr>
          <p:nvPr/>
        </p:nvPicPr>
        <p:blipFill>
          <a:blip r:embed="rId2"/>
          <a:stretch>
            <a:fillRect/>
          </a:stretch>
        </p:blipFill>
        <p:spPr>
          <a:xfrm>
            <a:off x="9200173" y="429795"/>
            <a:ext cx="2191182" cy="1323473"/>
          </a:xfrm>
          <a:prstGeom prst="rect">
            <a:avLst/>
          </a:prstGeom>
        </p:spPr>
      </p:pic>
    </p:spTree>
    <p:extLst>
      <p:ext uri="{BB962C8B-B14F-4D97-AF65-F5344CB8AC3E}">
        <p14:creationId xmlns:p14="http://schemas.microsoft.com/office/powerpoint/2010/main" val="1705878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731F6C-B562-C7B6-5E19-6041DBB2487A}"/>
              </a:ext>
            </a:extLst>
          </p:cNvPr>
          <p:cNvSpPr>
            <a:spLocks noGrp="1"/>
          </p:cNvSpPr>
          <p:nvPr>
            <p:ph type="title"/>
          </p:nvPr>
        </p:nvSpPr>
        <p:spPr/>
        <p:txBody>
          <a:bodyPr/>
          <a:lstStyle/>
          <a:p>
            <a:r>
              <a:rPr lang="fr-FR" dirty="0"/>
              <a:t>Chapitre 3</a:t>
            </a:r>
            <a:endParaRPr lang="fr-MA" dirty="0"/>
          </a:p>
        </p:txBody>
      </p:sp>
      <p:sp>
        <p:nvSpPr>
          <p:cNvPr id="3" name="Espace réservé du contenu 2">
            <a:extLst>
              <a:ext uri="{FF2B5EF4-FFF2-40B4-BE49-F238E27FC236}">
                <a16:creationId xmlns:a16="http://schemas.microsoft.com/office/drawing/2014/main" id="{832D990A-B9DA-52C8-F082-CA5F49B8F8FA}"/>
              </a:ext>
            </a:extLst>
          </p:cNvPr>
          <p:cNvSpPr>
            <a:spLocks noGrp="1"/>
          </p:cNvSpPr>
          <p:nvPr>
            <p:ph idx="1"/>
          </p:nvPr>
        </p:nvSpPr>
        <p:spPr>
          <a:xfrm>
            <a:off x="1806493" y="2729261"/>
            <a:ext cx="9701565" cy="3203188"/>
          </a:xfrm>
        </p:spPr>
        <p:txBody>
          <a:bodyPr>
            <a:normAutofit lnSpcReduction="10000"/>
          </a:bodyPr>
          <a:lstStyle/>
          <a:p>
            <a:pPr marL="0" indent="0" algn="ctr">
              <a:buNone/>
            </a:pPr>
            <a:r>
              <a:rPr lang="fr-FR" sz="11500" dirty="0"/>
              <a:t>Domaines de virtualisation</a:t>
            </a:r>
            <a:endParaRPr lang="fr-MA" sz="11500" dirty="0"/>
          </a:p>
        </p:txBody>
      </p:sp>
    </p:spTree>
    <p:extLst>
      <p:ext uri="{BB962C8B-B14F-4D97-AF65-F5344CB8AC3E}">
        <p14:creationId xmlns:p14="http://schemas.microsoft.com/office/powerpoint/2010/main" val="3911464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BC01F0-8437-ECD5-A7E6-DBD6467C85D2}"/>
              </a:ext>
            </a:extLst>
          </p:cNvPr>
          <p:cNvSpPr>
            <a:spLocks noGrp="1"/>
          </p:cNvSpPr>
          <p:nvPr>
            <p:ph type="title"/>
          </p:nvPr>
        </p:nvSpPr>
        <p:spPr/>
        <p:txBody>
          <a:bodyPr/>
          <a:lstStyle/>
          <a:p>
            <a:r>
              <a:rPr lang="fr-FR" dirty="0"/>
              <a:t>Domaines de virtualisation</a:t>
            </a:r>
            <a:endParaRPr lang="fr-MA" dirty="0"/>
          </a:p>
        </p:txBody>
      </p:sp>
      <p:sp>
        <p:nvSpPr>
          <p:cNvPr id="3" name="Espace réservé du contenu 2">
            <a:extLst>
              <a:ext uri="{FF2B5EF4-FFF2-40B4-BE49-F238E27FC236}">
                <a16:creationId xmlns:a16="http://schemas.microsoft.com/office/drawing/2014/main" id="{EE9A551C-8A82-A5A9-6BFD-0E45CBB65669}"/>
              </a:ext>
            </a:extLst>
          </p:cNvPr>
          <p:cNvSpPr>
            <a:spLocks noGrp="1"/>
          </p:cNvSpPr>
          <p:nvPr>
            <p:ph idx="1"/>
          </p:nvPr>
        </p:nvSpPr>
        <p:spPr/>
        <p:txBody>
          <a:bodyPr/>
          <a:lstStyle/>
          <a:p>
            <a:r>
              <a:rPr lang="fr-FR" dirty="0"/>
              <a:t>Virtualisation des Applications</a:t>
            </a:r>
          </a:p>
          <a:p>
            <a:r>
              <a:rPr lang="fr-FR" dirty="0"/>
              <a:t>Virtualisation des Machines</a:t>
            </a:r>
          </a:p>
          <a:p>
            <a:r>
              <a:rPr lang="fr-MA" dirty="0"/>
              <a:t>Virtualisation des Serveurs</a:t>
            </a:r>
          </a:p>
          <a:p>
            <a:r>
              <a:rPr lang="fr-MA" dirty="0"/>
              <a:t>Virtualisation du Stockage</a:t>
            </a:r>
          </a:p>
          <a:p>
            <a:r>
              <a:rPr lang="fr-MA" dirty="0"/>
              <a:t>Virtualisation des Réseaux</a:t>
            </a:r>
          </a:p>
        </p:txBody>
      </p:sp>
    </p:spTree>
    <p:extLst>
      <p:ext uri="{BB962C8B-B14F-4D97-AF65-F5344CB8AC3E}">
        <p14:creationId xmlns:p14="http://schemas.microsoft.com/office/powerpoint/2010/main" val="545483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00FCD0-C730-779C-F13A-D24521E27EFD}"/>
              </a:ext>
            </a:extLst>
          </p:cNvPr>
          <p:cNvSpPr>
            <a:spLocks noGrp="1"/>
          </p:cNvSpPr>
          <p:nvPr>
            <p:ph type="title"/>
          </p:nvPr>
        </p:nvSpPr>
        <p:spPr/>
        <p:txBody>
          <a:bodyPr/>
          <a:lstStyle/>
          <a:p>
            <a:r>
              <a:rPr lang="fr-FR" dirty="0"/>
              <a:t>Virtualisation des Applications </a:t>
            </a:r>
            <a:r>
              <a:rPr lang="fr-FR" dirty="0">
                <a:solidFill>
                  <a:schemeClr val="accent2">
                    <a:lumMod val="75000"/>
                  </a:schemeClr>
                </a:solidFill>
              </a:rPr>
              <a:t>- Aperçu</a:t>
            </a:r>
            <a:endParaRPr lang="fr-MA" dirty="0">
              <a:solidFill>
                <a:schemeClr val="accent2">
                  <a:lumMod val="75000"/>
                </a:schemeClr>
              </a:solidFill>
            </a:endParaRPr>
          </a:p>
        </p:txBody>
      </p:sp>
      <p:pic>
        <p:nvPicPr>
          <p:cNvPr id="5" name="Espace réservé du contenu 4">
            <a:extLst>
              <a:ext uri="{FF2B5EF4-FFF2-40B4-BE49-F238E27FC236}">
                <a16:creationId xmlns:a16="http://schemas.microsoft.com/office/drawing/2014/main" id="{BADB6C45-E50F-D574-0DF5-2F8C5293DE1B}"/>
              </a:ext>
            </a:extLst>
          </p:cNvPr>
          <p:cNvPicPr>
            <a:picLocks noGrp="1" noChangeAspect="1"/>
          </p:cNvPicPr>
          <p:nvPr>
            <p:ph idx="1"/>
          </p:nvPr>
        </p:nvPicPr>
        <p:blipFill>
          <a:blip r:embed="rId2"/>
          <a:stretch>
            <a:fillRect/>
          </a:stretch>
        </p:blipFill>
        <p:spPr>
          <a:xfrm>
            <a:off x="2422264" y="1743538"/>
            <a:ext cx="7499871" cy="4865542"/>
          </a:xfrm>
        </p:spPr>
      </p:pic>
    </p:spTree>
    <p:extLst>
      <p:ext uri="{BB962C8B-B14F-4D97-AF65-F5344CB8AC3E}">
        <p14:creationId xmlns:p14="http://schemas.microsoft.com/office/powerpoint/2010/main" val="938404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8B651-B840-E103-7E03-92A6B554A8D5}"/>
              </a:ext>
            </a:extLst>
          </p:cNvPr>
          <p:cNvSpPr>
            <a:spLocks noGrp="1"/>
          </p:cNvSpPr>
          <p:nvPr>
            <p:ph type="title"/>
          </p:nvPr>
        </p:nvSpPr>
        <p:spPr/>
        <p:txBody>
          <a:bodyPr/>
          <a:lstStyle/>
          <a:p>
            <a:r>
              <a:rPr lang="fr-FR" dirty="0"/>
              <a:t>Virtualisation des Applications </a:t>
            </a:r>
            <a:r>
              <a:rPr lang="fr-FR" dirty="0">
                <a:solidFill>
                  <a:schemeClr val="accent2">
                    <a:lumMod val="75000"/>
                  </a:schemeClr>
                </a:solidFill>
              </a:rPr>
              <a:t>- Types</a:t>
            </a:r>
            <a:endParaRPr lang="fr-MA" dirty="0"/>
          </a:p>
        </p:txBody>
      </p:sp>
      <p:sp>
        <p:nvSpPr>
          <p:cNvPr id="3" name="Espace réservé du contenu 2">
            <a:extLst>
              <a:ext uri="{FF2B5EF4-FFF2-40B4-BE49-F238E27FC236}">
                <a16:creationId xmlns:a16="http://schemas.microsoft.com/office/drawing/2014/main" id="{59278EDB-CC45-E9F2-736C-6AA224F2C2DC}"/>
              </a:ext>
            </a:extLst>
          </p:cNvPr>
          <p:cNvSpPr>
            <a:spLocks noGrp="1"/>
          </p:cNvSpPr>
          <p:nvPr>
            <p:ph idx="1"/>
          </p:nvPr>
        </p:nvSpPr>
        <p:spPr/>
        <p:txBody>
          <a:bodyPr/>
          <a:lstStyle/>
          <a:p>
            <a:r>
              <a:rPr lang="fr-FR" dirty="0"/>
              <a:t>Conteneurs (Isolation)</a:t>
            </a:r>
          </a:p>
          <a:p>
            <a:r>
              <a:rPr lang="fr-FR" dirty="0"/>
              <a:t>Streaming d’application (Distribution)</a:t>
            </a:r>
          </a:p>
          <a:p>
            <a:r>
              <a:rPr lang="fr-FR" dirty="0"/>
              <a:t>Virtualisation d’Applications Autonomes (Isolation)</a:t>
            </a:r>
          </a:p>
          <a:p>
            <a:endParaRPr lang="fr-MA" dirty="0"/>
          </a:p>
        </p:txBody>
      </p:sp>
    </p:spTree>
    <p:extLst>
      <p:ext uri="{BB962C8B-B14F-4D97-AF65-F5344CB8AC3E}">
        <p14:creationId xmlns:p14="http://schemas.microsoft.com/office/powerpoint/2010/main" val="2714489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BF947C-441E-6018-9269-9EE1D8F74991}"/>
              </a:ext>
            </a:extLst>
          </p:cNvPr>
          <p:cNvSpPr>
            <a:spLocks noGrp="1"/>
          </p:cNvSpPr>
          <p:nvPr>
            <p:ph type="title"/>
          </p:nvPr>
        </p:nvSpPr>
        <p:spPr>
          <a:xfrm>
            <a:off x="1371600" y="685799"/>
            <a:ext cx="9601200" cy="1901283"/>
          </a:xfrm>
        </p:spPr>
        <p:txBody>
          <a:bodyPr/>
          <a:lstStyle/>
          <a:p>
            <a:r>
              <a:rPr lang="fr-FR" dirty="0"/>
              <a:t>Virtualisation des Applications </a:t>
            </a:r>
            <a:r>
              <a:rPr lang="fr-FR" dirty="0">
                <a:solidFill>
                  <a:schemeClr val="accent2">
                    <a:lumMod val="75000"/>
                  </a:schemeClr>
                </a:solidFill>
              </a:rPr>
              <a:t>– Types</a:t>
            </a:r>
            <a:br>
              <a:rPr lang="fr-FR" dirty="0">
                <a:solidFill>
                  <a:schemeClr val="accent2">
                    <a:lumMod val="75000"/>
                  </a:schemeClr>
                </a:solidFill>
              </a:rPr>
            </a:br>
            <a:br>
              <a:rPr lang="fr-FR" dirty="0">
                <a:solidFill>
                  <a:schemeClr val="accent2">
                    <a:lumMod val="75000"/>
                  </a:schemeClr>
                </a:solidFill>
              </a:rPr>
            </a:br>
            <a:r>
              <a:rPr lang="fr-FR" dirty="0">
                <a:solidFill>
                  <a:schemeClr val="accent2">
                    <a:lumMod val="75000"/>
                  </a:schemeClr>
                </a:solidFill>
              </a:rPr>
              <a:t>- </a:t>
            </a:r>
            <a:r>
              <a:rPr lang="fr-FR" sz="3200" dirty="0">
                <a:solidFill>
                  <a:schemeClr val="accent2">
                    <a:lumMod val="75000"/>
                  </a:schemeClr>
                </a:solidFill>
              </a:rPr>
              <a:t>Conteneurs (Docker, Linux)</a:t>
            </a:r>
            <a:endParaRPr lang="fr-MA" dirty="0"/>
          </a:p>
        </p:txBody>
      </p:sp>
      <p:pic>
        <p:nvPicPr>
          <p:cNvPr id="4098" name="Picture 2" descr="App virtualization docker 1">
            <a:extLst>
              <a:ext uri="{FF2B5EF4-FFF2-40B4-BE49-F238E27FC236}">
                <a16:creationId xmlns:a16="http://schemas.microsoft.com/office/drawing/2014/main" id="{7B8AFE82-FE5B-BDF1-B669-EA7058FD74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0671" y="2893330"/>
            <a:ext cx="8452627" cy="3871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9337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BF947C-441E-6018-9269-9EE1D8F74991}"/>
              </a:ext>
            </a:extLst>
          </p:cNvPr>
          <p:cNvSpPr>
            <a:spLocks noGrp="1"/>
          </p:cNvSpPr>
          <p:nvPr>
            <p:ph type="title"/>
          </p:nvPr>
        </p:nvSpPr>
        <p:spPr>
          <a:xfrm>
            <a:off x="1371600" y="685799"/>
            <a:ext cx="9601200" cy="1901283"/>
          </a:xfrm>
        </p:spPr>
        <p:txBody>
          <a:bodyPr/>
          <a:lstStyle/>
          <a:p>
            <a:r>
              <a:rPr lang="fr-FR" dirty="0"/>
              <a:t>Virtualisation des Applications </a:t>
            </a:r>
            <a:r>
              <a:rPr lang="fr-FR" dirty="0">
                <a:solidFill>
                  <a:schemeClr val="accent2">
                    <a:lumMod val="75000"/>
                  </a:schemeClr>
                </a:solidFill>
              </a:rPr>
              <a:t>– Types</a:t>
            </a:r>
            <a:br>
              <a:rPr lang="fr-FR" dirty="0">
                <a:solidFill>
                  <a:schemeClr val="accent2">
                    <a:lumMod val="75000"/>
                  </a:schemeClr>
                </a:solidFill>
              </a:rPr>
            </a:br>
            <a:br>
              <a:rPr lang="fr-FR" dirty="0">
                <a:solidFill>
                  <a:schemeClr val="accent2">
                    <a:lumMod val="75000"/>
                  </a:schemeClr>
                </a:solidFill>
              </a:rPr>
            </a:br>
            <a:r>
              <a:rPr lang="fr-FR" sz="3200" dirty="0">
                <a:solidFill>
                  <a:schemeClr val="accent2">
                    <a:lumMod val="75000"/>
                  </a:schemeClr>
                </a:solidFill>
              </a:rPr>
              <a:t>- Client / serveur (Streaming / Pixel)</a:t>
            </a:r>
            <a:endParaRPr lang="fr-MA" dirty="0"/>
          </a:p>
        </p:txBody>
      </p:sp>
      <p:pic>
        <p:nvPicPr>
          <p:cNvPr id="5124" name="Picture 4" descr="Application Virtualization | Benefits of application virtualization">
            <a:extLst>
              <a:ext uri="{FF2B5EF4-FFF2-40B4-BE49-F238E27FC236}">
                <a16:creationId xmlns:a16="http://schemas.microsoft.com/office/drawing/2014/main" id="{57D7A55E-5610-237D-1958-9597BC6D1A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274" y="3040219"/>
            <a:ext cx="6823722" cy="31319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Desktop virtualization and VDI solutions - Windows VDI desktop  virtualization | Systancia">
            <a:extLst>
              <a:ext uri="{FF2B5EF4-FFF2-40B4-BE49-F238E27FC236}">
                <a16:creationId xmlns:a16="http://schemas.microsoft.com/office/drawing/2014/main" id="{418AA942-1305-3043-7012-E3C9C0B45A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1837" y="3956475"/>
            <a:ext cx="4350163" cy="2901525"/>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4AA2BA6C-0134-2869-7230-D279B22FE361}"/>
              </a:ext>
            </a:extLst>
          </p:cNvPr>
          <p:cNvSpPr txBox="1"/>
          <p:nvPr/>
        </p:nvSpPr>
        <p:spPr>
          <a:xfrm>
            <a:off x="1415736" y="6375401"/>
            <a:ext cx="6096000" cy="369332"/>
          </a:xfrm>
          <a:prstGeom prst="rect">
            <a:avLst/>
          </a:prstGeom>
          <a:noFill/>
        </p:spPr>
        <p:txBody>
          <a:bodyPr wrap="square">
            <a:spAutoFit/>
          </a:bodyPr>
          <a:lstStyle/>
          <a:p>
            <a:r>
              <a:rPr lang="fr-FR" b="1" dirty="0"/>
              <a:t>Outils </a:t>
            </a:r>
            <a:r>
              <a:rPr lang="fr-FR" dirty="0"/>
              <a:t>: VMWare </a:t>
            </a:r>
            <a:r>
              <a:rPr lang="fr-FR" dirty="0" err="1"/>
              <a:t>ThinApp</a:t>
            </a:r>
            <a:r>
              <a:rPr lang="fr-FR" dirty="0"/>
              <a:t>, Citrix </a:t>
            </a:r>
            <a:r>
              <a:rPr lang="fr-FR" dirty="0" err="1"/>
              <a:t>XenApp</a:t>
            </a:r>
            <a:r>
              <a:rPr lang="fr-FR" dirty="0"/>
              <a:t>, Microsoft App-V</a:t>
            </a:r>
          </a:p>
        </p:txBody>
      </p:sp>
    </p:spTree>
    <p:extLst>
      <p:ext uri="{BB962C8B-B14F-4D97-AF65-F5344CB8AC3E}">
        <p14:creationId xmlns:p14="http://schemas.microsoft.com/office/powerpoint/2010/main" val="1685900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BF947C-441E-6018-9269-9EE1D8F74991}"/>
              </a:ext>
            </a:extLst>
          </p:cNvPr>
          <p:cNvSpPr>
            <a:spLocks noGrp="1"/>
          </p:cNvSpPr>
          <p:nvPr>
            <p:ph type="title"/>
          </p:nvPr>
        </p:nvSpPr>
        <p:spPr>
          <a:xfrm>
            <a:off x="1371600" y="685799"/>
            <a:ext cx="9601200" cy="1901283"/>
          </a:xfrm>
        </p:spPr>
        <p:txBody>
          <a:bodyPr/>
          <a:lstStyle/>
          <a:p>
            <a:r>
              <a:rPr lang="fr-FR" dirty="0"/>
              <a:t>Virtualisation des Applications </a:t>
            </a:r>
            <a:r>
              <a:rPr lang="fr-FR" dirty="0">
                <a:solidFill>
                  <a:schemeClr val="accent2">
                    <a:lumMod val="75000"/>
                  </a:schemeClr>
                </a:solidFill>
              </a:rPr>
              <a:t>– Types</a:t>
            </a:r>
            <a:br>
              <a:rPr lang="fr-FR" dirty="0">
                <a:solidFill>
                  <a:schemeClr val="accent2">
                    <a:lumMod val="75000"/>
                  </a:schemeClr>
                </a:solidFill>
              </a:rPr>
            </a:br>
            <a:br>
              <a:rPr lang="fr-FR" dirty="0">
                <a:solidFill>
                  <a:schemeClr val="accent2">
                    <a:lumMod val="75000"/>
                  </a:schemeClr>
                </a:solidFill>
              </a:rPr>
            </a:br>
            <a:r>
              <a:rPr lang="fr-FR" sz="3200" dirty="0">
                <a:solidFill>
                  <a:schemeClr val="accent2">
                    <a:lumMod val="75000"/>
                  </a:schemeClr>
                </a:solidFill>
              </a:rPr>
              <a:t>- Virtualisation d’Applications Autonomes</a:t>
            </a:r>
            <a:endParaRPr lang="fr-MA" dirty="0"/>
          </a:p>
        </p:txBody>
      </p:sp>
      <p:sp>
        <p:nvSpPr>
          <p:cNvPr id="7" name="AutoShape 6" descr="BoxedApp Packer скачать на Windows бесплатно">
            <a:extLst>
              <a:ext uri="{FF2B5EF4-FFF2-40B4-BE49-F238E27FC236}">
                <a16:creationId xmlns:a16="http://schemas.microsoft.com/office/drawing/2014/main" id="{7221B0FF-6DA0-176D-4B8E-2CCE5C648988}"/>
              </a:ext>
            </a:extLst>
          </p:cNvPr>
          <p:cNvSpPr>
            <a:spLocks noChangeAspect="1" noChangeArrowheads="1"/>
          </p:cNvSpPr>
          <p:nvPr/>
        </p:nvSpPr>
        <p:spPr bwMode="auto">
          <a:xfrm>
            <a:off x="5943600" y="213732"/>
            <a:ext cx="3367668" cy="336766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MA"/>
          </a:p>
        </p:txBody>
      </p:sp>
      <p:pic>
        <p:nvPicPr>
          <p:cNvPr id="9" name="Image 8">
            <a:extLst>
              <a:ext uri="{FF2B5EF4-FFF2-40B4-BE49-F238E27FC236}">
                <a16:creationId xmlns:a16="http://schemas.microsoft.com/office/drawing/2014/main" id="{DC013BB6-FE61-8230-471B-FD7CE709288C}"/>
              </a:ext>
            </a:extLst>
          </p:cNvPr>
          <p:cNvPicPr>
            <a:picLocks noChangeAspect="1"/>
          </p:cNvPicPr>
          <p:nvPr/>
        </p:nvPicPr>
        <p:blipFill>
          <a:blip r:embed="rId2"/>
          <a:stretch>
            <a:fillRect/>
          </a:stretch>
        </p:blipFill>
        <p:spPr>
          <a:xfrm>
            <a:off x="9594926" y="2755287"/>
            <a:ext cx="2450948" cy="2889107"/>
          </a:xfrm>
          <a:prstGeom prst="rect">
            <a:avLst/>
          </a:prstGeom>
        </p:spPr>
      </p:pic>
      <p:sp>
        <p:nvSpPr>
          <p:cNvPr id="10" name="Espace réservé du contenu 2">
            <a:extLst>
              <a:ext uri="{FF2B5EF4-FFF2-40B4-BE49-F238E27FC236}">
                <a16:creationId xmlns:a16="http://schemas.microsoft.com/office/drawing/2014/main" id="{6D4AFFDA-9EAC-74CC-718F-46890C3688F7}"/>
              </a:ext>
            </a:extLst>
          </p:cNvPr>
          <p:cNvSpPr>
            <a:spLocks noGrp="1"/>
          </p:cNvSpPr>
          <p:nvPr>
            <p:ph idx="1"/>
          </p:nvPr>
        </p:nvSpPr>
        <p:spPr>
          <a:xfrm>
            <a:off x="1371600" y="2936027"/>
            <a:ext cx="8474927" cy="3581400"/>
          </a:xfrm>
        </p:spPr>
        <p:txBody>
          <a:bodyPr>
            <a:normAutofit/>
          </a:bodyPr>
          <a:lstStyle/>
          <a:p>
            <a:r>
              <a:rPr lang="fr-FR" sz="2100" dirty="0"/>
              <a:t>Création d'un environnement virtuel isolé dans lequel une application peut s'exécuter sans interférer avec le système d'exploitation sous-jacent ni nécessiter une installation traditionnelle.</a:t>
            </a:r>
          </a:p>
          <a:p>
            <a:r>
              <a:rPr lang="fr-FR" sz="2100" dirty="0"/>
              <a:t>Permet aux applications d'être portables.</a:t>
            </a:r>
          </a:p>
          <a:p>
            <a:r>
              <a:rPr lang="fr-FR" sz="2100" dirty="0"/>
              <a:t>Souvent utilisée pour simplifier le déploiement d'applications dans des environnements d'entreprise.</a:t>
            </a:r>
            <a:endParaRPr lang="fr-MA" dirty="0"/>
          </a:p>
          <a:p>
            <a:endParaRPr lang="fr-FR" dirty="0"/>
          </a:p>
          <a:p>
            <a:endParaRPr lang="fr-MA" dirty="0"/>
          </a:p>
        </p:txBody>
      </p:sp>
      <p:sp>
        <p:nvSpPr>
          <p:cNvPr id="4" name="ZoneTexte 3">
            <a:extLst>
              <a:ext uri="{FF2B5EF4-FFF2-40B4-BE49-F238E27FC236}">
                <a16:creationId xmlns:a16="http://schemas.microsoft.com/office/drawing/2014/main" id="{D08384D1-9ED9-0BED-C48D-9BB1546C3982}"/>
              </a:ext>
            </a:extLst>
          </p:cNvPr>
          <p:cNvSpPr txBox="1"/>
          <p:nvPr/>
        </p:nvSpPr>
        <p:spPr>
          <a:xfrm>
            <a:off x="1531434" y="5849035"/>
            <a:ext cx="6992806" cy="369332"/>
          </a:xfrm>
          <a:prstGeom prst="rect">
            <a:avLst/>
          </a:prstGeom>
          <a:noFill/>
        </p:spPr>
        <p:txBody>
          <a:bodyPr wrap="square">
            <a:spAutoFit/>
          </a:bodyPr>
          <a:lstStyle/>
          <a:p>
            <a:r>
              <a:rPr lang="fr-FR" b="1" dirty="0"/>
              <a:t>Outils </a:t>
            </a:r>
            <a:r>
              <a:rPr lang="fr-FR" dirty="0"/>
              <a:t>: </a:t>
            </a:r>
            <a:r>
              <a:rPr lang="fr-FR" dirty="0" err="1"/>
              <a:t>BoxedApp</a:t>
            </a:r>
            <a:r>
              <a:rPr lang="fr-FR" dirty="0"/>
              <a:t> Packer, Turbo Studio, </a:t>
            </a:r>
            <a:r>
              <a:rPr lang="fr-FR" dirty="0" err="1"/>
              <a:t>Cameyo</a:t>
            </a:r>
            <a:endParaRPr lang="fr-MA" dirty="0"/>
          </a:p>
        </p:txBody>
      </p:sp>
    </p:spTree>
    <p:extLst>
      <p:ext uri="{BB962C8B-B14F-4D97-AF65-F5344CB8AC3E}">
        <p14:creationId xmlns:p14="http://schemas.microsoft.com/office/powerpoint/2010/main" val="1034710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8B651-B840-E103-7E03-92A6B554A8D5}"/>
              </a:ext>
            </a:extLst>
          </p:cNvPr>
          <p:cNvSpPr>
            <a:spLocks noGrp="1"/>
          </p:cNvSpPr>
          <p:nvPr>
            <p:ph type="title"/>
          </p:nvPr>
        </p:nvSpPr>
        <p:spPr/>
        <p:txBody>
          <a:bodyPr/>
          <a:lstStyle/>
          <a:p>
            <a:r>
              <a:rPr lang="fr-FR" dirty="0"/>
              <a:t>Virtualisation des Applications </a:t>
            </a:r>
            <a:r>
              <a:rPr lang="fr-FR" dirty="0">
                <a:solidFill>
                  <a:schemeClr val="accent2">
                    <a:lumMod val="75000"/>
                  </a:schemeClr>
                </a:solidFill>
              </a:rPr>
              <a:t>- Outils</a:t>
            </a:r>
            <a:endParaRPr lang="fr-MA" dirty="0"/>
          </a:p>
        </p:txBody>
      </p:sp>
      <p:sp>
        <p:nvSpPr>
          <p:cNvPr id="3" name="Espace réservé du contenu 2">
            <a:extLst>
              <a:ext uri="{FF2B5EF4-FFF2-40B4-BE49-F238E27FC236}">
                <a16:creationId xmlns:a16="http://schemas.microsoft.com/office/drawing/2014/main" id="{59278EDB-CC45-E9F2-736C-6AA224F2C2DC}"/>
              </a:ext>
            </a:extLst>
          </p:cNvPr>
          <p:cNvSpPr>
            <a:spLocks noGrp="1"/>
          </p:cNvSpPr>
          <p:nvPr>
            <p:ph idx="1"/>
          </p:nvPr>
        </p:nvSpPr>
        <p:spPr>
          <a:xfrm>
            <a:off x="1449659" y="2698595"/>
            <a:ext cx="9601200" cy="3581400"/>
          </a:xfrm>
        </p:spPr>
        <p:txBody>
          <a:bodyPr/>
          <a:lstStyle/>
          <a:p>
            <a:r>
              <a:rPr lang="fr-FR" b="1" dirty="0"/>
              <a:t>Conteneurisation</a:t>
            </a:r>
            <a:r>
              <a:rPr lang="fr-FR" dirty="0"/>
              <a:t> : Docker, </a:t>
            </a:r>
            <a:r>
              <a:rPr lang="fr-MA" dirty="0" err="1"/>
              <a:t>Kubernetes</a:t>
            </a:r>
            <a:r>
              <a:rPr lang="fr-MA" dirty="0"/>
              <a:t>, </a:t>
            </a:r>
            <a:r>
              <a:rPr lang="fr-MA" dirty="0" err="1"/>
              <a:t>OpenShift</a:t>
            </a:r>
            <a:r>
              <a:rPr lang="fr-MA" dirty="0"/>
              <a:t> </a:t>
            </a:r>
            <a:endParaRPr lang="fr-FR" dirty="0"/>
          </a:p>
          <a:p>
            <a:r>
              <a:rPr lang="fr-FR" b="1" dirty="0" err="1"/>
              <a:t>Client/Serveur</a:t>
            </a:r>
            <a:r>
              <a:rPr lang="fr-FR" b="1" dirty="0"/>
              <a:t> </a:t>
            </a:r>
            <a:r>
              <a:rPr lang="fr-FR" dirty="0"/>
              <a:t>: VMWare </a:t>
            </a:r>
            <a:r>
              <a:rPr lang="fr-FR" dirty="0" err="1"/>
              <a:t>ThinApp</a:t>
            </a:r>
            <a:r>
              <a:rPr lang="fr-FR" dirty="0"/>
              <a:t>, Citrix </a:t>
            </a:r>
            <a:r>
              <a:rPr lang="fr-FR" dirty="0" err="1"/>
              <a:t>XenApp</a:t>
            </a:r>
            <a:r>
              <a:rPr lang="fr-FR" dirty="0"/>
              <a:t>, Microsoft App-V</a:t>
            </a:r>
          </a:p>
          <a:p>
            <a:r>
              <a:rPr lang="fr-FR" b="1" dirty="0"/>
              <a:t>Applications Autonomes </a:t>
            </a:r>
            <a:r>
              <a:rPr lang="fr-FR" dirty="0"/>
              <a:t>: </a:t>
            </a:r>
            <a:r>
              <a:rPr lang="fr-FR" dirty="0" err="1"/>
              <a:t>BoxedApp</a:t>
            </a:r>
            <a:r>
              <a:rPr lang="fr-FR" dirty="0"/>
              <a:t> Packer, Turbo Studio, </a:t>
            </a:r>
            <a:r>
              <a:rPr lang="fr-FR" dirty="0" err="1"/>
              <a:t>Cameyo</a:t>
            </a:r>
            <a:endParaRPr lang="fr-MA" dirty="0"/>
          </a:p>
          <a:p>
            <a:endParaRPr lang="fr-FR" dirty="0"/>
          </a:p>
          <a:p>
            <a:endParaRPr lang="fr-MA" dirty="0"/>
          </a:p>
        </p:txBody>
      </p:sp>
    </p:spTree>
    <p:extLst>
      <p:ext uri="{BB962C8B-B14F-4D97-AF65-F5344CB8AC3E}">
        <p14:creationId xmlns:p14="http://schemas.microsoft.com/office/powerpoint/2010/main" val="37515811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6312CC-35FC-A7E8-04E6-0F9CB70B4FFA}"/>
              </a:ext>
            </a:extLst>
          </p:cNvPr>
          <p:cNvSpPr>
            <a:spLocks noGrp="1"/>
          </p:cNvSpPr>
          <p:nvPr>
            <p:ph type="title"/>
          </p:nvPr>
        </p:nvSpPr>
        <p:spPr>
          <a:xfrm>
            <a:off x="1371600" y="685800"/>
            <a:ext cx="10820400" cy="1485900"/>
          </a:xfrm>
        </p:spPr>
        <p:txBody>
          <a:bodyPr>
            <a:normAutofit/>
          </a:bodyPr>
          <a:lstStyle/>
          <a:p>
            <a:r>
              <a:rPr lang="fr-FR" dirty="0"/>
              <a:t>Virtualisation des Applications </a:t>
            </a:r>
            <a:r>
              <a:rPr lang="fr-FR" dirty="0">
                <a:solidFill>
                  <a:schemeClr val="accent2">
                    <a:lumMod val="75000"/>
                  </a:schemeClr>
                </a:solidFill>
              </a:rPr>
              <a:t>– Pros</a:t>
            </a:r>
            <a:endParaRPr lang="fr-MA" dirty="0"/>
          </a:p>
        </p:txBody>
      </p:sp>
      <p:sp>
        <p:nvSpPr>
          <p:cNvPr id="4" name="Rectangle 5">
            <a:extLst>
              <a:ext uri="{FF2B5EF4-FFF2-40B4-BE49-F238E27FC236}">
                <a16:creationId xmlns:a16="http://schemas.microsoft.com/office/drawing/2014/main" id="{91D46E77-941F-B779-C1FF-D959FB217380}"/>
              </a:ext>
            </a:extLst>
          </p:cNvPr>
          <p:cNvSpPr>
            <a:spLocks noGrp="1" noChangeArrowheads="1"/>
          </p:cNvSpPr>
          <p:nvPr>
            <p:ph idx="1"/>
          </p:nvPr>
        </p:nvSpPr>
        <p:spPr bwMode="auto">
          <a:xfrm>
            <a:off x="1371600" y="1660398"/>
            <a:ext cx="9960015" cy="483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fr-FR" altLang="fr-FR" sz="1800" b="0" i="0" u="none" strike="noStrike" cap="none" normalizeH="0" baseline="0" dirty="0">
              <a:ln>
                <a:noFill/>
              </a:ln>
              <a:solidFill>
                <a:srgbClr val="000000"/>
              </a:solidFill>
              <a:effectLst/>
              <a:latin typeface="Söhne"/>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rgbClr val="000000"/>
                </a:solidFill>
                <a:effectLst/>
                <a:latin typeface="Söhne"/>
              </a:rPr>
              <a:t>Portabilité</a:t>
            </a:r>
            <a:r>
              <a:rPr kumimoji="0" lang="fr-FR" altLang="fr-FR" sz="1800" b="0" i="0" u="none" strike="noStrike" cap="none" normalizeH="0" baseline="0" dirty="0">
                <a:ln>
                  <a:noFill/>
                </a:ln>
                <a:solidFill>
                  <a:srgbClr val="000000"/>
                </a:solidFill>
                <a:effectLst/>
                <a:latin typeface="Söhne"/>
              </a:rPr>
              <a:t> : Les apps sont encapsulées dans des packages autonomes </a:t>
            </a:r>
            <a:r>
              <a:rPr kumimoji="0" lang="fr-FR" altLang="fr-FR" sz="1800" b="0" i="0" u="none" strike="noStrike" cap="none" normalizeH="0" baseline="0" dirty="0">
                <a:ln>
                  <a:noFill/>
                </a:ln>
                <a:solidFill>
                  <a:srgbClr val="000000"/>
                </a:solidFill>
                <a:effectLst/>
                <a:latin typeface="Söhne"/>
                <a:sym typeface="Wingdings" panose="05000000000000000000" pitchFamily="2" charset="2"/>
              </a:rPr>
              <a:t></a:t>
            </a:r>
            <a:r>
              <a:rPr kumimoji="0" lang="fr-FR" altLang="fr-FR" sz="1800" b="0" i="0" u="none" strike="noStrike" cap="none" normalizeH="0" baseline="0" dirty="0">
                <a:ln>
                  <a:noFill/>
                </a:ln>
                <a:solidFill>
                  <a:srgbClr val="000000"/>
                </a:solidFill>
                <a:effectLst/>
                <a:latin typeface="Söhne"/>
              </a:rPr>
              <a:t> faciles à déployer sur différents machines sans avoir à réinstaller ou à configurer l'application à chaque fois.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fr-FR" altLang="fr-FR" sz="1800" b="0" i="0" u="none" strike="noStrike" cap="none" normalizeH="0" baseline="0" dirty="0">
              <a:ln>
                <a:noFill/>
              </a:ln>
              <a:solidFill>
                <a:srgbClr val="000000"/>
              </a:solidFill>
              <a:effectLst/>
              <a:latin typeface="Söhne"/>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rgbClr val="000000"/>
                </a:solidFill>
                <a:effectLst/>
                <a:latin typeface="Söhne"/>
              </a:rPr>
              <a:t>Isolation</a:t>
            </a:r>
            <a:r>
              <a:rPr kumimoji="0" lang="fr-FR" altLang="fr-FR" sz="1800" b="0" i="0" u="none" strike="noStrike" cap="none" normalizeH="0" baseline="0" dirty="0">
                <a:ln>
                  <a:noFill/>
                </a:ln>
                <a:solidFill>
                  <a:srgbClr val="000000"/>
                </a:solidFill>
                <a:effectLst/>
                <a:latin typeface="Söhne"/>
              </a:rPr>
              <a:t> : L’app s'exécute dans un environnement isolé, ce qui réduit les conflits entre les applications et garantit que l'application fonctionne de manière stable.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fr-FR" altLang="fr-FR" sz="1800" b="0" i="0" u="none" strike="noStrike" cap="none" normalizeH="0" baseline="0" dirty="0">
              <a:ln>
                <a:noFill/>
              </a:ln>
              <a:solidFill>
                <a:srgbClr val="000000"/>
              </a:solidFill>
              <a:effectLst/>
              <a:latin typeface="Söhne"/>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rgbClr val="000000"/>
                </a:solidFill>
                <a:effectLst/>
                <a:latin typeface="Söhne"/>
              </a:rPr>
              <a:t>Facilité de Gestion</a:t>
            </a:r>
            <a:r>
              <a:rPr kumimoji="0" lang="fr-FR" altLang="fr-FR" sz="1800" b="0" i="0" u="none" strike="noStrike" cap="none" normalizeH="0" baseline="0" dirty="0">
                <a:ln>
                  <a:noFill/>
                </a:ln>
                <a:solidFill>
                  <a:srgbClr val="000000"/>
                </a:solidFill>
                <a:effectLst/>
                <a:latin typeface="Söhne"/>
              </a:rPr>
              <a:t> : La virtualisation simplifie la gestion des applications, car les mises à jour et les correctifs peuvent être appliqués de manière centralisée sur le serveur.</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fr-FR" altLang="fr-FR" sz="1800" b="0" i="0" u="none" strike="noStrike" cap="none" normalizeH="0" baseline="0" dirty="0">
              <a:ln>
                <a:noFill/>
              </a:ln>
              <a:solidFill>
                <a:srgbClr val="000000"/>
              </a:solidFill>
              <a:effectLst/>
              <a:latin typeface="Söhne"/>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rgbClr val="000000"/>
                </a:solidFill>
                <a:effectLst/>
                <a:latin typeface="Söhne"/>
              </a:rPr>
              <a:t>Compatibilité</a:t>
            </a:r>
            <a:r>
              <a:rPr kumimoji="0" lang="fr-FR" altLang="fr-FR" sz="1800" b="0" i="0" u="none" strike="noStrike" cap="none" normalizeH="0" baseline="0" dirty="0">
                <a:ln>
                  <a:noFill/>
                </a:ln>
                <a:solidFill>
                  <a:srgbClr val="000000"/>
                </a:solidFill>
                <a:effectLst/>
                <a:latin typeface="Söhne"/>
              </a:rPr>
              <a:t> : Les apps virtualisées peuvent être exécutées sur des systèmes d'exploitation différents, ce qui facilite la transition vers de nouveaux environnements sans avoir à reconfigurer l'application.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fr-FR" altLang="fr-FR" sz="1800" b="0" i="0" u="none" strike="noStrike" cap="none" normalizeH="0" baseline="0" dirty="0">
              <a:ln>
                <a:noFill/>
              </a:ln>
              <a:solidFill>
                <a:srgbClr val="000000"/>
              </a:solidFill>
              <a:effectLst/>
              <a:latin typeface="Söhne"/>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rgbClr val="000000"/>
                </a:solidFill>
                <a:effectLst/>
                <a:latin typeface="Söhne"/>
              </a:rPr>
              <a:t>Sécurité</a:t>
            </a:r>
            <a:r>
              <a:rPr kumimoji="0" lang="fr-FR" altLang="fr-FR" sz="1800" b="0" i="0" u="none" strike="noStrike" cap="none" normalizeH="0" baseline="0" dirty="0">
                <a:ln>
                  <a:noFill/>
                </a:ln>
                <a:solidFill>
                  <a:srgbClr val="000000"/>
                </a:solidFill>
                <a:effectLst/>
                <a:latin typeface="Söhne"/>
              </a:rPr>
              <a:t> : La virtualisation d'applications peut renforcer la sécurité, car les applications s'exécutent dans un environnement isolé et n'ont pas accès aux ressources système sensibles. Aussi, la gestion des droits peut se faire au niveau du serveur (pour la config </a:t>
            </a:r>
            <a:r>
              <a:rPr kumimoji="0" lang="fr-FR" altLang="fr-FR" sz="1800" b="0" i="0" u="none" strike="noStrike" cap="none" normalizeH="0" baseline="0" dirty="0" err="1">
                <a:ln>
                  <a:noFill/>
                </a:ln>
                <a:solidFill>
                  <a:srgbClr val="000000"/>
                </a:solidFill>
                <a:effectLst/>
                <a:latin typeface="Söhne"/>
              </a:rPr>
              <a:t>Client/Serveur</a:t>
            </a:r>
            <a:r>
              <a:rPr kumimoji="0" lang="fr-FR" altLang="fr-FR" sz="1800" b="0" i="0" u="none" strike="noStrike" cap="none" normalizeH="0" baseline="0" dirty="0">
                <a:ln>
                  <a:noFill/>
                </a:ln>
                <a:solidFill>
                  <a:srgbClr val="000000"/>
                </a:solidFill>
                <a:effectLst/>
                <a:latin typeface="Söhne"/>
              </a:rPr>
              <a:t>)</a:t>
            </a:r>
          </a:p>
        </p:txBody>
      </p:sp>
    </p:spTree>
    <p:extLst>
      <p:ext uri="{BB962C8B-B14F-4D97-AF65-F5344CB8AC3E}">
        <p14:creationId xmlns:p14="http://schemas.microsoft.com/office/powerpoint/2010/main" val="3322280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6312CC-35FC-A7E8-04E6-0F9CB70B4FFA}"/>
              </a:ext>
            </a:extLst>
          </p:cNvPr>
          <p:cNvSpPr>
            <a:spLocks noGrp="1"/>
          </p:cNvSpPr>
          <p:nvPr>
            <p:ph type="title"/>
          </p:nvPr>
        </p:nvSpPr>
        <p:spPr>
          <a:xfrm>
            <a:off x="1371600" y="685800"/>
            <a:ext cx="10820400" cy="1485900"/>
          </a:xfrm>
        </p:spPr>
        <p:txBody>
          <a:bodyPr>
            <a:normAutofit/>
          </a:bodyPr>
          <a:lstStyle/>
          <a:p>
            <a:r>
              <a:rPr lang="fr-FR" dirty="0"/>
              <a:t>Virtualisation des Applications </a:t>
            </a:r>
            <a:r>
              <a:rPr lang="fr-FR" dirty="0">
                <a:solidFill>
                  <a:schemeClr val="accent2">
                    <a:lumMod val="75000"/>
                  </a:schemeClr>
                </a:solidFill>
              </a:rPr>
              <a:t>–Cons</a:t>
            </a:r>
            <a:endParaRPr lang="fr-MA" dirty="0"/>
          </a:p>
        </p:txBody>
      </p:sp>
      <p:sp>
        <p:nvSpPr>
          <p:cNvPr id="4" name="Rectangle 5">
            <a:extLst>
              <a:ext uri="{FF2B5EF4-FFF2-40B4-BE49-F238E27FC236}">
                <a16:creationId xmlns:a16="http://schemas.microsoft.com/office/drawing/2014/main" id="{91D46E77-941F-B779-C1FF-D959FB217380}"/>
              </a:ext>
            </a:extLst>
          </p:cNvPr>
          <p:cNvSpPr>
            <a:spLocks noGrp="1" noChangeArrowheads="1"/>
          </p:cNvSpPr>
          <p:nvPr>
            <p:ph idx="1"/>
          </p:nvPr>
        </p:nvSpPr>
        <p:spPr bwMode="auto">
          <a:xfrm>
            <a:off x="1371600" y="1748394"/>
            <a:ext cx="9809544" cy="5109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rgbClr val="000000"/>
                </a:solidFill>
                <a:effectLst/>
                <a:latin typeface="Söhne"/>
              </a:rPr>
              <a:t>Performance</a:t>
            </a:r>
            <a:r>
              <a:rPr kumimoji="0" lang="fr-FR" altLang="fr-FR" sz="1800" b="0" i="0" u="none" strike="noStrike" cap="none" normalizeH="0" baseline="0" dirty="0">
                <a:ln>
                  <a:noFill/>
                </a:ln>
                <a:solidFill>
                  <a:srgbClr val="000000"/>
                </a:solidFill>
                <a:effectLst/>
                <a:latin typeface="Söhne"/>
              </a:rPr>
              <a:t> : L'isolation des applications peut entraîner une légère surcharge de performance, car elles s'exécutent dans un environnement virtuel. Aussi, en mode pixel, les applications chargées en composants graphique deviennent lourdes.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fr-FR" altLang="fr-FR" sz="1800" b="0" i="0" u="none" strike="noStrike" cap="none" normalizeH="0" baseline="0" dirty="0">
              <a:ln>
                <a:noFill/>
              </a:ln>
              <a:solidFill>
                <a:srgbClr val="000000"/>
              </a:solidFill>
              <a:effectLst/>
              <a:latin typeface="Söhne"/>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rgbClr val="000000"/>
                </a:solidFill>
                <a:effectLst/>
                <a:latin typeface="Söhne"/>
              </a:rPr>
              <a:t>Complexité</a:t>
            </a:r>
            <a:r>
              <a:rPr kumimoji="0" lang="fr-FR" altLang="fr-FR" sz="1800" b="0" i="0" u="none" strike="noStrike" cap="none" normalizeH="0" baseline="0" dirty="0">
                <a:ln>
                  <a:noFill/>
                </a:ln>
                <a:solidFill>
                  <a:srgbClr val="000000"/>
                </a:solidFill>
                <a:effectLst/>
                <a:latin typeface="Söhne"/>
              </a:rPr>
              <a:t> : La mise en place d'un système de virtualisation d'applications peut être complexe et nécessiter une configuration minutieuse.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fr-FR" altLang="fr-FR" sz="1800" b="0" i="0" u="none" strike="noStrike" cap="none" normalizeH="0" baseline="0" dirty="0">
              <a:ln>
                <a:noFill/>
              </a:ln>
              <a:solidFill>
                <a:srgbClr val="000000"/>
              </a:solidFill>
              <a:effectLst/>
              <a:latin typeface="Söhne"/>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rgbClr val="000000"/>
                </a:solidFill>
                <a:effectLst/>
                <a:latin typeface="Söhne"/>
              </a:rPr>
              <a:t>Taille des Packages</a:t>
            </a:r>
            <a:r>
              <a:rPr kumimoji="0" lang="fr-FR" altLang="fr-FR" sz="1800" b="0" i="0" u="none" strike="noStrike" cap="none" normalizeH="0" baseline="0" dirty="0">
                <a:ln>
                  <a:noFill/>
                </a:ln>
                <a:solidFill>
                  <a:srgbClr val="000000"/>
                </a:solidFill>
                <a:effectLst/>
                <a:latin typeface="Söhne"/>
              </a:rPr>
              <a:t> : Les packages d'application virtualisés peuvent être plus volumineux que les installations traditionnelles, car ils contiennent toutes les dépendances nécessaires.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fr-FR" altLang="fr-FR" sz="1800" b="0" i="0" u="none" strike="noStrike" cap="none" normalizeH="0" baseline="0" dirty="0">
              <a:ln>
                <a:noFill/>
              </a:ln>
              <a:solidFill>
                <a:srgbClr val="000000"/>
              </a:solidFill>
              <a:effectLst/>
              <a:latin typeface="Söhne"/>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rgbClr val="000000"/>
                </a:solidFill>
                <a:effectLst/>
                <a:latin typeface="Söhne"/>
              </a:rPr>
              <a:t>Compatibilité Limitée</a:t>
            </a:r>
            <a:r>
              <a:rPr kumimoji="0" lang="fr-FR" altLang="fr-FR" sz="1800" b="0" i="0" u="none" strike="noStrike" cap="none" normalizeH="0" baseline="0" dirty="0">
                <a:ln>
                  <a:noFill/>
                </a:ln>
                <a:solidFill>
                  <a:srgbClr val="000000"/>
                </a:solidFill>
                <a:effectLst/>
                <a:latin typeface="Söhne"/>
              </a:rPr>
              <a:t> : Certaines applications, en particulier celles nécessitant un accès direct aux ressources matérielles, peuvent ne pas être adaptées à la virtualisation.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fr-FR" altLang="fr-FR" sz="1800" b="0" i="0" u="none" strike="noStrike" cap="none" normalizeH="0" baseline="0" dirty="0">
              <a:ln>
                <a:noFill/>
              </a:ln>
              <a:solidFill>
                <a:srgbClr val="000000"/>
              </a:solidFill>
              <a:effectLst/>
              <a:latin typeface="Söhne"/>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fr-FR" altLang="fr-FR" sz="1800" b="1" i="0" u="none" strike="noStrike" cap="none" normalizeH="0" baseline="0" dirty="0">
                <a:ln>
                  <a:noFill/>
                </a:ln>
                <a:solidFill>
                  <a:srgbClr val="000000"/>
                </a:solidFill>
                <a:effectLst/>
                <a:latin typeface="Söhne"/>
              </a:rPr>
              <a:t>Coût</a:t>
            </a:r>
            <a:r>
              <a:rPr kumimoji="0" lang="fr-FR" altLang="fr-FR" sz="1800" b="0" i="0" u="none" strike="noStrike" cap="none" normalizeH="0" baseline="0" dirty="0">
                <a:ln>
                  <a:noFill/>
                </a:ln>
                <a:solidFill>
                  <a:srgbClr val="000000"/>
                </a:solidFill>
                <a:effectLst/>
                <a:latin typeface="Söhne"/>
              </a:rPr>
              <a:t> : La mise en place et la maintenance d'une infrastructure de virtualisation d'applications peuvent entraîner des coûts supplémentaires en termes de matériel et de licences.</a:t>
            </a:r>
          </a:p>
          <a:p>
            <a:pPr marL="0" marR="0" lvl="0" indent="0" algn="l" defTabSz="914400" rtl="0" eaLnBrk="0" fontAlgn="base" latinLnBrk="0" hangingPunct="0">
              <a:lnSpc>
                <a:spcPct val="100000"/>
              </a:lnSpc>
              <a:spcBef>
                <a:spcPct val="0"/>
              </a:spcBef>
              <a:spcAft>
                <a:spcPct val="0"/>
              </a:spcAft>
              <a:buClrTx/>
              <a:buSzTx/>
              <a:buNone/>
              <a:tabLst/>
            </a:pPr>
            <a:br>
              <a:rPr kumimoji="0" lang="fr-FR" altLang="fr-FR" sz="1800" b="0" i="0" u="none" strike="noStrike" cap="none" normalizeH="0" baseline="0" dirty="0">
                <a:ln>
                  <a:noFill/>
                </a:ln>
                <a:solidFill>
                  <a:srgbClr val="000000"/>
                </a:solidFill>
                <a:effectLst/>
                <a:latin typeface="Söhne"/>
              </a:rPr>
            </a:b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6191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00FCD0-C730-779C-F13A-D24521E27EFD}"/>
              </a:ext>
            </a:extLst>
          </p:cNvPr>
          <p:cNvSpPr>
            <a:spLocks noGrp="1"/>
          </p:cNvSpPr>
          <p:nvPr>
            <p:ph type="title"/>
          </p:nvPr>
        </p:nvSpPr>
        <p:spPr/>
        <p:txBody>
          <a:bodyPr/>
          <a:lstStyle/>
          <a:p>
            <a:r>
              <a:rPr lang="fr-FR" dirty="0"/>
              <a:t>Virtualisation des Machines </a:t>
            </a:r>
            <a:r>
              <a:rPr lang="fr-FR" dirty="0">
                <a:solidFill>
                  <a:schemeClr val="accent2">
                    <a:lumMod val="75000"/>
                  </a:schemeClr>
                </a:solidFill>
              </a:rPr>
              <a:t>- Aperçu</a:t>
            </a:r>
            <a:endParaRPr lang="fr-MA" dirty="0">
              <a:solidFill>
                <a:schemeClr val="accent2">
                  <a:lumMod val="75000"/>
                </a:schemeClr>
              </a:solidFill>
            </a:endParaRPr>
          </a:p>
        </p:txBody>
      </p:sp>
      <p:sp>
        <p:nvSpPr>
          <p:cNvPr id="8" name="Espace réservé du contenu 7">
            <a:extLst>
              <a:ext uri="{FF2B5EF4-FFF2-40B4-BE49-F238E27FC236}">
                <a16:creationId xmlns:a16="http://schemas.microsoft.com/office/drawing/2014/main" id="{BAEF542E-8F10-99FD-52FB-CBB630E5EF45}"/>
              </a:ext>
            </a:extLst>
          </p:cNvPr>
          <p:cNvSpPr>
            <a:spLocks noGrp="1"/>
          </p:cNvSpPr>
          <p:nvPr>
            <p:ph idx="1"/>
          </p:nvPr>
        </p:nvSpPr>
        <p:spPr>
          <a:xfrm>
            <a:off x="1371600" y="2285999"/>
            <a:ext cx="6356195" cy="4270917"/>
          </a:xfrm>
        </p:spPr>
        <p:txBody>
          <a:bodyPr>
            <a:normAutofit/>
          </a:bodyPr>
          <a:lstStyle/>
          <a:p>
            <a:pPr marL="342900" lvl="0" indent="-342900" algn="just">
              <a:lnSpc>
                <a:spcPct val="150000"/>
              </a:lnSpc>
              <a:spcBef>
                <a:spcPts val="600"/>
              </a:spcBef>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Définition</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Fonctionne sur un système d'exploitation (comme Windows, Linux) comme une application standard. Ce type est adapté à une utilisation personnelle des machines virtuelles.</a:t>
            </a:r>
          </a:p>
          <a:p>
            <a:pPr marL="342900" lvl="0" indent="-342900" algn="just">
              <a:lnSpc>
                <a:spcPct val="150000"/>
              </a:lnSpc>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Performance</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Peut présenter des surcoûts en matière de performances du fait de la couche supplémentaire (le système d'exploitation hôte).</a:t>
            </a:r>
          </a:p>
          <a:p>
            <a:pPr marL="342900" lvl="0" indent="-342900" algn="just">
              <a:lnSpc>
                <a:spcPct val="150000"/>
              </a:lnSpc>
              <a:spcAft>
                <a:spcPts val="1400"/>
              </a:spcAft>
              <a:buFont typeface="Symbol" panose="05050102010706020507" pitchFamily="18" charset="2"/>
              <a:buChar char=""/>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Outils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VMware Workstation, Oracle VirtualBox, </a:t>
            </a:r>
            <a:r>
              <a:rPr lang="fr-MA" sz="1800" kern="100" dirty="0" err="1">
                <a:effectLst/>
                <a:latin typeface="Times New Roman" panose="02020603050405020304" pitchFamily="18" charset="0"/>
                <a:ea typeface="Calibri" panose="020F0502020204030204" pitchFamily="34" charset="0"/>
                <a:cs typeface="Times New Roman" panose="02020603050405020304" pitchFamily="18" charset="0"/>
              </a:rPr>
              <a:t>Parallels</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Desktop.</a:t>
            </a:r>
          </a:p>
          <a:p>
            <a:pPr marL="342900" lvl="0" indent="-342900" algn="just">
              <a:lnSpc>
                <a:spcPct val="150000"/>
              </a:lnSpc>
              <a:spcAft>
                <a:spcPts val="1400"/>
              </a:spcAft>
              <a:buFont typeface="Symbol" panose="05050102010706020507" pitchFamily="18" charset="2"/>
              <a:buChar char=""/>
            </a:pPr>
            <a:endParaRPr lang="fr-MA"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9" name="Image 8">
            <a:extLst>
              <a:ext uri="{FF2B5EF4-FFF2-40B4-BE49-F238E27FC236}">
                <a16:creationId xmlns:a16="http://schemas.microsoft.com/office/drawing/2014/main" id="{CEEF375D-1C5B-7ABF-43A2-C32CCF7FC5FE}"/>
              </a:ext>
            </a:extLst>
          </p:cNvPr>
          <p:cNvPicPr>
            <a:picLocks noChangeAspect="1"/>
          </p:cNvPicPr>
          <p:nvPr/>
        </p:nvPicPr>
        <p:blipFill>
          <a:blip r:embed="rId2"/>
          <a:stretch>
            <a:fillRect/>
          </a:stretch>
        </p:blipFill>
        <p:spPr>
          <a:xfrm>
            <a:off x="7961971" y="1901283"/>
            <a:ext cx="4138339" cy="4270917"/>
          </a:xfrm>
          <a:prstGeom prst="rect">
            <a:avLst/>
          </a:prstGeom>
        </p:spPr>
      </p:pic>
    </p:spTree>
    <p:extLst>
      <p:ext uri="{BB962C8B-B14F-4D97-AF65-F5344CB8AC3E}">
        <p14:creationId xmlns:p14="http://schemas.microsoft.com/office/powerpoint/2010/main" val="28011164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8B651-B840-E103-7E03-92A6B554A8D5}"/>
              </a:ext>
            </a:extLst>
          </p:cNvPr>
          <p:cNvSpPr>
            <a:spLocks noGrp="1"/>
          </p:cNvSpPr>
          <p:nvPr>
            <p:ph type="title"/>
          </p:nvPr>
        </p:nvSpPr>
        <p:spPr/>
        <p:txBody>
          <a:bodyPr/>
          <a:lstStyle/>
          <a:p>
            <a:r>
              <a:rPr lang="fr-FR" dirty="0"/>
              <a:t>Virtualisation des Machines </a:t>
            </a:r>
            <a:r>
              <a:rPr lang="fr-FR" dirty="0">
                <a:solidFill>
                  <a:schemeClr val="accent2">
                    <a:lumMod val="75000"/>
                  </a:schemeClr>
                </a:solidFill>
              </a:rPr>
              <a:t>- Outils</a:t>
            </a:r>
            <a:endParaRPr lang="fr-MA" dirty="0"/>
          </a:p>
        </p:txBody>
      </p:sp>
      <p:pic>
        <p:nvPicPr>
          <p:cNvPr id="13316" name="Picture 4" descr="Vmworkstation 15 | danielgoxyhocard1979's Ownd">
            <a:extLst>
              <a:ext uri="{FF2B5EF4-FFF2-40B4-BE49-F238E27FC236}">
                <a16:creationId xmlns:a16="http://schemas.microsoft.com/office/drawing/2014/main" id="{46F572BC-1857-BC6A-D653-CC9E508268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4660" y="2300171"/>
            <a:ext cx="2257657" cy="2257657"/>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VirtualBox - Wikipedia">
            <a:extLst>
              <a:ext uri="{FF2B5EF4-FFF2-40B4-BE49-F238E27FC236}">
                <a16:creationId xmlns:a16="http://schemas.microsoft.com/office/drawing/2014/main" id="{80997795-D033-4E9D-7D7E-8ECB609B5D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713" y="2171700"/>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13322" name="Picture 10" descr="Parallels Desktop for Mac Business Edition - subscription license (1 year)  - 1 user - PDFM-ENTSUB-1Y-ML - Client Virtualization - CDW.com">
            <a:extLst>
              <a:ext uri="{FF2B5EF4-FFF2-40B4-BE49-F238E27FC236}">
                <a16:creationId xmlns:a16="http://schemas.microsoft.com/office/drawing/2014/main" id="{931F3D08-33AE-C5BB-A413-88391D605F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6837" y="2115362"/>
            <a:ext cx="3665963" cy="2627273"/>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BA0620BB-8024-849B-4ED6-1F3F66EA4140}"/>
              </a:ext>
            </a:extLst>
          </p:cNvPr>
          <p:cNvSpPr txBox="1"/>
          <p:nvPr/>
        </p:nvSpPr>
        <p:spPr>
          <a:xfrm>
            <a:off x="8309054" y="4605222"/>
            <a:ext cx="1884555" cy="369332"/>
          </a:xfrm>
          <a:prstGeom prst="rect">
            <a:avLst/>
          </a:prstGeom>
          <a:noFill/>
        </p:spPr>
        <p:txBody>
          <a:bodyPr wrap="square" rtlCol="0">
            <a:spAutoFit/>
          </a:bodyPr>
          <a:lstStyle/>
          <a:p>
            <a:r>
              <a:rPr lang="fr-FR" b="1" dirty="0" err="1"/>
              <a:t>Parallels</a:t>
            </a:r>
            <a:r>
              <a:rPr lang="fr-FR" b="1" dirty="0"/>
              <a:t> desktop</a:t>
            </a:r>
            <a:endParaRPr lang="fr-MA" b="1" dirty="0"/>
          </a:p>
        </p:txBody>
      </p:sp>
    </p:spTree>
    <p:extLst>
      <p:ext uri="{BB962C8B-B14F-4D97-AF65-F5344CB8AC3E}">
        <p14:creationId xmlns:p14="http://schemas.microsoft.com/office/powerpoint/2010/main" val="33725304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6312CC-35FC-A7E8-04E6-0F9CB70B4FFA}"/>
              </a:ext>
            </a:extLst>
          </p:cNvPr>
          <p:cNvSpPr>
            <a:spLocks noGrp="1"/>
          </p:cNvSpPr>
          <p:nvPr>
            <p:ph type="title"/>
          </p:nvPr>
        </p:nvSpPr>
        <p:spPr>
          <a:xfrm>
            <a:off x="1371600" y="685800"/>
            <a:ext cx="10820400" cy="1485900"/>
          </a:xfrm>
        </p:spPr>
        <p:txBody>
          <a:bodyPr>
            <a:normAutofit/>
          </a:bodyPr>
          <a:lstStyle/>
          <a:p>
            <a:r>
              <a:rPr lang="fr-FR" dirty="0"/>
              <a:t>Virtualisation des Machines </a:t>
            </a:r>
            <a:r>
              <a:rPr lang="fr-FR" dirty="0">
                <a:solidFill>
                  <a:schemeClr val="accent2">
                    <a:lumMod val="75000"/>
                  </a:schemeClr>
                </a:solidFill>
              </a:rPr>
              <a:t>– Pros</a:t>
            </a:r>
            <a:endParaRPr lang="fr-MA" dirty="0"/>
          </a:p>
        </p:txBody>
      </p:sp>
      <p:sp>
        <p:nvSpPr>
          <p:cNvPr id="4" name="Rectangle 5">
            <a:extLst>
              <a:ext uri="{FF2B5EF4-FFF2-40B4-BE49-F238E27FC236}">
                <a16:creationId xmlns:a16="http://schemas.microsoft.com/office/drawing/2014/main" id="{91D46E77-941F-B779-C1FF-D959FB217380}"/>
              </a:ext>
            </a:extLst>
          </p:cNvPr>
          <p:cNvSpPr>
            <a:spLocks noGrp="1" noChangeArrowheads="1"/>
          </p:cNvSpPr>
          <p:nvPr>
            <p:ph idx="1"/>
          </p:nvPr>
        </p:nvSpPr>
        <p:spPr bwMode="auto">
          <a:xfrm>
            <a:off x="1371600" y="1663061"/>
            <a:ext cx="9960015" cy="4827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a:buFont typeface="+mj-lt"/>
              <a:buAutoNum type="arabicPeriod"/>
            </a:pPr>
            <a:r>
              <a:rPr lang="fr-FR" sz="1800" b="1" dirty="0">
                <a:solidFill>
                  <a:srgbClr val="000000"/>
                </a:solidFill>
                <a:latin typeface="Söhne"/>
              </a:rPr>
              <a:t>Facilité d'Utilisation </a:t>
            </a:r>
            <a:r>
              <a:rPr lang="fr-FR" sz="1800" dirty="0">
                <a:solidFill>
                  <a:srgbClr val="000000"/>
                </a:solidFill>
                <a:latin typeface="Söhne"/>
              </a:rPr>
              <a:t>: Les machines virtuelles sont généralement faciles à configurer et à utiliser, ce qui les rend accessibles aux tout le monde.</a:t>
            </a:r>
          </a:p>
          <a:p>
            <a:pPr algn="l">
              <a:buFont typeface="+mj-lt"/>
              <a:buAutoNum type="arabicPeriod"/>
            </a:pPr>
            <a:endParaRPr lang="fr-FR" sz="1800" dirty="0">
              <a:solidFill>
                <a:srgbClr val="000000"/>
              </a:solidFill>
              <a:latin typeface="Söhne"/>
            </a:endParaRPr>
          </a:p>
          <a:p>
            <a:pPr algn="l">
              <a:buFont typeface="+mj-lt"/>
              <a:buAutoNum type="arabicPeriod"/>
            </a:pPr>
            <a:r>
              <a:rPr lang="fr-FR" sz="1800" b="1" dirty="0">
                <a:solidFill>
                  <a:srgbClr val="000000"/>
                </a:solidFill>
                <a:latin typeface="Söhne"/>
              </a:rPr>
              <a:t>Coût Réduit</a:t>
            </a:r>
            <a:r>
              <a:rPr lang="fr-FR" sz="1800" dirty="0">
                <a:solidFill>
                  <a:srgbClr val="000000"/>
                </a:solidFill>
                <a:latin typeface="Söhne"/>
              </a:rPr>
              <a:t> : Il n'est pas nécessaire de disposer de matériel dédié pour exécuter des machines virtuelles.</a:t>
            </a:r>
          </a:p>
          <a:p>
            <a:pPr algn="l">
              <a:buFont typeface="+mj-lt"/>
              <a:buAutoNum type="arabicPeriod"/>
            </a:pPr>
            <a:endParaRPr lang="fr-FR" sz="1800" dirty="0">
              <a:solidFill>
                <a:srgbClr val="000000"/>
              </a:solidFill>
              <a:latin typeface="Söhne"/>
            </a:endParaRPr>
          </a:p>
          <a:p>
            <a:pPr algn="l">
              <a:buFont typeface="+mj-lt"/>
              <a:buAutoNum type="arabicPeriod"/>
            </a:pPr>
            <a:r>
              <a:rPr lang="fr-FR" sz="1800" b="1" dirty="0">
                <a:solidFill>
                  <a:srgbClr val="000000"/>
                </a:solidFill>
                <a:latin typeface="Söhne"/>
              </a:rPr>
              <a:t>Compatibilité</a:t>
            </a:r>
            <a:r>
              <a:rPr lang="fr-FR" sz="1800" dirty="0">
                <a:solidFill>
                  <a:srgbClr val="000000"/>
                </a:solidFill>
                <a:latin typeface="Söhne"/>
              </a:rPr>
              <a:t> : Les machines virtuelles sont généralement compatibles avec une variété de systèmes d'exploitation hôtes, ce qui permet aux utilisateurs d'exécuter différentes plates-formes sur un seul ordinateur (Windows sur un Mac, Mac sur un Linux, etc.).</a:t>
            </a:r>
          </a:p>
          <a:p>
            <a:pPr algn="l">
              <a:buFont typeface="+mj-lt"/>
              <a:buAutoNum type="arabicPeriod"/>
            </a:pPr>
            <a:endParaRPr lang="fr-FR" sz="1800" dirty="0">
              <a:solidFill>
                <a:srgbClr val="000000"/>
              </a:solidFill>
              <a:latin typeface="Söhne"/>
            </a:endParaRPr>
          </a:p>
          <a:p>
            <a:pPr algn="l">
              <a:buFont typeface="+mj-lt"/>
              <a:buAutoNum type="arabicPeriod"/>
            </a:pPr>
            <a:r>
              <a:rPr lang="fr-FR" sz="1800" b="1" dirty="0">
                <a:solidFill>
                  <a:srgbClr val="000000"/>
                </a:solidFill>
                <a:latin typeface="Söhne"/>
              </a:rPr>
              <a:t>Souplesse</a:t>
            </a:r>
            <a:r>
              <a:rPr lang="fr-FR" sz="1800" dirty="0">
                <a:solidFill>
                  <a:srgbClr val="000000"/>
                </a:solidFill>
                <a:latin typeface="Söhne"/>
              </a:rPr>
              <a:t> : Les utilisateurs peuvent exécuter plusieurs machines virtuelles sur un même système d'exploitation hôte, ce qui leur permet d'isoler des environnements de développement, de test ou d'autres applications.</a:t>
            </a:r>
          </a:p>
          <a:p>
            <a:pPr algn="l">
              <a:buFont typeface="+mj-lt"/>
              <a:buAutoNum type="arabicPeriod"/>
            </a:pPr>
            <a:endParaRPr lang="fr-FR" sz="1800" dirty="0">
              <a:solidFill>
                <a:srgbClr val="000000"/>
              </a:solidFill>
              <a:latin typeface="Söhne"/>
            </a:endParaRPr>
          </a:p>
          <a:p>
            <a:pPr algn="l">
              <a:buFont typeface="+mj-lt"/>
              <a:buAutoNum type="arabicPeriod"/>
            </a:pPr>
            <a:r>
              <a:rPr lang="fr-FR" sz="1800" b="1" dirty="0">
                <a:solidFill>
                  <a:srgbClr val="000000"/>
                </a:solidFill>
                <a:latin typeface="Söhne"/>
              </a:rPr>
              <a:t>Facilité de Développement </a:t>
            </a:r>
            <a:r>
              <a:rPr lang="fr-FR" sz="1800" dirty="0">
                <a:solidFill>
                  <a:srgbClr val="000000"/>
                </a:solidFill>
                <a:latin typeface="Söhne"/>
              </a:rPr>
              <a:t>: Les développeurs peuvent utiliser des machines virtuelles pour tester leurs applications sur différents systèmes d'exploitation sans avoir besoin de plusieurs ordinateurs physiques.</a:t>
            </a:r>
          </a:p>
        </p:txBody>
      </p:sp>
    </p:spTree>
    <p:extLst>
      <p:ext uri="{BB962C8B-B14F-4D97-AF65-F5344CB8AC3E}">
        <p14:creationId xmlns:p14="http://schemas.microsoft.com/office/powerpoint/2010/main" val="916260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6312CC-35FC-A7E8-04E6-0F9CB70B4FFA}"/>
              </a:ext>
            </a:extLst>
          </p:cNvPr>
          <p:cNvSpPr>
            <a:spLocks noGrp="1"/>
          </p:cNvSpPr>
          <p:nvPr>
            <p:ph type="title"/>
          </p:nvPr>
        </p:nvSpPr>
        <p:spPr>
          <a:xfrm>
            <a:off x="1371600" y="685800"/>
            <a:ext cx="10820400" cy="1485900"/>
          </a:xfrm>
        </p:spPr>
        <p:txBody>
          <a:bodyPr>
            <a:normAutofit/>
          </a:bodyPr>
          <a:lstStyle/>
          <a:p>
            <a:r>
              <a:rPr lang="fr-FR" dirty="0"/>
              <a:t>Virtualisation des Machines </a:t>
            </a:r>
            <a:r>
              <a:rPr lang="fr-FR" dirty="0">
                <a:solidFill>
                  <a:schemeClr val="accent2">
                    <a:lumMod val="75000"/>
                  </a:schemeClr>
                </a:solidFill>
              </a:rPr>
              <a:t>–Cons</a:t>
            </a:r>
            <a:endParaRPr lang="fr-MA" dirty="0"/>
          </a:p>
        </p:txBody>
      </p:sp>
      <p:sp>
        <p:nvSpPr>
          <p:cNvPr id="4" name="Rectangle 5">
            <a:extLst>
              <a:ext uri="{FF2B5EF4-FFF2-40B4-BE49-F238E27FC236}">
                <a16:creationId xmlns:a16="http://schemas.microsoft.com/office/drawing/2014/main" id="{91D46E77-941F-B779-C1FF-D959FB217380}"/>
              </a:ext>
            </a:extLst>
          </p:cNvPr>
          <p:cNvSpPr>
            <a:spLocks noGrp="1" noChangeArrowheads="1"/>
          </p:cNvSpPr>
          <p:nvPr>
            <p:ph idx="1"/>
          </p:nvPr>
        </p:nvSpPr>
        <p:spPr bwMode="auto">
          <a:xfrm>
            <a:off x="1371600" y="2579392"/>
            <a:ext cx="9809544" cy="3447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indent="-342900">
              <a:lnSpc>
                <a:spcPct val="100000"/>
              </a:lnSpc>
              <a:buFont typeface="+mj-lt"/>
              <a:buAutoNum type="arabicPeriod"/>
            </a:pPr>
            <a:r>
              <a:rPr lang="fr-FR" sz="1800" b="1" dirty="0">
                <a:solidFill>
                  <a:srgbClr val="000000"/>
                </a:solidFill>
                <a:latin typeface="Söhne"/>
              </a:rPr>
              <a:t>Performance</a:t>
            </a:r>
            <a:r>
              <a:rPr lang="fr-FR" sz="1800" dirty="0">
                <a:solidFill>
                  <a:srgbClr val="000000"/>
                </a:solidFill>
                <a:latin typeface="Söhne"/>
              </a:rPr>
              <a:t> : Les machines virtuelles ont tendance à avoir des performances inférieures, car elles s'exécutent au-dessus d'un système d'exploitation hôte.</a:t>
            </a:r>
          </a:p>
          <a:p>
            <a:pPr marL="342900" indent="-342900">
              <a:lnSpc>
                <a:spcPct val="100000"/>
              </a:lnSpc>
              <a:buFont typeface="+mj-lt"/>
              <a:buAutoNum type="arabicPeriod"/>
            </a:pPr>
            <a:endParaRPr lang="fr-FR" sz="1800" dirty="0">
              <a:solidFill>
                <a:srgbClr val="000000"/>
              </a:solidFill>
              <a:latin typeface="Söhne"/>
            </a:endParaRPr>
          </a:p>
          <a:p>
            <a:pPr marL="342900" indent="-342900">
              <a:lnSpc>
                <a:spcPct val="100000"/>
              </a:lnSpc>
              <a:buFont typeface="+mj-lt"/>
              <a:buAutoNum type="arabicPeriod"/>
            </a:pPr>
            <a:r>
              <a:rPr lang="fr-FR" sz="1800" b="1" dirty="0" err="1">
                <a:solidFill>
                  <a:srgbClr val="000000"/>
                </a:solidFill>
                <a:latin typeface="Söhne"/>
              </a:rPr>
              <a:t>Overhead</a:t>
            </a:r>
            <a:r>
              <a:rPr lang="fr-FR" sz="1800" b="1" dirty="0">
                <a:solidFill>
                  <a:srgbClr val="000000"/>
                </a:solidFill>
                <a:latin typeface="Söhne"/>
              </a:rPr>
              <a:t> (surcharge)</a:t>
            </a:r>
            <a:r>
              <a:rPr lang="fr-FR" sz="1800" dirty="0">
                <a:solidFill>
                  <a:srgbClr val="000000"/>
                </a:solidFill>
                <a:latin typeface="Söhne"/>
              </a:rPr>
              <a:t> : Les machines virtuelles introduisent un certain </a:t>
            </a:r>
            <a:r>
              <a:rPr lang="fr-FR" sz="1800" dirty="0" err="1">
                <a:solidFill>
                  <a:srgbClr val="000000"/>
                </a:solidFill>
                <a:latin typeface="Söhne"/>
              </a:rPr>
              <a:t>overhead</a:t>
            </a:r>
            <a:r>
              <a:rPr lang="fr-FR" sz="1800" dirty="0">
                <a:solidFill>
                  <a:srgbClr val="000000"/>
                </a:solidFill>
                <a:latin typeface="Söhne"/>
              </a:rPr>
              <a:t> en termes de ressources système, car elles partagent les ressources du système hôte.</a:t>
            </a:r>
          </a:p>
          <a:p>
            <a:pPr marL="342900" indent="-342900">
              <a:lnSpc>
                <a:spcPct val="100000"/>
              </a:lnSpc>
              <a:buFont typeface="+mj-lt"/>
              <a:buAutoNum type="arabicPeriod"/>
            </a:pPr>
            <a:endParaRPr lang="fr-FR" sz="1800" dirty="0">
              <a:solidFill>
                <a:srgbClr val="000000"/>
              </a:solidFill>
              <a:latin typeface="Söhne"/>
            </a:endParaRPr>
          </a:p>
          <a:p>
            <a:pPr marL="342900" indent="-342900">
              <a:lnSpc>
                <a:spcPct val="100000"/>
              </a:lnSpc>
              <a:buFont typeface="+mj-lt"/>
              <a:buAutoNum type="arabicPeriod"/>
            </a:pPr>
            <a:r>
              <a:rPr lang="fr-FR" sz="1800" b="1" dirty="0">
                <a:solidFill>
                  <a:srgbClr val="000000"/>
                </a:solidFill>
                <a:latin typeface="Söhne"/>
              </a:rPr>
              <a:t>Limitations de Performance </a:t>
            </a:r>
            <a:r>
              <a:rPr lang="fr-FR" sz="1800" dirty="0">
                <a:solidFill>
                  <a:srgbClr val="000000"/>
                </a:solidFill>
                <a:latin typeface="Söhne"/>
              </a:rPr>
              <a:t>: Les applications qui nécessitent des performances élevées ou un accès direct au matériel peuvent ne pas être adaptées à l'exécution dans une machine virtuelle.</a:t>
            </a:r>
          </a:p>
          <a:p>
            <a:pPr marL="342900" indent="-342900">
              <a:lnSpc>
                <a:spcPct val="100000"/>
              </a:lnSpc>
              <a:buFont typeface="+mj-lt"/>
              <a:buAutoNum type="arabicPeriod"/>
            </a:pPr>
            <a:endParaRPr lang="fr-FR" sz="1800" b="1" dirty="0">
              <a:solidFill>
                <a:srgbClr val="000000"/>
              </a:solidFill>
              <a:latin typeface="Söhne"/>
            </a:endParaRPr>
          </a:p>
          <a:p>
            <a:pPr marL="342900" indent="-342900">
              <a:lnSpc>
                <a:spcPct val="100000"/>
              </a:lnSpc>
              <a:buFont typeface="+mj-lt"/>
              <a:buAutoNum type="arabicPeriod"/>
            </a:pPr>
            <a:r>
              <a:rPr lang="fr-FR" sz="1800" b="1" dirty="0">
                <a:solidFill>
                  <a:srgbClr val="000000"/>
                </a:solidFill>
                <a:latin typeface="Söhne"/>
              </a:rPr>
              <a:t>Dépendance à l'Hôte </a:t>
            </a:r>
            <a:r>
              <a:rPr lang="fr-FR" sz="1800" dirty="0">
                <a:solidFill>
                  <a:srgbClr val="000000"/>
                </a:solidFill>
                <a:latin typeface="Söhne"/>
              </a:rPr>
              <a:t>: Les machines virtuelles dépendent du système d'exploitation hôte, ce qui signifie qu'une défaillance de l'hôte peut affecter toutes les machines virtuelles qui y sont exécutées.</a:t>
            </a:r>
          </a:p>
        </p:txBody>
      </p:sp>
    </p:spTree>
    <p:extLst>
      <p:ext uri="{BB962C8B-B14F-4D97-AF65-F5344CB8AC3E}">
        <p14:creationId xmlns:p14="http://schemas.microsoft.com/office/powerpoint/2010/main" val="1013430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00FCD0-C730-779C-F13A-D24521E27EFD}"/>
              </a:ext>
            </a:extLst>
          </p:cNvPr>
          <p:cNvSpPr>
            <a:spLocks noGrp="1"/>
          </p:cNvSpPr>
          <p:nvPr>
            <p:ph type="title"/>
          </p:nvPr>
        </p:nvSpPr>
        <p:spPr/>
        <p:txBody>
          <a:bodyPr/>
          <a:lstStyle/>
          <a:p>
            <a:r>
              <a:rPr lang="fr-FR" dirty="0"/>
              <a:t>Virtualisation des Serveurs </a:t>
            </a:r>
            <a:r>
              <a:rPr lang="fr-FR" dirty="0">
                <a:solidFill>
                  <a:schemeClr val="accent2">
                    <a:lumMod val="75000"/>
                  </a:schemeClr>
                </a:solidFill>
              </a:rPr>
              <a:t>- Aperçu</a:t>
            </a:r>
            <a:endParaRPr lang="fr-MA" dirty="0">
              <a:solidFill>
                <a:schemeClr val="accent2">
                  <a:lumMod val="75000"/>
                </a:schemeClr>
              </a:solidFill>
            </a:endParaRPr>
          </a:p>
        </p:txBody>
      </p:sp>
      <p:sp>
        <p:nvSpPr>
          <p:cNvPr id="8" name="Espace réservé du contenu 7">
            <a:extLst>
              <a:ext uri="{FF2B5EF4-FFF2-40B4-BE49-F238E27FC236}">
                <a16:creationId xmlns:a16="http://schemas.microsoft.com/office/drawing/2014/main" id="{BAEF542E-8F10-99FD-52FB-CBB630E5EF45}"/>
              </a:ext>
            </a:extLst>
          </p:cNvPr>
          <p:cNvSpPr>
            <a:spLocks noGrp="1"/>
          </p:cNvSpPr>
          <p:nvPr>
            <p:ph idx="1"/>
          </p:nvPr>
        </p:nvSpPr>
        <p:spPr>
          <a:xfrm>
            <a:off x="1371600" y="1770255"/>
            <a:ext cx="6918960" cy="4833745"/>
          </a:xfrm>
        </p:spPr>
        <p:txBody>
          <a:bodyPr>
            <a:normAutofit/>
          </a:bodyPr>
          <a:lstStyle/>
          <a:p>
            <a:pPr marL="342900" indent="-342900" algn="just">
              <a:lnSpc>
                <a:spcPct val="150000"/>
              </a:lnSpc>
              <a:spcBef>
                <a:spcPts val="600"/>
              </a:spcBef>
              <a:buFont typeface="Symbol" panose="05050102010706020507" pitchFamily="18" charset="2"/>
              <a:buChar char=""/>
            </a:pPr>
            <a:r>
              <a:rPr lang="fr-FR" sz="1800" b="1" kern="100" dirty="0">
                <a:latin typeface="Times New Roman" panose="02020603050405020304" pitchFamily="18" charset="0"/>
                <a:ea typeface="Calibri" panose="020F0502020204030204" pitchFamily="34" charset="0"/>
                <a:cs typeface="Times New Roman" panose="02020603050405020304" pitchFamily="18" charset="0"/>
              </a:rPr>
              <a:t>Définition : </a:t>
            </a:r>
            <a:r>
              <a:rPr lang="fr-FR" sz="1800" kern="100" dirty="0">
                <a:latin typeface="Times New Roman" panose="02020603050405020304" pitchFamily="18" charset="0"/>
                <a:ea typeface="Calibri" panose="020F0502020204030204" pitchFamily="34" charset="0"/>
                <a:cs typeface="Times New Roman" panose="02020603050405020304" pitchFamily="18" charset="0"/>
              </a:rPr>
              <a:t>s'exécutent directement sur le matériel physique de la machine, sans nécessiter de système d'exploitation hôte. Les </a:t>
            </a:r>
            <a:r>
              <a:rPr lang="fr-FR" sz="1800" kern="100" dirty="0" err="1">
                <a:latin typeface="Times New Roman" panose="02020603050405020304" pitchFamily="18" charset="0"/>
                <a:ea typeface="Calibri" panose="020F0502020204030204" pitchFamily="34" charset="0"/>
                <a:cs typeface="Times New Roman" panose="02020603050405020304" pitchFamily="18" charset="0"/>
              </a:rPr>
              <a:t>VMs</a:t>
            </a:r>
            <a:r>
              <a:rPr lang="fr-FR" sz="1800" kern="100" dirty="0">
                <a:latin typeface="Times New Roman" panose="02020603050405020304" pitchFamily="18" charset="0"/>
                <a:ea typeface="Calibri" panose="020F0502020204030204" pitchFamily="34" charset="0"/>
                <a:cs typeface="Times New Roman" panose="02020603050405020304" pitchFamily="18" charset="0"/>
              </a:rPr>
              <a:t> s'exécutent directement sur l'hyperviseur sans nécessiter un système d'exploitation intermédiaire.</a:t>
            </a:r>
          </a:p>
          <a:p>
            <a:pPr marL="342900" indent="-342900" algn="just">
              <a:lnSpc>
                <a:spcPct val="150000"/>
              </a:lnSpc>
              <a:spcBef>
                <a:spcPts val="600"/>
              </a:spcBef>
              <a:buFont typeface="Symbol" panose="05050102010706020507" pitchFamily="18" charset="2"/>
              <a:buChar char=""/>
            </a:pPr>
            <a:r>
              <a:rPr lang="fr-FR" sz="1800" b="1" kern="100" dirty="0">
                <a:latin typeface="Times New Roman" panose="02020603050405020304" pitchFamily="18" charset="0"/>
                <a:ea typeface="Calibri" panose="020F0502020204030204" pitchFamily="34" charset="0"/>
                <a:cs typeface="Times New Roman" panose="02020603050405020304" pitchFamily="18" charset="0"/>
              </a:rPr>
              <a:t>Performance : </a:t>
            </a:r>
            <a:r>
              <a:rPr lang="fr-FR" sz="1800" kern="100" dirty="0">
                <a:latin typeface="Times New Roman" panose="02020603050405020304" pitchFamily="18" charset="0"/>
                <a:ea typeface="Calibri" panose="020F0502020204030204" pitchFamily="34" charset="0"/>
                <a:cs typeface="Times New Roman" panose="02020603050405020304" pitchFamily="18" charset="0"/>
              </a:rPr>
              <a:t>offre généralement de meilleures performances que la virtualisation de type 2 car elle élimine la couche du système d'exploitation hôte.</a:t>
            </a:r>
          </a:p>
          <a:p>
            <a:pPr marL="342900" indent="-342900" algn="just">
              <a:lnSpc>
                <a:spcPct val="150000"/>
              </a:lnSpc>
              <a:spcBef>
                <a:spcPts val="600"/>
              </a:spcBef>
              <a:buFont typeface="Symbol" panose="05050102010706020507" pitchFamily="18" charset="2"/>
              <a:buChar char=""/>
            </a:pPr>
            <a:r>
              <a:rPr lang="fr-FR" sz="1800" b="1" kern="100" dirty="0">
                <a:latin typeface="Times New Roman" panose="02020603050405020304" pitchFamily="18" charset="0"/>
                <a:ea typeface="Calibri" panose="020F0502020204030204" pitchFamily="34" charset="0"/>
                <a:cs typeface="Times New Roman" panose="02020603050405020304" pitchFamily="18" charset="0"/>
              </a:rPr>
              <a:t>Outils :</a:t>
            </a:r>
            <a:r>
              <a:rPr lang="fr-FR" sz="1800" kern="100" dirty="0">
                <a:latin typeface="Times New Roman" panose="02020603050405020304" pitchFamily="18" charset="0"/>
                <a:ea typeface="Calibri" panose="020F0502020204030204" pitchFamily="34" charset="0"/>
                <a:cs typeface="Times New Roman" panose="02020603050405020304" pitchFamily="18" charset="0"/>
              </a:rPr>
              <a:t> VMware vSphere/ESXi, Microsoft Hyper-V (dans certains cas), </a:t>
            </a:r>
            <a:r>
              <a:rPr lang="fr-FR" sz="1800" kern="100" dirty="0" err="1">
                <a:latin typeface="Times New Roman" panose="02020603050405020304" pitchFamily="18" charset="0"/>
                <a:ea typeface="Calibri" panose="020F0502020204030204" pitchFamily="34" charset="0"/>
                <a:cs typeface="Times New Roman" panose="02020603050405020304" pitchFamily="18" charset="0"/>
              </a:rPr>
              <a:t>Xen</a:t>
            </a:r>
            <a:r>
              <a:rPr lang="fr-FR" sz="1800" kern="100" dirty="0">
                <a:latin typeface="Times New Roman" panose="02020603050405020304" pitchFamily="18" charset="0"/>
                <a:ea typeface="Calibri" panose="020F0502020204030204" pitchFamily="34" charset="0"/>
                <a:cs typeface="Times New Roman" panose="02020603050405020304" pitchFamily="18" charset="0"/>
              </a:rPr>
              <a:t>, KVM (Kernel-</a:t>
            </a:r>
            <a:r>
              <a:rPr lang="fr-FR" sz="1800" kern="100" dirty="0" err="1">
                <a:latin typeface="Times New Roman" panose="02020603050405020304" pitchFamily="18" charset="0"/>
                <a:ea typeface="Calibri" panose="020F0502020204030204" pitchFamily="34" charset="0"/>
                <a:cs typeface="Times New Roman" panose="02020603050405020304" pitchFamily="18" charset="0"/>
              </a:rPr>
              <a:t>based</a:t>
            </a:r>
            <a:r>
              <a:rPr lang="fr-FR" sz="1800" kern="100" dirty="0">
                <a:latin typeface="Times New Roman" panose="02020603050405020304" pitchFamily="18" charset="0"/>
                <a:ea typeface="Calibri" panose="020F0502020204030204" pitchFamily="34" charset="0"/>
                <a:cs typeface="Times New Roman" panose="02020603050405020304" pitchFamily="18" charset="0"/>
              </a:rPr>
              <a:t> Virtual Machine).</a:t>
            </a:r>
            <a:endParaRPr lang="fr-MA"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Image 2">
            <a:extLst>
              <a:ext uri="{FF2B5EF4-FFF2-40B4-BE49-F238E27FC236}">
                <a16:creationId xmlns:a16="http://schemas.microsoft.com/office/drawing/2014/main" id="{8EF07B5B-45BE-E2EA-2655-3334960B08D1}"/>
              </a:ext>
            </a:extLst>
          </p:cNvPr>
          <p:cNvPicPr>
            <a:picLocks noChangeAspect="1"/>
          </p:cNvPicPr>
          <p:nvPr/>
        </p:nvPicPr>
        <p:blipFill>
          <a:blip r:embed="rId2"/>
          <a:stretch>
            <a:fillRect/>
          </a:stretch>
        </p:blipFill>
        <p:spPr>
          <a:xfrm>
            <a:off x="8901336" y="1770255"/>
            <a:ext cx="2997016" cy="4572239"/>
          </a:xfrm>
          <a:prstGeom prst="rect">
            <a:avLst/>
          </a:prstGeom>
        </p:spPr>
      </p:pic>
    </p:spTree>
    <p:extLst>
      <p:ext uri="{BB962C8B-B14F-4D97-AF65-F5344CB8AC3E}">
        <p14:creationId xmlns:p14="http://schemas.microsoft.com/office/powerpoint/2010/main" val="3185809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B82632-8553-5428-F3E4-3657B4C4285E}"/>
              </a:ext>
            </a:extLst>
          </p:cNvPr>
          <p:cNvSpPr>
            <a:spLocks noGrp="1"/>
          </p:cNvSpPr>
          <p:nvPr>
            <p:ph type="title"/>
          </p:nvPr>
        </p:nvSpPr>
        <p:spPr/>
        <p:txBody>
          <a:bodyPr/>
          <a:lstStyle/>
          <a:p>
            <a:r>
              <a:rPr lang="fr-FR" dirty="0"/>
              <a:t>Hyperviseur de TYPE 1 et TYPE 2</a:t>
            </a:r>
            <a:endParaRPr lang="fr-MA" dirty="0"/>
          </a:p>
        </p:txBody>
      </p:sp>
      <p:pic>
        <p:nvPicPr>
          <p:cNvPr id="4" name="Image 3">
            <a:extLst>
              <a:ext uri="{FF2B5EF4-FFF2-40B4-BE49-F238E27FC236}">
                <a16:creationId xmlns:a16="http://schemas.microsoft.com/office/drawing/2014/main" id="{DA87FF71-F23D-FE8B-EEF4-F22FD4CFE147}"/>
              </a:ext>
            </a:extLst>
          </p:cNvPr>
          <p:cNvPicPr>
            <a:picLocks noChangeAspect="1"/>
          </p:cNvPicPr>
          <p:nvPr/>
        </p:nvPicPr>
        <p:blipFill>
          <a:blip r:embed="rId2"/>
          <a:stretch>
            <a:fillRect/>
          </a:stretch>
        </p:blipFill>
        <p:spPr>
          <a:xfrm>
            <a:off x="2587082" y="1925415"/>
            <a:ext cx="8003739" cy="4843027"/>
          </a:xfrm>
          <a:prstGeom prst="rect">
            <a:avLst/>
          </a:prstGeom>
        </p:spPr>
      </p:pic>
    </p:spTree>
    <p:extLst>
      <p:ext uri="{BB962C8B-B14F-4D97-AF65-F5344CB8AC3E}">
        <p14:creationId xmlns:p14="http://schemas.microsoft.com/office/powerpoint/2010/main" val="24876771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p:txBody>
          <a:bodyPr/>
          <a:lstStyle/>
          <a:p>
            <a:r>
              <a:rPr lang="fr-FR" dirty="0"/>
              <a:t>Virtualisation des Serveurs </a:t>
            </a:r>
            <a:r>
              <a:rPr lang="fr-FR" dirty="0">
                <a:solidFill>
                  <a:schemeClr val="accent2">
                    <a:lumMod val="75000"/>
                  </a:schemeClr>
                </a:solidFill>
              </a:rPr>
              <a:t>- Avancée</a:t>
            </a:r>
            <a:endParaRPr lang="fr-MA" dirty="0"/>
          </a:p>
        </p:txBody>
      </p:sp>
      <p:pic>
        <p:nvPicPr>
          <p:cNvPr id="5" name="Image 4">
            <a:extLst>
              <a:ext uri="{FF2B5EF4-FFF2-40B4-BE49-F238E27FC236}">
                <a16:creationId xmlns:a16="http://schemas.microsoft.com/office/drawing/2014/main" id="{ACD1E95A-9D05-A7E0-BF11-B55D241813C4}"/>
              </a:ext>
            </a:extLst>
          </p:cNvPr>
          <p:cNvPicPr>
            <a:picLocks noChangeAspect="1"/>
          </p:cNvPicPr>
          <p:nvPr/>
        </p:nvPicPr>
        <p:blipFill>
          <a:blip r:embed="rId2"/>
          <a:stretch>
            <a:fillRect/>
          </a:stretch>
        </p:blipFill>
        <p:spPr>
          <a:xfrm>
            <a:off x="2465920" y="2505075"/>
            <a:ext cx="7412560" cy="3153410"/>
          </a:xfrm>
          <a:prstGeom prst="rect">
            <a:avLst/>
          </a:prstGeom>
        </p:spPr>
      </p:pic>
    </p:spTree>
    <p:extLst>
      <p:ext uri="{BB962C8B-B14F-4D97-AF65-F5344CB8AC3E}">
        <p14:creationId xmlns:p14="http://schemas.microsoft.com/office/powerpoint/2010/main" val="20346527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8B651-B840-E103-7E03-92A6B554A8D5}"/>
              </a:ext>
            </a:extLst>
          </p:cNvPr>
          <p:cNvSpPr>
            <a:spLocks noGrp="1"/>
          </p:cNvSpPr>
          <p:nvPr>
            <p:ph type="title"/>
          </p:nvPr>
        </p:nvSpPr>
        <p:spPr/>
        <p:txBody>
          <a:bodyPr/>
          <a:lstStyle/>
          <a:p>
            <a:r>
              <a:rPr lang="fr-FR" dirty="0"/>
              <a:t>Virtualisation des Serveurs </a:t>
            </a:r>
            <a:r>
              <a:rPr lang="fr-FR" dirty="0">
                <a:solidFill>
                  <a:schemeClr val="accent2">
                    <a:lumMod val="75000"/>
                  </a:schemeClr>
                </a:solidFill>
              </a:rPr>
              <a:t>- Outils</a:t>
            </a:r>
            <a:endParaRPr lang="fr-MA" dirty="0"/>
          </a:p>
        </p:txBody>
      </p:sp>
      <p:pic>
        <p:nvPicPr>
          <p:cNvPr id="21506" name="Picture 2" descr="How to change the pool master server Citrix XenServer | Broadcast | Crucial">
            <a:extLst>
              <a:ext uri="{FF2B5EF4-FFF2-40B4-BE49-F238E27FC236}">
                <a16:creationId xmlns:a16="http://schemas.microsoft.com/office/drawing/2014/main" id="{FA2B8DB7-6A99-D00A-8DEA-300D4A8101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397" y="4919055"/>
            <a:ext cx="4222130" cy="16044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8" descr="Hyper-V - Wikipedia">
            <a:extLst>
              <a:ext uri="{FF2B5EF4-FFF2-40B4-BE49-F238E27FC236}">
                <a16:creationId xmlns:a16="http://schemas.microsoft.com/office/drawing/2014/main" id="{52B71DC6-77E8-50FA-7A4E-578E81836E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397" y="1767920"/>
            <a:ext cx="4762500" cy="1647825"/>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ari G M On Twitter: &quot;were You Missing All The Useful &amp;amp; Interesting  PowerVM Content In DeveloperWorks Not It Has A New Home Now #PowerVM  #PowerSystems&quot; Twitter | lacienciadelcafe.com.ar">
            <a:extLst>
              <a:ext uri="{FF2B5EF4-FFF2-40B4-BE49-F238E27FC236}">
                <a16:creationId xmlns:a16="http://schemas.microsoft.com/office/drawing/2014/main" id="{115A8EB8-C8D2-4332-F314-5D2BB1E4D7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6340" y="4406126"/>
            <a:ext cx="4136519" cy="2992709"/>
          </a:xfrm>
          <a:prstGeom prst="rect">
            <a:avLst/>
          </a:prstGeom>
          <a:noFill/>
          <a:extLst>
            <a:ext uri="{909E8E84-426E-40DD-AFC4-6F175D3DCCD1}">
              <a14:hiddenFill xmlns:a14="http://schemas.microsoft.com/office/drawing/2010/main">
                <a:solidFill>
                  <a:srgbClr val="FFFFFF"/>
                </a:solidFill>
              </a14:hiddenFill>
            </a:ext>
          </a:extLst>
        </p:spPr>
      </p:pic>
      <p:pic>
        <p:nvPicPr>
          <p:cNvPr id="21510" name="Picture 6" descr="Proxmox Virtual Environment - PVE - Biteno GmbH">
            <a:extLst>
              <a:ext uri="{FF2B5EF4-FFF2-40B4-BE49-F238E27FC236}">
                <a16:creationId xmlns:a16="http://schemas.microsoft.com/office/drawing/2014/main" id="{38A81BA4-39EB-2522-6ACE-1AD13575A5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44461" y="2869553"/>
            <a:ext cx="8048625" cy="2581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1192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6312CC-35FC-A7E8-04E6-0F9CB70B4FFA}"/>
              </a:ext>
            </a:extLst>
          </p:cNvPr>
          <p:cNvSpPr>
            <a:spLocks noGrp="1"/>
          </p:cNvSpPr>
          <p:nvPr>
            <p:ph type="title"/>
          </p:nvPr>
        </p:nvSpPr>
        <p:spPr>
          <a:xfrm>
            <a:off x="1371600" y="685800"/>
            <a:ext cx="10820400" cy="1485900"/>
          </a:xfrm>
        </p:spPr>
        <p:txBody>
          <a:bodyPr>
            <a:normAutofit/>
          </a:bodyPr>
          <a:lstStyle/>
          <a:p>
            <a:r>
              <a:rPr lang="fr-FR" dirty="0"/>
              <a:t>Virtualisation des Serveurs</a:t>
            </a:r>
            <a:r>
              <a:rPr lang="fr-FR" dirty="0">
                <a:solidFill>
                  <a:schemeClr val="accent2">
                    <a:lumMod val="75000"/>
                  </a:schemeClr>
                </a:solidFill>
              </a:rPr>
              <a:t>– Pros</a:t>
            </a:r>
            <a:endParaRPr lang="fr-MA" dirty="0"/>
          </a:p>
        </p:txBody>
      </p:sp>
      <p:sp>
        <p:nvSpPr>
          <p:cNvPr id="4" name="Rectangle 5">
            <a:extLst>
              <a:ext uri="{FF2B5EF4-FFF2-40B4-BE49-F238E27FC236}">
                <a16:creationId xmlns:a16="http://schemas.microsoft.com/office/drawing/2014/main" id="{91D46E77-941F-B779-C1FF-D959FB217380}"/>
              </a:ext>
            </a:extLst>
          </p:cNvPr>
          <p:cNvSpPr>
            <a:spLocks noGrp="1" noChangeArrowheads="1"/>
          </p:cNvSpPr>
          <p:nvPr>
            <p:ph idx="1"/>
          </p:nvPr>
        </p:nvSpPr>
        <p:spPr bwMode="auto">
          <a:xfrm>
            <a:off x="1371600" y="1402672"/>
            <a:ext cx="9960015" cy="5348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indent="-342900" algn="l">
              <a:buFont typeface="+mj-lt"/>
              <a:buAutoNum type="arabicPeriod"/>
            </a:pPr>
            <a:r>
              <a:rPr lang="fr-FR" sz="1800" dirty="0">
                <a:solidFill>
                  <a:srgbClr val="000000"/>
                </a:solidFill>
                <a:latin typeface="Söhne"/>
              </a:rPr>
              <a:t>Une utilisation optimale du parc des machines (répartition des machines virtuelles sur les machines physiques en fonction des charges respectives),</a:t>
            </a:r>
          </a:p>
          <a:p>
            <a:pPr marL="342900" indent="-342900" algn="l">
              <a:buFont typeface="+mj-lt"/>
              <a:buAutoNum type="arabicPeriod"/>
            </a:pPr>
            <a:endParaRPr lang="fr-FR" sz="1800" dirty="0">
              <a:solidFill>
                <a:srgbClr val="000000"/>
              </a:solidFill>
              <a:latin typeface="Söhne"/>
            </a:endParaRPr>
          </a:p>
          <a:p>
            <a:pPr marL="342900" indent="-342900" algn="l">
              <a:buFont typeface="+mj-lt"/>
              <a:buAutoNum type="arabicPeriod"/>
            </a:pPr>
            <a:r>
              <a:rPr lang="fr-FR" sz="1800" dirty="0">
                <a:solidFill>
                  <a:srgbClr val="000000"/>
                </a:solidFill>
                <a:latin typeface="Söhne"/>
              </a:rPr>
              <a:t>La mutualisation des machines a un impact fort sur la réduction des coûts en matériel, et en exploitation (consommation électrique minimisée, entretien physique simplifié, surveillance, support amélioré, etc.)</a:t>
            </a:r>
          </a:p>
          <a:p>
            <a:pPr marL="342900" indent="-342900" algn="l">
              <a:buFont typeface="+mj-lt"/>
              <a:buAutoNum type="arabicPeriod"/>
            </a:pPr>
            <a:endParaRPr lang="fr-FR" sz="1800" dirty="0">
              <a:solidFill>
                <a:srgbClr val="000000"/>
              </a:solidFill>
              <a:latin typeface="Söhne"/>
            </a:endParaRPr>
          </a:p>
          <a:p>
            <a:pPr marL="342900" indent="-342900" algn="l">
              <a:buFont typeface="+mj-lt"/>
              <a:buAutoNum type="arabicPeriod"/>
            </a:pPr>
            <a:r>
              <a:rPr lang="fr-FR" sz="1800" dirty="0">
                <a:solidFill>
                  <a:srgbClr val="000000"/>
                </a:solidFill>
                <a:latin typeface="Söhne"/>
              </a:rPr>
              <a:t>Les environnements fortement virtualisés simplifient l’installation, les tests, les développements, et permettent de répondre à différents points sans casser le système d’exploitation hôte.</a:t>
            </a:r>
          </a:p>
          <a:p>
            <a:pPr marL="342900" indent="-342900" algn="l">
              <a:buFont typeface="+mj-lt"/>
              <a:buAutoNum type="arabicPeriod"/>
            </a:pPr>
            <a:endParaRPr lang="fr-FR" sz="1800" dirty="0">
              <a:solidFill>
                <a:srgbClr val="000000"/>
              </a:solidFill>
              <a:latin typeface="Söhne"/>
            </a:endParaRPr>
          </a:p>
          <a:p>
            <a:pPr marL="342900" indent="-342900" algn="l">
              <a:buFont typeface="+mj-lt"/>
              <a:buAutoNum type="arabicPeriod"/>
            </a:pPr>
            <a:r>
              <a:rPr lang="fr-FR" sz="1800" dirty="0">
                <a:solidFill>
                  <a:srgbClr val="000000"/>
                </a:solidFill>
                <a:latin typeface="Söhne"/>
              </a:rPr>
              <a:t>Les gains en sécurisation d’un réseau vu que les systèmes d’exploitation virtuels ne sont pas toujours visibles à l’attaquant</a:t>
            </a:r>
          </a:p>
          <a:p>
            <a:pPr marL="342900" indent="-342900" algn="l">
              <a:buFont typeface="+mj-lt"/>
              <a:buAutoNum type="arabicPeriod"/>
            </a:pPr>
            <a:endParaRPr lang="fr-FR" sz="1800" dirty="0">
              <a:solidFill>
                <a:srgbClr val="000000"/>
              </a:solidFill>
              <a:latin typeface="Söhne"/>
            </a:endParaRPr>
          </a:p>
          <a:p>
            <a:pPr marL="342900" indent="-342900" algn="l">
              <a:buFont typeface="+mj-lt"/>
              <a:buAutoNum type="arabicPeriod"/>
            </a:pPr>
            <a:r>
              <a:rPr lang="fr-FR" sz="1800" dirty="0">
                <a:solidFill>
                  <a:srgbClr val="000000"/>
                </a:solidFill>
                <a:latin typeface="Söhne"/>
              </a:rPr>
              <a:t>La virtualisation permet aussi une allocation dynamique de la puissance de calcul en fonction des besoins de chaque application à un instant donné,</a:t>
            </a:r>
          </a:p>
          <a:p>
            <a:pPr marL="342900" indent="-342900" algn="l">
              <a:buFont typeface="+mj-lt"/>
              <a:buAutoNum type="arabicPeriod"/>
            </a:pPr>
            <a:endParaRPr lang="fr-FR" sz="1800" dirty="0">
              <a:solidFill>
                <a:srgbClr val="000000"/>
              </a:solidFill>
              <a:latin typeface="Söhne"/>
            </a:endParaRPr>
          </a:p>
          <a:p>
            <a:pPr marL="342900" indent="-342900" algn="l">
              <a:buFont typeface="+mj-lt"/>
              <a:buAutoNum type="arabicPeriod"/>
            </a:pPr>
            <a:r>
              <a:rPr lang="fr-FR" sz="1800" dirty="0">
                <a:solidFill>
                  <a:srgbClr val="000000"/>
                </a:solidFill>
                <a:latin typeface="Söhne"/>
              </a:rPr>
              <a:t>Flexibilité des ressource et dimensionnement des serveurs lors de la définition de l’architecture d’une application vu que l’ajout de puissance est transparent.</a:t>
            </a:r>
            <a:endParaRPr lang="fr-MA" sz="1800" dirty="0">
              <a:solidFill>
                <a:srgbClr val="000000"/>
              </a:solidFill>
              <a:latin typeface="Söhne"/>
            </a:endParaRPr>
          </a:p>
          <a:p>
            <a:pPr algn="l">
              <a:buFont typeface="+mj-lt"/>
              <a:buAutoNum type="arabicPeriod"/>
            </a:pPr>
            <a:endParaRPr lang="fr-FR" sz="1800" dirty="0">
              <a:solidFill>
                <a:srgbClr val="000000"/>
              </a:solidFill>
              <a:latin typeface="Söhne"/>
            </a:endParaRPr>
          </a:p>
        </p:txBody>
      </p:sp>
    </p:spTree>
    <p:extLst>
      <p:ext uri="{BB962C8B-B14F-4D97-AF65-F5344CB8AC3E}">
        <p14:creationId xmlns:p14="http://schemas.microsoft.com/office/powerpoint/2010/main" val="19356766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6312CC-35FC-A7E8-04E6-0F9CB70B4FFA}"/>
              </a:ext>
            </a:extLst>
          </p:cNvPr>
          <p:cNvSpPr>
            <a:spLocks noGrp="1"/>
          </p:cNvSpPr>
          <p:nvPr>
            <p:ph type="title"/>
          </p:nvPr>
        </p:nvSpPr>
        <p:spPr>
          <a:xfrm>
            <a:off x="1371600" y="685800"/>
            <a:ext cx="10820400" cy="1485900"/>
          </a:xfrm>
        </p:spPr>
        <p:txBody>
          <a:bodyPr>
            <a:normAutofit/>
          </a:bodyPr>
          <a:lstStyle/>
          <a:p>
            <a:r>
              <a:rPr lang="fr-FR" dirty="0"/>
              <a:t>Virtualisation des Serveurs </a:t>
            </a:r>
            <a:r>
              <a:rPr lang="fr-FR" dirty="0">
                <a:solidFill>
                  <a:schemeClr val="accent2">
                    <a:lumMod val="75000"/>
                  </a:schemeClr>
                </a:solidFill>
              </a:rPr>
              <a:t>–Cons</a:t>
            </a:r>
            <a:endParaRPr lang="fr-MA" dirty="0"/>
          </a:p>
        </p:txBody>
      </p:sp>
      <p:sp>
        <p:nvSpPr>
          <p:cNvPr id="4" name="Rectangle 5">
            <a:extLst>
              <a:ext uri="{FF2B5EF4-FFF2-40B4-BE49-F238E27FC236}">
                <a16:creationId xmlns:a16="http://schemas.microsoft.com/office/drawing/2014/main" id="{91D46E77-941F-B779-C1FF-D959FB217380}"/>
              </a:ext>
            </a:extLst>
          </p:cNvPr>
          <p:cNvSpPr>
            <a:spLocks noGrp="1" noChangeArrowheads="1"/>
          </p:cNvSpPr>
          <p:nvPr>
            <p:ph idx="1"/>
          </p:nvPr>
        </p:nvSpPr>
        <p:spPr bwMode="auto">
          <a:xfrm>
            <a:off x="1371600" y="2149946"/>
            <a:ext cx="9809544" cy="4306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indent="-342900">
              <a:buFont typeface="+mj-lt"/>
              <a:buAutoNum type="arabicPeriod"/>
            </a:pPr>
            <a:r>
              <a:rPr lang="fr-FR" sz="1800" b="1" dirty="0">
                <a:solidFill>
                  <a:srgbClr val="000000"/>
                </a:solidFill>
                <a:latin typeface="Söhne"/>
              </a:rPr>
              <a:t>Complexité de la configuration </a:t>
            </a:r>
            <a:r>
              <a:rPr lang="fr-FR" sz="1800" dirty="0">
                <a:solidFill>
                  <a:srgbClr val="000000"/>
                </a:solidFill>
                <a:latin typeface="Söhne"/>
              </a:rPr>
              <a:t>: peut être plus complexe que celle de la virtualisation de type 2. Cela nécessite généralement une planification minutieuse, une expertise technique et des compétences spécifiques en gestion de serveurs.</a:t>
            </a:r>
          </a:p>
          <a:p>
            <a:pPr marL="342900" indent="-342900">
              <a:buFont typeface="+mj-lt"/>
              <a:buAutoNum type="arabicPeriod"/>
            </a:pPr>
            <a:endParaRPr lang="fr-FR" sz="1800" dirty="0">
              <a:solidFill>
                <a:srgbClr val="000000"/>
              </a:solidFill>
              <a:latin typeface="Söhne"/>
            </a:endParaRPr>
          </a:p>
          <a:p>
            <a:pPr marL="342900" indent="-342900">
              <a:buFont typeface="+mj-lt"/>
              <a:buAutoNum type="arabicPeriod"/>
            </a:pPr>
            <a:r>
              <a:rPr lang="fr-FR" sz="1800" b="1" dirty="0">
                <a:solidFill>
                  <a:srgbClr val="000000"/>
                </a:solidFill>
                <a:latin typeface="Söhne"/>
              </a:rPr>
              <a:t>Utilisation des ressources matérielles </a:t>
            </a:r>
            <a:r>
              <a:rPr lang="fr-FR" sz="1800" dirty="0">
                <a:solidFill>
                  <a:srgbClr val="000000"/>
                </a:solidFill>
                <a:latin typeface="Söhne"/>
              </a:rPr>
              <a:t>: plus exigeants en termes de ressources matérielles, car ils s'exécutent directement sur le matériel. Cela signifie qu'ils peuvent nécessiter des serveurs plus puissants avec une quantité significative de mémoire et de puissance de calcul.</a:t>
            </a:r>
          </a:p>
          <a:p>
            <a:pPr marL="342900" indent="-342900">
              <a:buFont typeface="+mj-lt"/>
              <a:buAutoNum type="arabicPeriod"/>
            </a:pPr>
            <a:endParaRPr lang="fr-FR" sz="1800" b="1" dirty="0">
              <a:solidFill>
                <a:srgbClr val="000000"/>
              </a:solidFill>
              <a:latin typeface="Söhne"/>
            </a:endParaRPr>
          </a:p>
          <a:p>
            <a:pPr marL="342900" indent="-342900">
              <a:buFont typeface="+mj-lt"/>
              <a:buAutoNum type="arabicPeriod"/>
            </a:pPr>
            <a:r>
              <a:rPr lang="fr-FR" sz="1800" b="1" dirty="0">
                <a:solidFill>
                  <a:srgbClr val="000000"/>
                </a:solidFill>
                <a:latin typeface="Söhne"/>
              </a:rPr>
              <a:t>Coût initial </a:t>
            </a:r>
            <a:r>
              <a:rPr lang="fr-FR" sz="1800" dirty="0">
                <a:solidFill>
                  <a:srgbClr val="000000"/>
                </a:solidFill>
                <a:latin typeface="Söhne"/>
              </a:rPr>
              <a:t>: coûts initiaux plus élevés en termes d'achat de matériel, de licences logicielles et de maintenance, ce qui peut rendre l'adoption plus onéreuse pour les petites entreprises.</a:t>
            </a:r>
          </a:p>
          <a:p>
            <a:pPr marL="342900" indent="-342900">
              <a:buFont typeface="+mj-lt"/>
              <a:buAutoNum type="arabicPeriod"/>
            </a:pPr>
            <a:endParaRPr lang="fr-FR" sz="1800" b="1" dirty="0">
              <a:solidFill>
                <a:srgbClr val="000000"/>
              </a:solidFill>
              <a:latin typeface="Söhne"/>
            </a:endParaRPr>
          </a:p>
          <a:p>
            <a:pPr marL="342900" indent="-342900">
              <a:buFont typeface="+mj-lt"/>
              <a:buAutoNum type="arabicPeriod"/>
            </a:pPr>
            <a:r>
              <a:rPr lang="fr-FR" sz="1800" b="1" dirty="0">
                <a:solidFill>
                  <a:srgbClr val="000000"/>
                </a:solidFill>
                <a:latin typeface="Söhne"/>
              </a:rPr>
              <a:t>Complexité de la gestion </a:t>
            </a:r>
            <a:r>
              <a:rPr lang="fr-FR" sz="1800" dirty="0">
                <a:solidFill>
                  <a:srgbClr val="000000"/>
                </a:solidFill>
                <a:latin typeface="Söhne"/>
              </a:rPr>
              <a:t>: Compétences avancées nécessaires en administration de serveurs.</a:t>
            </a:r>
          </a:p>
          <a:p>
            <a:pPr marL="342900" indent="-342900">
              <a:buFont typeface="+mj-lt"/>
              <a:buAutoNum type="arabicPeriod"/>
            </a:pPr>
            <a:endParaRPr lang="fr-FR" sz="1800" b="1" dirty="0">
              <a:solidFill>
                <a:srgbClr val="000000"/>
              </a:solidFill>
              <a:latin typeface="Söhne"/>
            </a:endParaRPr>
          </a:p>
          <a:p>
            <a:pPr marL="342900" indent="-342900">
              <a:buFont typeface="+mj-lt"/>
              <a:buAutoNum type="arabicPeriod"/>
            </a:pPr>
            <a:r>
              <a:rPr lang="fr-FR" sz="1800" b="1" dirty="0">
                <a:solidFill>
                  <a:srgbClr val="000000"/>
                </a:solidFill>
                <a:latin typeface="Söhne"/>
              </a:rPr>
              <a:t>Sécurité</a:t>
            </a:r>
            <a:r>
              <a:rPr lang="fr-FR" sz="1800" dirty="0">
                <a:solidFill>
                  <a:srgbClr val="000000"/>
                </a:solidFill>
                <a:latin typeface="Söhne"/>
              </a:rPr>
              <a:t> : Bien qu’elle offre généralement un haut niveau de sécurité, elle peut également présenter des risques potentiels si elle n'est pas correctement configurée et sécurisée.</a:t>
            </a:r>
          </a:p>
        </p:txBody>
      </p:sp>
    </p:spTree>
    <p:extLst>
      <p:ext uri="{BB962C8B-B14F-4D97-AF65-F5344CB8AC3E}">
        <p14:creationId xmlns:p14="http://schemas.microsoft.com/office/powerpoint/2010/main" val="2764809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00FCD0-C730-779C-F13A-D24521E27EFD}"/>
              </a:ext>
            </a:extLst>
          </p:cNvPr>
          <p:cNvSpPr>
            <a:spLocks noGrp="1"/>
          </p:cNvSpPr>
          <p:nvPr>
            <p:ph type="title"/>
          </p:nvPr>
        </p:nvSpPr>
        <p:spPr/>
        <p:txBody>
          <a:bodyPr/>
          <a:lstStyle/>
          <a:p>
            <a:r>
              <a:rPr lang="fr-FR" dirty="0"/>
              <a:t>Virtualisation du stockage </a:t>
            </a:r>
            <a:r>
              <a:rPr lang="fr-FR" dirty="0">
                <a:solidFill>
                  <a:schemeClr val="accent2">
                    <a:lumMod val="75000"/>
                  </a:schemeClr>
                </a:solidFill>
              </a:rPr>
              <a:t>- Aperçu</a:t>
            </a:r>
            <a:endParaRPr lang="fr-MA" dirty="0">
              <a:solidFill>
                <a:schemeClr val="accent2">
                  <a:lumMod val="75000"/>
                </a:schemeClr>
              </a:solidFill>
            </a:endParaRPr>
          </a:p>
        </p:txBody>
      </p:sp>
      <p:sp>
        <p:nvSpPr>
          <p:cNvPr id="8" name="Espace réservé du contenu 7">
            <a:extLst>
              <a:ext uri="{FF2B5EF4-FFF2-40B4-BE49-F238E27FC236}">
                <a16:creationId xmlns:a16="http://schemas.microsoft.com/office/drawing/2014/main" id="{BAEF542E-8F10-99FD-52FB-CBB630E5EF45}"/>
              </a:ext>
            </a:extLst>
          </p:cNvPr>
          <p:cNvSpPr>
            <a:spLocks noGrp="1"/>
          </p:cNvSpPr>
          <p:nvPr>
            <p:ph idx="1"/>
          </p:nvPr>
        </p:nvSpPr>
        <p:spPr>
          <a:xfrm>
            <a:off x="970158" y="2285999"/>
            <a:ext cx="5965902" cy="4270917"/>
          </a:xfrm>
        </p:spPr>
        <p:txBody>
          <a:bodyPr>
            <a:normAutofit/>
          </a:bodyPr>
          <a:lstStyle/>
          <a:p>
            <a:pPr marL="342900" lvl="0" indent="-342900" algn="just">
              <a:lnSpc>
                <a:spcPct val="150000"/>
              </a:lnSpc>
              <a:spcBef>
                <a:spcPts val="600"/>
              </a:spcBef>
              <a:buFont typeface="Symbol" panose="05050102010706020507" pitchFamily="18" charset="2"/>
              <a:buChar char=""/>
              <a:tabLst>
                <a:tab pos="5018088" algn="l"/>
                <a:tab pos="5475288" algn="l"/>
                <a:tab pos="5564188" algn="l"/>
                <a:tab pos="5743575" algn="l"/>
              </a:tabLst>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Définition</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P</a:t>
            </a:r>
            <a:r>
              <a:rPr lang="fr-FR" sz="1800" kern="100" dirty="0" err="1">
                <a:latin typeface="Times New Roman" panose="02020603050405020304" pitchFamily="18" charset="0"/>
                <a:ea typeface="Calibri" panose="020F0502020204030204" pitchFamily="34" charset="0"/>
                <a:cs typeface="Times New Roman" panose="02020603050405020304" pitchFamily="18" charset="0"/>
              </a:rPr>
              <a:t>ermet</a:t>
            </a:r>
            <a:r>
              <a:rPr lang="fr-FR" sz="1800" kern="100" dirty="0">
                <a:latin typeface="Times New Roman" panose="02020603050405020304" pitchFamily="18" charset="0"/>
                <a:ea typeface="Calibri" panose="020F0502020204030204" pitchFamily="34" charset="0"/>
                <a:cs typeface="Times New Roman" panose="02020603050405020304" pitchFamily="18" charset="0"/>
              </a:rPr>
              <a:t> de regrouper plusieurs ressources de stockage physiques en un seul pool de stockage logique, que l'on peut ensuite gérer de manière centralisée. </a:t>
            </a:r>
          </a:p>
          <a:p>
            <a:pPr marL="342900" lvl="0" indent="-342900" algn="just">
              <a:lnSpc>
                <a:spcPct val="150000"/>
              </a:lnSpc>
              <a:spcBef>
                <a:spcPts val="600"/>
              </a:spcBef>
              <a:buFont typeface="Symbol" panose="05050102010706020507" pitchFamily="18" charset="2"/>
              <a:buChar char=""/>
              <a:tabLst>
                <a:tab pos="5018088" algn="l"/>
                <a:tab pos="5475288" algn="l"/>
                <a:tab pos="5564188" algn="l"/>
                <a:tab pos="5743575" algn="l"/>
              </a:tabLst>
            </a:pPr>
            <a:r>
              <a:rPr lang="fr-FR" sz="1800" b="1" kern="100" dirty="0">
                <a:latin typeface="Times New Roman" panose="02020603050405020304" pitchFamily="18" charset="0"/>
                <a:ea typeface="Calibri" panose="020F0502020204030204" pitchFamily="34" charset="0"/>
                <a:cs typeface="Times New Roman" panose="02020603050405020304" pitchFamily="18" charset="0"/>
              </a:rPr>
              <a:t>Objectif</a:t>
            </a:r>
            <a:r>
              <a:rPr lang="fr-FR" sz="1800" kern="100" dirty="0">
                <a:latin typeface="Times New Roman" panose="02020603050405020304" pitchFamily="18" charset="0"/>
                <a:ea typeface="Calibri" panose="020F0502020204030204" pitchFamily="34" charset="0"/>
                <a:cs typeface="Times New Roman" panose="02020603050405020304" pitchFamily="18" charset="0"/>
              </a:rPr>
              <a:t> : Simplifier la gestion du stockage, améliorer l'efficacité et la flexibilité de l'utilisation des ressources de stockage, et fournir une abstraction entre les applications et le matériel de stockage sous-jacent.</a:t>
            </a:r>
            <a:endParaRPr lang="fr-MA"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3554" name="Picture 2" descr="What is Storage Virtualization? Simple Explanation with Diagram">
            <a:extLst>
              <a:ext uri="{FF2B5EF4-FFF2-40B4-BE49-F238E27FC236}">
                <a16:creationId xmlns:a16="http://schemas.microsoft.com/office/drawing/2014/main" id="{8244D067-D200-87C3-9C2D-9E172CB346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1717173"/>
            <a:ext cx="4953000" cy="496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18211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8B651-B840-E103-7E03-92A6B554A8D5}"/>
              </a:ext>
            </a:extLst>
          </p:cNvPr>
          <p:cNvSpPr>
            <a:spLocks noGrp="1"/>
          </p:cNvSpPr>
          <p:nvPr>
            <p:ph type="title"/>
          </p:nvPr>
        </p:nvSpPr>
        <p:spPr/>
        <p:txBody>
          <a:bodyPr/>
          <a:lstStyle/>
          <a:p>
            <a:r>
              <a:rPr lang="fr-FR" dirty="0"/>
              <a:t>Virtualisation du stockage </a:t>
            </a:r>
            <a:r>
              <a:rPr lang="fr-FR" dirty="0">
                <a:solidFill>
                  <a:schemeClr val="accent2">
                    <a:lumMod val="75000"/>
                  </a:schemeClr>
                </a:solidFill>
              </a:rPr>
              <a:t>– utilités</a:t>
            </a:r>
            <a:endParaRPr lang="fr-MA" dirty="0"/>
          </a:p>
        </p:txBody>
      </p:sp>
      <p:sp>
        <p:nvSpPr>
          <p:cNvPr id="3" name="Espace réservé du contenu 2">
            <a:extLst>
              <a:ext uri="{FF2B5EF4-FFF2-40B4-BE49-F238E27FC236}">
                <a16:creationId xmlns:a16="http://schemas.microsoft.com/office/drawing/2014/main" id="{59278EDB-CC45-E9F2-736C-6AA224F2C2DC}"/>
              </a:ext>
            </a:extLst>
          </p:cNvPr>
          <p:cNvSpPr>
            <a:spLocks noGrp="1"/>
          </p:cNvSpPr>
          <p:nvPr>
            <p:ph idx="1"/>
          </p:nvPr>
        </p:nvSpPr>
        <p:spPr>
          <a:xfrm>
            <a:off x="1449659" y="1750741"/>
            <a:ext cx="9601200" cy="4750420"/>
          </a:xfrm>
        </p:spPr>
        <p:txBody>
          <a:bodyPr>
            <a:normAutofit fontScale="85000" lnSpcReduction="10000"/>
          </a:bodyPr>
          <a:lstStyle/>
          <a:p>
            <a:r>
              <a:rPr lang="fr-FR" b="1" dirty="0"/>
              <a:t>Abstraction</a:t>
            </a:r>
            <a:r>
              <a:rPr lang="fr-FR" dirty="0"/>
              <a:t> : crée une couche d'abstraction entre les applications et les ressources de stockage physiques. Cela signifie que les applications n'ont pas besoin de connaître l'emplacement ou les détails techniques des disques physiques sur lesquels leurs données sont stockées.</a:t>
            </a:r>
          </a:p>
          <a:p>
            <a:r>
              <a:rPr lang="fr-FR" b="1" dirty="0"/>
              <a:t>Agrégation</a:t>
            </a:r>
            <a:r>
              <a:rPr lang="fr-FR" dirty="0"/>
              <a:t> : Les ressources de stockage physiques, qu'il s'agisse de disques durs, de baies de stockage ou d'autres dispositifs, sont regroupées en un pool de stockage unique. Cela permet de gérer l'ensemble du pool de manière centralisée.</a:t>
            </a:r>
          </a:p>
          <a:p>
            <a:r>
              <a:rPr lang="fr-FR" b="1" dirty="0"/>
              <a:t>Répartition de Charge </a:t>
            </a:r>
            <a:r>
              <a:rPr lang="fr-FR" dirty="0"/>
              <a:t>: Les données peuvent être réparties de manière automatique et équilibrée entre les ressources de stockage disponibles, ce qui permet d'améliorer les performances et la disponibilité.</a:t>
            </a:r>
          </a:p>
          <a:p>
            <a:r>
              <a:rPr lang="fr-FR" b="1" dirty="0"/>
              <a:t>Redondance et Haute Disponibilité </a:t>
            </a:r>
            <a:r>
              <a:rPr lang="fr-FR" dirty="0"/>
              <a:t>: Les solutions de virtualisation du stockage incluent souvent des fonctionnalités de redondance et de haute disponibilité pour garantir que les données restent accessibles en cas de panne matérielle.</a:t>
            </a:r>
          </a:p>
          <a:p>
            <a:r>
              <a:rPr lang="fr-FR" b="1" dirty="0"/>
              <a:t>Optimisation de l'Espace </a:t>
            </a:r>
            <a:r>
              <a:rPr lang="fr-FR" dirty="0"/>
              <a:t>: La virtualisation du stockage peut également inclure des fonctionnalités d'optimisation de l'espace, telles que la déduplication et la compression, pour réduire l'utilisation des ressources de stockage.</a:t>
            </a:r>
          </a:p>
          <a:p>
            <a:r>
              <a:rPr lang="fr-FR" b="1" dirty="0"/>
              <a:t>Gestion Centralisée </a:t>
            </a:r>
            <a:r>
              <a:rPr lang="fr-FR" dirty="0"/>
              <a:t>: Les administrateurs peuvent gérer l'ensemble du pool de stockage à partir d'une console de gestion centralisée, ce qui simplifie la gestion et la surveillance.</a:t>
            </a:r>
          </a:p>
        </p:txBody>
      </p:sp>
    </p:spTree>
    <p:extLst>
      <p:ext uri="{BB962C8B-B14F-4D97-AF65-F5344CB8AC3E}">
        <p14:creationId xmlns:p14="http://schemas.microsoft.com/office/powerpoint/2010/main" val="37361215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a:xfrm>
            <a:off x="1371600" y="685800"/>
            <a:ext cx="9601200" cy="2202366"/>
          </a:xfrm>
        </p:spPr>
        <p:txBody>
          <a:bodyPr>
            <a:normAutofit/>
          </a:bodyPr>
          <a:lstStyle/>
          <a:p>
            <a:r>
              <a:rPr lang="fr-FR" dirty="0"/>
              <a:t>Virtualisation du stockage </a:t>
            </a:r>
            <a:r>
              <a:rPr lang="fr-FR" dirty="0">
                <a:solidFill>
                  <a:schemeClr val="accent2">
                    <a:lumMod val="75000"/>
                  </a:schemeClr>
                </a:solidFill>
              </a:rPr>
              <a:t>– RAID</a:t>
            </a:r>
            <a:br>
              <a:rPr lang="fr-FR" dirty="0">
                <a:solidFill>
                  <a:schemeClr val="accent2">
                    <a:lumMod val="75000"/>
                  </a:schemeClr>
                </a:solidFill>
              </a:rPr>
            </a:br>
            <a:br>
              <a:rPr lang="fr-FR" dirty="0">
                <a:solidFill>
                  <a:schemeClr val="accent2">
                    <a:lumMod val="75000"/>
                  </a:schemeClr>
                </a:solidFill>
              </a:rPr>
            </a:br>
            <a:r>
              <a:rPr lang="en-US" sz="3200" b="1" dirty="0">
                <a:solidFill>
                  <a:schemeClr val="accent2">
                    <a:lumMod val="75000"/>
                  </a:schemeClr>
                </a:solidFill>
              </a:rPr>
              <a:t>R</a:t>
            </a:r>
            <a:r>
              <a:rPr lang="en-US" sz="3200" dirty="0">
                <a:solidFill>
                  <a:schemeClr val="accent2">
                    <a:lumMod val="75000"/>
                  </a:schemeClr>
                </a:solidFill>
              </a:rPr>
              <a:t>edundant </a:t>
            </a:r>
            <a:r>
              <a:rPr lang="en-US" sz="3200" b="1" dirty="0">
                <a:solidFill>
                  <a:schemeClr val="accent2">
                    <a:lumMod val="75000"/>
                  </a:schemeClr>
                </a:solidFill>
              </a:rPr>
              <a:t>A</a:t>
            </a:r>
            <a:r>
              <a:rPr lang="en-US" sz="3200" dirty="0">
                <a:solidFill>
                  <a:schemeClr val="accent2">
                    <a:lumMod val="75000"/>
                  </a:schemeClr>
                </a:solidFill>
              </a:rPr>
              <a:t>rray of </a:t>
            </a:r>
            <a:r>
              <a:rPr lang="en-US" sz="3200" b="1" dirty="0">
                <a:solidFill>
                  <a:schemeClr val="accent2">
                    <a:lumMod val="75000"/>
                  </a:schemeClr>
                </a:solidFill>
              </a:rPr>
              <a:t>I</a:t>
            </a:r>
            <a:r>
              <a:rPr lang="en-US" sz="3200" dirty="0">
                <a:solidFill>
                  <a:schemeClr val="accent2">
                    <a:lumMod val="75000"/>
                  </a:schemeClr>
                </a:solidFill>
              </a:rPr>
              <a:t>ndependent </a:t>
            </a:r>
            <a:r>
              <a:rPr lang="en-US" sz="3200" b="1" dirty="0">
                <a:solidFill>
                  <a:schemeClr val="accent2">
                    <a:lumMod val="75000"/>
                  </a:schemeClr>
                </a:solidFill>
              </a:rPr>
              <a:t>D</a:t>
            </a:r>
            <a:r>
              <a:rPr lang="en-US" sz="3200" dirty="0">
                <a:solidFill>
                  <a:schemeClr val="accent2">
                    <a:lumMod val="75000"/>
                  </a:schemeClr>
                </a:solidFill>
              </a:rPr>
              <a:t>isks</a:t>
            </a:r>
            <a:endParaRPr lang="fr-MA" sz="3200" dirty="0">
              <a:solidFill>
                <a:schemeClr val="accent2">
                  <a:lumMod val="75000"/>
                </a:schemeClr>
              </a:solidFill>
            </a:endParaRPr>
          </a:p>
        </p:txBody>
      </p:sp>
      <p:pic>
        <p:nvPicPr>
          <p:cNvPr id="27650" name="Picture 2" descr="Understanding RAID Storage for Back-up &amp; Archiving | How to Archive">
            <a:extLst>
              <a:ext uri="{FF2B5EF4-FFF2-40B4-BE49-F238E27FC236}">
                <a16:creationId xmlns:a16="http://schemas.microsoft.com/office/drawing/2014/main" id="{0B5BAA0C-BC16-4940-3828-7EDE16B70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450" y="2576899"/>
            <a:ext cx="3382855" cy="1704201"/>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63468E01-DA03-48F6-3586-681D5815E567}"/>
              </a:ext>
            </a:extLst>
          </p:cNvPr>
          <p:cNvPicPr>
            <a:picLocks noChangeAspect="1"/>
          </p:cNvPicPr>
          <p:nvPr/>
        </p:nvPicPr>
        <p:blipFill>
          <a:blip r:embed="rId3"/>
          <a:stretch>
            <a:fillRect/>
          </a:stretch>
        </p:blipFill>
        <p:spPr>
          <a:xfrm>
            <a:off x="4840897" y="3205597"/>
            <a:ext cx="3238952" cy="3010320"/>
          </a:xfrm>
          <a:prstGeom prst="rect">
            <a:avLst/>
          </a:prstGeom>
          <a:ln>
            <a:solidFill>
              <a:schemeClr val="tx1"/>
            </a:solidFill>
          </a:ln>
        </p:spPr>
      </p:pic>
      <p:pic>
        <p:nvPicPr>
          <p:cNvPr id="7" name="Image 6">
            <a:extLst>
              <a:ext uri="{FF2B5EF4-FFF2-40B4-BE49-F238E27FC236}">
                <a16:creationId xmlns:a16="http://schemas.microsoft.com/office/drawing/2014/main" id="{0D9078A8-E545-AE0A-A428-A3645E04A359}"/>
              </a:ext>
            </a:extLst>
          </p:cNvPr>
          <p:cNvPicPr>
            <a:picLocks noChangeAspect="1"/>
          </p:cNvPicPr>
          <p:nvPr/>
        </p:nvPicPr>
        <p:blipFill>
          <a:blip r:embed="rId4"/>
          <a:stretch>
            <a:fillRect/>
          </a:stretch>
        </p:blipFill>
        <p:spPr>
          <a:xfrm>
            <a:off x="1659439" y="4724371"/>
            <a:ext cx="1734248" cy="2148959"/>
          </a:xfrm>
          <a:prstGeom prst="rect">
            <a:avLst/>
          </a:prstGeom>
        </p:spPr>
      </p:pic>
      <p:sp>
        <p:nvSpPr>
          <p:cNvPr id="8" name="ZoneTexte 7">
            <a:extLst>
              <a:ext uri="{FF2B5EF4-FFF2-40B4-BE49-F238E27FC236}">
                <a16:creationId xmlns:a16="http://schemas.microsoft.com/office/drawing/2014/main" id="{9BF28AB7-29AD-7121-717E-AA9E16F4256F}"/>
              </a:ext>
            </a:extLst>
          </p:cNvPr>
          <p:cNvSpPr txBox="1"/>
          <p:nvPr/>
        </p:nvSpPr>
        <p:spPr>
          <a:xfrm>
            <a:off x="2062907" y="4237939"/>
            <a:ext cx="864339" cy="307777"/>
          </a:xfrm>
          <a:prstGeom prst="rect">
            <a:avLst/>
          </a:prstGeom>
          <a:noFill/>
        </p:spPr>
        <p:txBody>
          <a:bodyPr wrap="none" rtlCol="0">
            <a:spAutoFit/>
          </a:bodyPr>
          <a:lstStyle/>
          <a:p>
            <a:r>
              <a:rPr lang="fr-FR" sz="1400" b="1" dirty="0">
                <a:solidFill>
                  <a:schemeClr val="accent2">
                    <a:lumMod val="75000"/>
                  </a:schemeClr>
                </a:solidFill>
              </a:rPr>
              <a:t>Stripping</a:t>
            </a:r>
            <a:endParaRPr lang="fr-MA" sz="1400" b="1" dirty="0">
              <a:solidFill>
                <a:schemeClr val="accent2">
                  <a:lumMod val="75000"/>
                </a:schemeClr>
              </a:solidFill>
            </a:endParaRPr>
          </a:p>
        </p:txBody>
      </p:sp>
      <p:sp>
        <p:nvSpPr>
          <p:cNvPr id="9" name="ZoneTexte 8">
            <a:extLst>
              <a:ext uri="{FF2B5EF4-FFF2-40B4-BE49-F238E27FC236}">
                <a16:creationId xmlns:a16="http://schemas.microsoft.com/office/drawing/2014/main" id="{0A9EF594-6D12-D82B-4D09-712958C43546}"/>
              </a:ext>
            </a:extLst>
          </p:cNvPr>
          <p:cNvSpPr txBox="1"/>
          <p:nvPr/>
        </p:nvSpPr>
        <p:spPr>
          <a:xfrm>
            <a:off x="2070520" y="6601812"/>
            <a:ext cx="867482" cy="307777"/>
          </a:xfrm>
          <a:prstGeom prst="rect">
            <a:avLst/>
          </a:prstGeom>
          <a:noFill/>
        </p:spPr>
        <p:txBody>
          <a:bodyPr wrap="none" rtlCol="0">
            <a:spAutoFit/>
          </a:bodyPr>
          <a:lstStyle/>
          <a:p>
            <a:r>
              <a:rPr lang="fr-FR" sz="1400" b="1" dirty="0">
                <a:solidFill>
                  <a:schemeClr val="accent2">
                    <a:lumMod val="75000"/>
                  </a:schemeClr>
                </a:solidFill>
              </a:rPr>
              <a:t>mirroring</a:t>
            </a:r>
            <a:endParaRPr lang="fr-MA" sz="1400" b="1" dirty="0">
              <a:solidFill>
                <a:schemeClr val="accent2">
                  <a:lumMod val="75000"/>
                </a:schemeClr>
              </a:solidFill>
            </a:endParaRPr>
          </a:p>
        </p:txBody>
      </p:sp>
      <p:pic>
        <p:nvPicPr>
          <p:cNvPr id="27656" name="Picture 8" descr="What Is RAID: Everything You Need to Know">
            <a:extLst>
              <a:ext uri="{FF2B5EF4-FFF2-40B4-BE49-F238E27FC236}">
                <a16:creationId xmlns:a16="http://schemas.microsoft.com/office/drawing/2014/main" id="{C5DC79D8-A02D-0885-6854-66F664518D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26331" y="2007692"/>
            <a:ext cx="2857500" cy="2114550"/>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a:extLst>
              <a:ext uri="{FF2B5EF4-FFF2-40B4-BE49-F238E27FC236}">
                <a16:creationId xmlns:a16="http://schemas.microsoft.com/office/drawing/2014/main" id="{5D13369A-F7A4-9B8C-10FA-00F2C3B3F83B}"/>
              </a:ext>
            </a:extLst>
          </p:cNvPr>
          <p:cNvSpPr txBox="1"/>
          <p:nvPr/>
        </p:nvSpPr>
        <p:spPr>
          <a:xfrm>
            <a:off x="8889386" y="4130307"/>
            <a:ext cx="3464868" cy="307777"/>
          </a:xfrm>
          <a:prstGeom prst="rect">
            <a:avLst/>
          </a:prstGeom>
          <a:noFill/>
        </p:spPr>
        <p:txBody>
          <a:bodyPr wrap="square" rtlCol="0">
            <a:spAutoFit/>
          </a:bodyPr>
          <a:lstStyle>
            <a:defPPr>
              <a:defRPr lang="en-US"/>
            </a:defPPr>
            <a:lvl1pPr>
              <a:defRPr sz="1400" b="1">
                <a:solidFill>
                  <a:schemeClr val="accent2">
                    <a:lumMod val="75000"/>
                  </a:schemeClr>
                </a:solidFill>
              </a:defRPr>
            </a:lvl1pPr>
          </a:lstStyle>
          <a:p>
            <a:r>
              <a:rPr lang="fr-MA" dirty="0"/>
              <a:t>Equilibre performances et redondance</a:t>
            </a:r>
          </a:p>
        </p:txBody>
      </p:sp>
      <p:pic>
        <p:nvPicPr>
          <p:cNvPr id="27658" name="Picture 10" descr="Business Storage NAS OS User Manuals - RAID MODES | Seagate US">
            <a:extLst>
              <a:ext uri="{FF2B5EF4-FFF2-40B4-BE49-F238E27FC236}">
                <a16:creationId xmlns:a16="http://schemas.microsoft.com/office/drawing/2014/main" id="{1841B2A8-C48B-A49A-B57A-76707E4B65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97110" y="4724371"/>
            <a:ext cx="3464868" cy="1813642"/>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67282CD8-81EA-A788-DCE7-3828F025CF44}"/>
              </a:ext>
            </a:extLst>
          </p:cNvPr>
          <p:cNvSpPr txBox="1"/>
          <p:nvPr/>
        </p:nvSpPr>
        <p:spPr>
          <a:xfrm>
            <a:off x="8611567" y="6533348"/>
            <a:ext cx="3835287" cy="307777"/>
          </a:xfrm>
          <a:prstGeom prst="rect">
            <a:avLst/>
          </a:prstGeom>
          <a:noFill/>
        </p:spPr>
        <p:txBody>
          <a:bodyPr wrap="square" rtlCol="0">
            <a:spAutoFit/>
          </a:bodyPr>
          <a:lstStyle>
            <a:defPPr>
              <a:defRPr lang="en-US"/>
            </a:defPPr>
            <a:lvl1pPr>
              <a:defRPr sz="1400" b="1">
                <a:solidFill>
                  <a:schemeClr val="accent2">
                    <a:lumMod val="75000"/>
                  </a:schemeClr>
                </a:solidFill>
              </a:defRPr>
            </a:lvl1pPr>
          </a:lstStyle>
          <a:p>
            <a:r>
              <a:rPr lang="fr-MA" dirty="0"/>
              <a:t>Performances élevée et redondance complète</a:t>
            </a:r>
          </a:p>
        </p:txBody>
      </p:sp>
    </p:spTree>
    <p:extLst>
      <p:ext uri="{BB962C8B-B14F-4D97-AF65-F5344CB8AC3E}">
        <p14:creationId xmlns:p14="http://schemas.microsoft.com/office/powerpoint/2010/main" val="1431782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8638D-7EE3-A607-1C83-E3E4EA6A0B2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EA41DBD-D8FD-0865-F0DF-719786A1404E}"/>
              </a:ext>
            </a:extLst>
          </p:cNvPr>
          <p:cNvSpPr>
            <a:spLocks noGrp="1"/>
          </p:cNvSpPr>
          <p:nvPr>
            <p:ph type="title"/>
          </p:nvPr>
        </p:nvSpPr>
        <p:spPr>
          <a:xfrm>
            <a:off x="1371600" y="685800"/>
            <a:ext cx="9601200" cy="2202366"/>
          </a:xfrm>
        </p:spPr>
        <p:txBody>
          <a:bodyPr>
            <a:normAutofit/>
          </a:bodyPr>
          <a:lstStyle/>
          <a:p>
            <a:r>
              <a:rPr lang="fr-FR" dirty="0"/>
              <a:t>Virtualisation du stockage </a:t>
            </a:r>
            <a:r>
              <a:rPr lang="fr-FR" dirty="0">
                <a:solidFill>
                  <a:schemeClr val="accent2">
                    <a:lumMod val="75000"/>
                  </a:schemeClr>
                </a:solidFill>
              </a:rPr>
              <a:t>– RAID</a:t>
            </a:r>
            <a:br>
              <a:rPr lang="fr-FR" dirty="0">
                <a:solidFill>
                  <a:schemeClr val="accent2">
                    <a:lumMod val="75000"/>
                  </a:schemeClr>
                </a:solidFill>
              </a:rPr>
            </a:br>
            <a:br>
              <a:rPr lang="fr-FR" dirty="0">
                <a:solidFill>
                  <a:schemeClr val="accent2">
                    <a:lumMod val="75000"/>
                  </a:schemeClr>
                </a:solidFill>
              </a:rPr>
            </a:br>
            <a:r>
              <a:rPr lang="en-US" sz="3200" b="1" dirty="0">
                <a:solidFill>
                  <a:schemeClr val="accent2">
                    <a:lumMod val="75000"/>
                  </a:schemeClr>
                </a:solidFill>
              </a:rPr>
              <a:t>R</a:t>
            </a:r>
            <a:r>
              <a:rPr lang="en-US" sz="3200" dirty="0">
                <a:solidFill>
                  <a:schemeClr val="accent2">
                    <a:lumMod val="75000"/>
                  </a:schemeClr>
                </a:solidFill>
              </a:rPr>
              <a:t>edundant </a:t>
            </a:r>
            <a:r>
              <a:rPr lang="en-US" sz="3200" b="1" dirty="0">
                <a:solidFill>
                  <a:schemeClr val="accent2">
                    <a:lumMod val="75000"/>
                  </a:schemeClr>
                </a:solidFill>
              </a:rPr>
              <a:t>A</a:t>
            </a:r>
            <a:r>
              <a:rPr lang="en-US" sz="3200" dirty="0">
                <a:solidFill>
                  <a:schemeClr val="accent2">
                    <a:lumMod val="75000"/>
                  </a:schemeClr>
                </a:solidFill>
              </a:rPr>
              <a:t>rray of </a:t>
            </a:r>
            <a:r>
              <a:rPr lang="en-US" sz="3200" b="1" dirty="0">
                <a:solidFill>
                  <a:schemeClr val="accent2">
                    <a:lumMod val="75000"/>
                  </a:schemeClr>
                </a:solidFill>
              </a:rPr>
              <a:t>I</a:t>
            </a:r>
            <a:r>
              <a:rPr lang="en-US" sz="3200" dirty="0">
                <a:solidFill>
                  <a:schemeClr val="accent2">
                    <a:lumMod val="75000"/>
                  </a:schemeClr>
                </a:solidFill>
              </a:rPr>
              <a:t>ndependent </a:t>
            </a:r>
            <a:r>
              <a:rPr lang="en-US" sz="3200" b="1" dirty="0">
                <a:solidFill>
                  <a:schemeClr val="accent2">
                    <a:lumMod val="75000"/>
                  </a:schemeClr>
                </a:solidFill>
              </a:rPr>
              <a:t>D</a:t>
            </a:r>
            <a:r>
              <a:rPr lang="en-US" sz="3200" dirty="0">
                <a:solidFill>
                  <a:schemeClr val="accent2">
                    <a:lumMod val="75000"/>
                  </a:schemeClr>
                </a:solidFill>
              </a:rPr>
              <a:t>isks</a:t>
            </a:r>
            <a:endParaRPr lang="fr-MA" sz="3200" dirty="0">
              <a:solidFill>
                <a:schemeClr val="accent2">
                  <a:lumMod val="75000"/>
                </a:schemeClr>
              </a:solidFill>
            </a:endParaRPr>
          </a:p>
        </p:txBody>
      </p:sp>
      <p:pic>
        <p:nvPicPr>
          <p:cNvPr id="4" name="Picture 3">
            <a:extLst>
              <a:ext uri="{FF2B5EF4-FFF2-40B4-BE49-F238E27FC236}">
                <a16:creationId xmlns:a16="http://schemas.microsoft.com/office/drawing/2014/main" id="{A2AF1A7C-3EAB-DEDC-2EA3-0DF705A53468}"/>
              </a:ext>
            </a:extLst>
          </p:cNvPr>
          <p:cNvPicPr>
            <a:picLocks noChangeAspect="1"/>
          </p:cNvPicPr>
          <p:nvPr/>
        </p:nvPicPr>
        <p:blipFill>
          <a:blip r:embed="rId2"/>
          <a:stretch>
            <a:fillRect/>
          </a:stretch>
        </p:blipFill>
        <p:spPr>
          <a:xfrm>
            <a:off x="963706" y="1451689"/>
            <a:ext cx="10416988" cy="4837824"/>
          </a:xfrm>
          <a:prstGeom prst="rect">
            <a:avLst/>
          </a:prstGeom>
        </p:spPr>
      </p:pic>
      <p:sp>
        <p:nvSpPr>
          <p:cNvPr id="6" name="Oval 5">
            <a:extLst>
              <a:ext uri="{FF2B5EF4-FFF2-40B4-BE49-F238E27FC236}">
                <a16:creationId xmlns:a16="http://schemas.microsoft.com/office/drawing/2014/main" id="{53AF3F6F-F6B6-07AE-2B32-09D0D8D72231}"/>
              </a:ext>
            </a:extLst>
          </p:cNvPr>
          <p:cNvSpPr/>
          <p:nvPr/>
        </p:nvSpPr>
        <p:spPr>
          <a:xfrm>
            <a:off x="5199531" y="4610988"/>
            <a:ext cx="591670" cy="304799"/>
          </a:xfrm>
          <a:prstGeom prst="ellipse">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E890CB4-D1DE-CF85-F95F-22702782705B}"/>
              </a:ext>
            </a:extLst>
          </p:cNvPr>
          <p:cNvSpPr/>
          <p:nvPr/>
        </p:nvSpPr>
        <p:spPr>
          <a:xfrm>
            <a:off x="5244356" y="6019800"/>
            <a:ext cx="591670" cy="304799"/>
          </a:xfrm>
          <a:prstGeom prst="ellipse">
            <a:avLst/>
          </a:pr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0061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a:xfrm>
            <a:off x="1371600" y="685800"/>
            <a:ext cx="10790378" cy="2202366"/>
          </a:xfrm>
        </p:spPr>
        <p:txBody>
          <a:bodyPr>
            <a:normAutofit/>
          </a:bodyPr>
          <a:lstStyle/>
          <a:p>
            <a:r>
              <a:rPr lang="fr-FR" sz="4000" dirty="0"/>
              <a:t>Virtualisation du stockage </a:t>
            </a:r>
            <a:r>
              <a:rPr lang="fr-FR" sz="4000" dirty="0">
                <a:solidFill>
                  <a:schemeClr val="accent2">
                    <a:lumMod val="75000"/>
                  </a:schemeClr>
                </a:solidFill>
              </a:rPr>
              <a:t>-</a:t>
            </a:r>
            <a:r>
              <a:rPr lang="fr-FR" sz="4000" dirty="0"/>
              <a:t> </a:t>
            </a:r>
            <a:r>
              <a:rPr lang="fr-FR" sz="4000" dirty="0">
                <a:solidFill>
                  <a:schemeClr val="accent2">
                    <a:lumMod val="75000"/>
                  </a:schemeClr>
                </a:solidFill>
              </a:rPr>
              <a:t>DAS/NAS/SAN</a:t>
            </a:r>
            <a:endParaRPr lang="fr-MA" sz="2800" dirty="0">
              <a:solidFill>
                <a:schemeClr val="accent2">
                  <a:lumMod val="75000"/>
                </a:schemeClr>
              </a:solidFill>
            </a:endParaRPr>
          </a:p>
        </p:txBody>
      </p:sp>
      <p:pic>
        <p:nvPicPr>
          <p:cNvPr id="29698" name="Picture 2" descr="Storage Types (DAS, NAS &amp; SAN) - Networkwalks Academy">
            <a:extLst>
              <a:ext uri="{FF2B5EF4-FFF2-40B4-BE49-F238E27FC236}">
                <a16:creationId xmlns:a16="http://schemas.microsoft.com/office/drawing/2014/main" id="{C9E16C23-BD04-102E-C6F2-36D78AB830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641435"/>
            <a:ext cx="10502096" cy="4922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338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a:xfrm>
            <a:off x="1371600" y="685800"/>
            <a:ext cx="10790378" cy="2202366"/>
          </a:xfrm>
        </p:spPr>
        <p:txBody>
          <a:bodyPr>
            <a:normAutofit/>
          </a:bodyPr>
          <a:lstStyle/>
          <a:p>
            <a:r>
              <a:rPr lang="fr-FR" sz="4000" dirty="0"/>
              <a:t>Virtualisation du stockage </a:t>
            </a:r>
            <a:r>
              <a:rPr lang="fr-FR" sz="4000" dirty="0">
                <a:solidFill>
                  <a:schemeClr val="accent2">
                    <a:lumMod val="75000"/>
                  </a:schemeClr>
                </a:solidFill>
              </a:rPr>
              <a:t>-</a:t>
            </a:r>
            <a:r>
              <a:rPr lang="fr-FR" sz="4000" dirty="0"/>
              <a:t> </a:t>
            </a:r>
            <a:r>
              <a:rPr lang="fr-FR" sz="4000" dirty="0">
                <a:solidFill>
                  <a:schemeClr val="accent2">
                    <a:lumMod val="75000"/>
                  </a:schemeClr>
                </a:solidFill>
              </a:rPr>
              <a:t>DAS</a:t>
            </a:r>
            <a:endParaRPr lang="fr-MA" sz="2800" dirty="0">
              <a:solidFill>
                <a:schemeClr val="accent2">
                  <a:lumMod val="75000"/>
                </a:schemeClr>
              </a:solidFill>
            </a:endParaRPr>
          </a:p>
        </p:txBody>
      </p:sp>
      <p:pic>
        <p:nvPicPr>
          <p:cNvPr id="30722" name="Picture 2" descr="5 Direct Attached Storage DAS - YouTube">
            <a:extLst>
              <a:ext uri="{FF2B5EF4-FFF2-40B4-BE49-F238E27FC236}">
                <a16:creationId xmlns:a16="http://schemas.microsoft.com/office/drawing/2014/main" id="{C75D0838-FBF7-1D82-3727-D5F0C0F0CD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9122" y="2384948"/>
            <a:ext cx="5273287" cy="2966224"/>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contenu 2">
            <a:extLst>
              <a:ext uri="{FF2B5EF4-FFF2-40B4-BE49-F238E27FC236}">
                <a16:creationId xmlns:a16="http://schemas.microsoft.com/office/drawing/2014/main" id="{1387DA2E-FA61-23E0-7D3B-3940DE427B55}"/>
              </a:ext>
            </a:extLst>
          </p:cNvPr>
          <p:cNvSpPr>
            <a:spLocks noGrp="1"/>
          </p:cNvSpPr>
          <p:nvPr>
            <p:ph idx="1"/>
          </p:nvPr>
        </p:nvSpPr>
        <p:spPr>
          <a:xfrm>
            <a:off x="1136310" y="1810872"/>
            <a:ext cx="10338514" cy="4692912"/>
          </a:xfrm>
        </p:spPr>
        <p:txBody>
          <a:bodyPr>
            <a:normAutofit/>
          </a:bodyPr>
          <a:lstStyle/>
          <a:p>
            <a:r>
              <a:rPr lang="fr-FR" sz="1700" dirty="0"/>
              <a:t>Une architecture de stockage dans laquelle les dispositifs de stockage sont directement connectés à un seul serveur ou à un seul ordinateur, sans passer par un réseau de stockage partagé.</a:t>
            </a:r>
          </a:p>
          <a:p>
            <a:pPr>
              <a:lnSpc>
                <a:spcPct val="104000"/>
              </a:lnSpc>
            </a:pPr>
            <a:r>
              <a:rPr lang="fr-FR" sz="1700" dirty="0"/>
              <a:t>Avantage : </a:t>
            </a:r>
          </a:p>
          <a:p>
            <a:pPr lvl="1">
              <a:lnSpc>
                <a:spcPct val="104000"/>
              </a:lnSpc>
            </a:pPr>
            <a:r>
              <a:rPr lang="fr-FR" sz="1700" dirty="0"/>
              <a:t>Performance, </a:t>
            </a:r>
          </a:p>
          <a:p>
            <a:pPr lvl="1">
              <a:lnSpc>
                <a:spcPct val="104000"/>
              </a:lnSpc>
            </a:pPr>
            <a:r>
              <a:rPr lang="fr-FR" sz="1700" dirty="0"/>
              <a:t>Simplicité, </a:t>
            </a:r>
          </a:p>
          <a:p>
            <a:pPr lvl="1">
              <a:lnSpc>
                <a:spcPct val="104000"/>
              </a:lnSpc>
            </a:pPr>
            <a:r>
              <a:rPr lang="fr-FR" sz="1700" dirty="0"/>
              <a:t>Coût, </a:t>
            </a:r>
          </a:p>
          <a:p>
            <a:pPr lvl="1">
              <a:lnSpc>
                <a:spcPct val="104000"/>
              </a:lnSpc>
            </a:pPr>
            <a:r>
              <a:rPr lang="fr-FR" sz="1700" dirty="0"/>
              <a:t>Isolation</a:t>
            </a:r>
          </a:p>
          <a:p>
            <a:pPr>
              <a:lnSpc>
                <a:spcPct val="104000"/>
              </a:lnSpc>
            </a:pPr>
            <a:r>
              <a:rPr lang="fr-FR" sz="1700" dirty="0"/>
              <a:t>Inconvénients :</a:t>
            </a:r>
          </a:p>
          <a:p>
            <a:pPr lvl="1">
              <a:lnSpc>
                <a:spcPct val="104000"/>
              </a:lnSpc>
            </a:pPr>
            <a:r>
              <a:rPr lang="fr-FR" sz="1700" dirty="0"/>
              <a:t>Extensibilité Limitée, </a:t>
            </a:r>
          </a:p>
          <a:p>
            <a:pPr lvl="1">
              <a:lnSpc>
                <a:spcPct val="104000"/>
              </a:lnSpc>
            </a:pPr>
            <a:r>
              <a:rPr lang="fr-FR" sz="1700" dirty="0"/>
              <a:t>Gestion Dispersée, </a:t>
            </a:r>
          </a:p>
          <a:p>
            <a:pPr lvl="1">
              <a:lnSpc>
                <a:spcPct val="104000"/>
              </a:lnSpc>
            </a:pPr>
            <a:r>
              <a:rPr lang="fr-FR" sz="1700" dirty="0"/>
              <a:t>Manque de Partage, </a:t>
            </a:r>
          </a:p>
          <a:p>
            <a:pPr lvl="1">
              <a:lnSpc>
                <a:spcPct val="104000"/>
              </a:lnSpc>
            </a:pPr>
            <a:r>
              <a:rPr lang="fr-FR" sz="1700" dirty="0"/>
              <a:t>Risques de Panne .</a:t>
            </a:r>
          </a:p>
        </p:txBody>
      </p:sp>
      <p:grpSp>
        <p:nvGrpSpPr>
          <p:cNvPr id="9" name="Group 8">
            <a:extLst>
              <a:ext uri="{FF2B5EF4-FFF2-40B4-BE49-F238E27FC236}">
                <a16:creationId xmlns:a16="http://schemas.microsoft.com/office/drawing/2014/main" id="{A2CF71AC-7067-9866-B9F9-3FD7B363D392}"/>
              </a:ext>
            </a:extLst>
          </p:cNvPr>
          <p:cNvGrpSpPr/>
          <p:nvPr/>
        </p:nvGrpSpPr>
        <p:grpSpPr>
          <a:xfrm>
            <a:off x="4190444" y="5363736"/>
            <a:ext cx="5537119" cy="1487798"/>
            <a:chOff x="6153719" y="5363736"/>
            <a:chExt cx="5537119" cy="1487798"/>
          </a:xfrm>
        </p:grpSpPr>
        <p:pic>
          <p:nvPicPr>
            <p:cNvPr id="30724" name="Picture 4" descr="0.5 Meter eSATA (I to I Style) Data Cable">
              <a:extLst>
                <a:ext uri="{FF2B5EF4-FFF2-40B4-BE49-F238E27FC236}">
                  <a16:creationId xmlns:a16="http://schemas.microsoft.com/office/drawing/2014/main" id="{5FD227ED-F604-1ABF-C950-3789386D8D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6721" y="5363736"/>
              <a:ext cx="1569185" cy="1240462"/>
            </a:xfrm>
            <a:prstGeom prst="rect">
              <a:avLst/>
            </a:prstGeom>
            <a:noFill/>
            <a:extLst>
              <a:ext uri="{909E8E84-426E-40DD-AFC4-6F175D3DCCD1}">
                <a14:hiddenFill xmlns:a14="http://schemas.microsoft.com/office/drawing/2010/main">
                  <a:solidFill>
                    <a:srgbClr val="FFFFFF"/>
                  </a:solidFill>
                </a14:hiddenFill>
              </a:ext>
            </a:extLst>
          </p:spPr>
        </p:pic>
        <p:pic>
          <p:nvPicPr>
            <p:cNvPr id="30726" name="Picture 6" descr="20m LC/FC Duplex 9/125 Singlemode Bend Insensitive Fiber Patch Cable -  Yellow">
              <a:extLst>
                <a:ext uri="{FF2B5EF4-FFF2-40B4-BE49-F238E27FC236}">
                  <a16:creationId xmlns:a16="http://schemas.microsoft.com/office/drawing/2014/main" id="{E409F9B1-AC5D-5CB8-DF44-394DA8D76E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3359" y="5363736"/>
              <a:ext cx="1375461" cy="1375461"/>
            </a:xfrm>
            <a:prstGeom prst="rect">
              <a:avLst/>
            </a:prstGeom>
            <a:noFill/>
            <a:extLst>
              <a:ext uri="{909E8E84-426E-40DD-AFC4-6F175D3DCCD1}">
                <a14:hiddenFill xmlns:a14="http://schemas.microsoft.com/office/drawing/2010/main">
                  <a:solidFill>
                    <a:srgbClr val="FFFFFF"/>
                  </a:solidFill>
                </a14:hiddenFill>
              </a:ext>
            </a:extLst>
          </p:spPr>
        </p:pic>
        <p:pic>
          <p:nvPicPr>
            <p:cNvPr id="30728" name="Picture 8" descr="SAS Cable SFF-8087 to 4x Latching SATA - SAS Cables | StarTech.com Europe">
              <a:extLst>
                <a:ext uri="{FF2B5EF4-FFF2-40B4-BE49-F238E27FC236}">
                  <a16:creationId xmlns:a16="http://schemas.microsoft.com/office/drawing/2014/main" id="{E439653A-F197-FC42-056B-6CE69589C2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32636" y="5370208"/>
              <a:ext cx="1437372" cy="1437372"/>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571F4F51-6A37-0DD0-8093-34BBEF100DE0}"/>
                </a:ext>
              </a:extLst>
            </p:cNvPr>
            <p:cNvSpPr txBox="1"/>
            <p:nvPr/>
          </p:nvSpPr>
          <p:spPr>
            <a:xfrm>
              <a:off x="6153719" y="6534614"/>
              <a:ext cx="1643399" cy="307777"/>
            </a:xfrm>
            <a:prstGeom prst="rect">
              <a:avLst/>
            </a:prstGeom>
            <a:noFill/>
          </p:spPr>
          <p:txBody>
            <a:bodyPr wrap="none" rtlCol="0">
              <a:spAutoFit/>
            </a:bodyPr>
            <a:lstStyle/>
            <a:p>
              <a:r>
                <a:rPr lang="fr-MA" sz="1400" b="1" i="0" dirty="0">
                  <a:solidFill>
                    <a:schemeClr val="accent2">
                      <a:lumMod val="75000"/>
                    </a:schemeClr>
                  </a:solidFill>
                  <a:effectLst/>
                  <a:latin typeface="Söhne"/>
                </a:rPr>
                <a:t>1.5 Gb/s </a:t>
              </a:r>
              <a:r>
                <a:rPr lang="fr-MA" sz="1400" b="1" i="0" dirty="0">
                  <a:solidFill>
                    <a:schemeClr val="accent2">
                      <a:lumMod val="75000"/>
                    </a:schemeClr>
                  </a:solidFill>
                  <a:effectLst/>
                  <a:latin typeface="Söhne"/>
                  <a:sym typeface="Wingdings" panose="05000000000000000000" pitchFamily="2" charset="2"/>
                </a:rPr>
                <a:t></a:t>
              </a:r>
              <a:r>
                <a:rPr lang="fr-MA" sz="1400" b="1" i="0" dirty="0">
                  <a:solidFill>
                    <a:schemeClr val="accent2">
                      <a:lumMod val="75000"/>
                    </a:schemeClr>
                  </a:solidFill>
                  <a:effectLst/>
                  <a:latin typeface="Söhne"/>
                </a:rPr>
                <a:t> 12 Gb/s</a:t>
              </a:r>
              <a:endParaRPr lang="fr-MA" sz="1400" b="1" dirty="0">
                <a:solidFill>
                  <a:schemeClr val="accent2">
                    <a:lumMod val="75000"/>
                  </a:schemeClr>
                </a:solidFill>
              </a:endParaRPr>
            </a:p>
          </p:txBody>
        </p:sp>
        <p:sp>
          <p:nvSpPr>
            <p:cNvPr id="5" name="ZoneTexte 4">
              <a:extLst>
                <a:ext uri="{FF2B5EF4-FFF2-40B4-BE49-F238E27FC236}">
                  <a16:creationId xmlns:a16="http://schemas.microsoft.com/office/drawing/2014/main" id="{417AB84B-2636-42B8-3AC8-EB30337829E6}"/>
                </a:ext>
              </a:extLst>
            </p:cNvPr>
            <p:cNvSpPr txBox="1"/>
            <p:nvPr/>
          </p:nvSpPr>
          <p:spPr>
            <a:xfrm>
              <a:off x="8335535" y="6543757"/>
              <a:ext cx="1503938" cy="307777"/>
            </a:xfrm>
            <a:prstGeom prst="rect">
              <a:avLst/>
            </a:prstGeom>
            <a:noFill/>
          </p:spPr>
          <p:txBody>
            <a:bodyPr wrap="none" rtlCol="0">
              <a:spAutoFit/>
            </a:bodyPr>
            <a:lstStyle/>
            <a:p>
              <a:r>
                <a:rPr lang="fr-MA" sz="1400" b="1" dirty="0">
                  <a:solidFill>
                    <a:schemeClr val="accent2">
                      <a:lumMod val="75000"/>
                    </a:schemeClr>
                  </a:solidFill>
                  <a:latin typeface="Söhne"/>
                </a:rPr>
                <a:t>2</a:t>
              </a:r>
              <a:r>
                <a:rPr lang="fr-MA" sz="1400" b="1" i="0" dirty="0">
                  <a:solidFill>
                    <a:schemeClr val="accent2">
                      <a:lumMod val="75000"/>
                    </a:schemeClr>
                  </a:solidFill>
                  <a:effectLst/>
                  <a:latin typeface="Söhne"/>
                </a:rPr>
                <a:t> Gb/s </a:t>
              </a:r>
              <a:r>
                <a:rPr lang="fr-MA" sz="1400" b="1" i="0" dirty="0">
                  <a:solidFill>
                    <a:schemeClr val="accent2">
                      <a:lumMod val="75000"/>
                    </a:schemeClr>
                  </a:solidFill>
                  <a:effectLst/>
                  <a:latin typeface="Söhne"/>
                  <a:sym typeface="Wingdings" panose="05000000000000000000" pitchFamily="2" charset="2"/>
                </a:rPr>
                <a:t></a:t>
              </a:r>
              <a:r>
                <a:rPr lang="fr-MA" sz="1400" b="1" i="0" dirty="0">
                  <a:solidFill>
                    <a:schemeClr val="accent2">
                      <a:lumMod val="75000"/>
                    </a:schemeClr>
                  </a:solidFill>
                  <a:effectLst/>
                  <a:latin typeface="Söhne"/>
                </a:rPr>
                <a:t> 32 Gb/s</a:t>
              </a:r>
              <a:endParaRPr lang="fr-MA" sz="1400" b="1" dirty="0">
                <a:solidFill>
                  <a:schemeClr val="accent2">
                    <a:lumMod val="75000"/>
                  </a:schemeClr>
                </a:solidFill>
              </a:endParaRPr>
            </a:p>
          </p:txBody>
        </p:sp>
        <p:sp>
          <p:nvSpPr>
            <p:cNvPr id="6" name="ZoneTexte 5">
              <a:extLst>
                <a:ext uri="{FF2B5EF4-FFF2-40B4-BE49-F238E27FC236}">
                  <a16:creationId xmlns:a16="http://schemas.microsoft.com/office/drawing/2014/main" id="{56CE2A07-B47A-42CB-CA12-5839656D99A4}"/>
                </a:ext>
              </a:extLst>
            </p:cNvPr>
            <p:cNvSpPr txBox="1"/>
            <p:nvPr/>
          </p:nvSpPr>
          <p:spPr>
            <a:xfrm>
              <a:off x="10186900" y="6535280"/>
              <a:ext cx="1503938" cy="307777"/>
            </a:xfrm>
            <a:prstGeom prst="rect">
              <a:avLst/>
            </a:prstGeom>
            <a:noFill/>
          </p:spPr>
          <p:txBody>
            <a:bodyPr wrap="none" rtlCol="0">
              <a:spAutoFit/>
            </a:bodyPr>
            <a:lstStyle/>
            <a:p>
              <a:r>
                <a:rPr lang="fr-MA" sz="1400" b="1" i="0" dirty="0">
                  <a:solidFill>
                    <a:schemeClr val="accent2">
                      <a:lumMod val="75000"/>
                    </a:schemeClr>
                  </a:solidFill>
                  <a:effectLst/>
                  <a:latin typeface="Söhne"/>
                </a:rPr>
                <a:t>3 Gb/s </a:t>
              </a:r>
              <a:r>
                <a:rPr lang="fr-MA" sz="1400" b="1" i="0" dirty="0">
                  <a:solidFill>
                    <a:schemeClr val="accent2">
                      <a:lumMod val="75000"/>
                    </a:schemeClr>
                  </a:solidFill>
                  <a:effectLst/>
                  <a:latin typeface="Söhne"/>
                  <a:sym typeface="Wingdings" panose="05000000000000000000" pitchFamily="2" charset="2"/>
                </a:rPr>
                <a:t></a:t>
              </a:r>
              <a:r>
                <a:rPr lang="fr-MA" sz="1400" b="1" i="0" dirty="0">
                  <a:solidFill>
                    <a:schemeClr val="accent2">
                      <a:lumMod val="75000"/>
                    </a:schemeClr>
                  </a:solidFill>
                  <a:effectLst/>
                  <a:latin typeface="Söhne"/>
                </a:rPr>
                <a:t> 24 Gb/s</a:t>
              </a:r>
              <a:endParaRPr lang="fr-MA" sz="1400" b="1" dirty="0">
                <a:solidFill>
                  <a:schemeClr val="accent2">
                    <a:lumMod val="75000"/>
                  </a:schemeClr>
                </a:solidFill>
              </a:endParaRPr>
            </a:p>
          </p:txBody>
        </p:sp>
      </p:grpSp>
      <p:pic>
        <p:nvPicPr>
          <p:cNvPr id="8" name="Picture 7">
            <a:extLst>
              <a:ext uri="{FF2B5EF4-FFF2-40B4-BE49-F238E27FC236}">
                <a16:creationId xmlns:a16="http://schemas.microsoft.com/office/drawing/2014/main" id="{E868305F-C2B5-F1C2-C031-31023D43EA7D}"/>
              </a:ext>
            </a:extLst>
          </p:cNvPr>
          <p:cNvPicPr>
            <a:picLocks noChangeAspect="1"/>
          </p:cNvPicPr>
          <p:nvPr/>
        </p:nvPicPr>
        <p:blipFill>
          <a:blip r:embed="rId6"/>
          <a:stretch>
            <a:fillRect/>
          </a:stretch>
        </p:blipFill>
        <p:spPr>
          <a:xfrm>
            <a:off x="9391533" y="3110952"/>
            <a:ext cx="2772471" cy="3696628"/>
          </a:xfrm>
          <a:prstGeom prst="rect">
            <a:avLst/>
          </a:prstGeom>
        </p:spPr>
      </p:pic>
    </p:spTree>
    <p:extLst>
      <p:ext uri="{BB962C8B-B14F-4D97-AF65-F5344CB8AC3E}">
        <p14:creationId xmlns:p14="http://schemas.microsoft.com/office/powerpoint/2010/main" val="648048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a:xfrm>
            <a:off x="1371600" y="685800"/>
            <a:ext cx="10790378" cy="2202366"/>
          </a:xfrm>
        </p:spPr>
        <p:txBody>
          <a:bodyPr>
            <a:normAutofit/>
          </a:bodyPr>
          <a:lstStyle/>
          <a:p>
            <a:r>
              <a:rPr lang="fr-FR" sz="4000" dirty="0"/>
              <a:t>Virtualisation du stockage </a:t>
            </a:r>
            <a:r>
              <a:rPr lang="fr-FR" sz="4000" dirty="0">
                <a:solidFill>
                  <a:schemeClr val="accent2">
                    <a:lumMod val="75000"/>
                  </a:schemeClr>
                </a:solidFill>
              </a:rPr>
              <a:t>-</a:t>
            </a:r>
            <a:r>
              <a:rPr lang="fr-FR" sz="4000" dirty="0"/>
              <a:t> </a:t>
            </a:r>
            <a:r>
              <a:rPr lang="fr-FR" sz="4000" dirty="0">
                <a:solidFill>
                  <a:schemeClr val="accent2">
                    <a:lumMod val="75000"/>
                  </a:schemeClr>
                </a:solidFill>
              </a:rPr>
              <a:t>NAS</a:t>
            </a:r>
            <a:endParaRPr lang="fr-MA" sz="2800" dirty="0">
              <a:solidFill>
                <a:schemeClr val="accent2">
                  <a:lumMod val="75000"/>
                </a:schemeClr>
              </a:solidFill>
            </a:endParaRPr>
          </a:p>
        </p:txBody>
      </p:sp>
      <p:sp>
        <p:nvSpPr>
          <p:cNvPr id="3" name="Espace réservé du contenu 2">
            <a:extLst>
              <a:ext uri="{FF2B5EF4-FFF2-40B4-BE49-F238E27FC236}">
                <a16:creationId xmlns:a16="http://schemas.microsoft.com/office/drawing/2014/main" id="{1387DA2E-FA61-23E0-7D3B-3940DE427B55}"/>
              </a:ext>
            </a:extLst>
          </p:cNvPr>
          <p:cNvSpPr>
            <a:spLocks noGrp="1"/>
          </p:cNvSpPr>
          <p:nvPr>
            <p:ph idx="1"/>
          </p:nvPr>
        </p:nvSpPr>
        <p:spPr>
          <a:xfrm>
            <a:off x="1449659" y="1750741"/>
            <a:ext cx="6055112" cy="4750420"/>
          </a:xfrm>
        </p:spPr>
        <p:txBody>
          <a:bodyPr>
            <a:normAutofit/>
          </a:bodyPr>
          <a:lstStyle/>
          <a:p>
            <a:r>
              <a:rPr lang="fr-FR" sz="1600" b="1" dirty="0"/>
              <a:t>Network </a:t>
            </a:r>
            <a:r>
              <a:rPr lang="fr-FR" sz="1600" b="1" dirty="0" err="1"/>
              <a:t>Attached</a:t>
            </a:r>
            <a:r>
              <a:rPr lang="fr-FR" sz="1600" b="1" dirty="0"/>
              <a:t> Storage</a:t>
            </a:r>
            <a:r>
              <a:rPr lang="fr-FR" sz="1600" dirty="0"/>
              <a:t>, est un appareil de stockage dédié qui est connecté à un réseau et conçu pour stocker, gérer et partager des données avec d'autres appareils du réseau. </a:t>
            </a:r>
          </a:p>
          <a:p>
            <a:pPr>
              <a:lnSpc>
                <a:spcPct val="104000"/>
              </a:lnSpc>
            </a:pPr>
            <a:endParaRPr lang="fr-FR" sz="1600" dirty="0"/>
          </a:p>
          <a:p>
            <a:pPr>
              <a:lnSpc>
                <a:spcPct val="104000"/>
              </a:lnSpc>
            </a:pPr>
            <a:r>
              <a:rPr lang="fr-FR" sz="1600" dirty="0"/>
              <a:t>Avantage : </a:t>
            </a:r>
          </a:p>
          <a:p>
            <a:pPr lvl="1">
              <a:lnSpc>
                <a:spcPct val="104000"/>
              </a:lnSpc>
            </a:pPr>
            <a:r>
              <a:rPr lang="fr-MA" sz="1600" dirty="0"/>
              <a:t>Partage de Données</a:t>
            </a:r>
          </a:p>
          <a:p>
            <a:pPr lvl="1">
              <a:lnSpc>
                <a:spcPct val="104000"/>
              </a:lnSpc>
            </a:pPr>
            <a:r>
              <a:rPr lang="fr-MA" sz="1600" dirty="0"/>
              <a:t>Accessibilité à Distance</a:t>
            </a:r>
            <a:endParaRPr lang="fr-FR" sz="1600" dirty="0"/>
          </a:p>
          <a:p>
            <a:pPr lvl="1">
              <a:lnSpc>
                <a:spcPct val="104000"/>
              </a:lnSpc>
            </a:pPr>
            <a:endParaRPr lang="fr-FR" sz="1600" dirty="0"/>
          </a:p>
          <a:p>
            <a:pPr>
              <a:lnSpc>
                <a:spcPct val="104000"/>
              </a:lnSpc>
            </a:pPr>
            <a:r>
              <a:rPr lang="fr-FR" sz="1600" dirty="0"/>
              <a:t>Inconvénients :</a:t>
            </a:r>
          </a:p>
          <a:p>
            <a:pPr lvl="1">
              <a:lnSpc>
                <a:spcPct val="104000"/>
              </a:lnSpc>
            </a:pPr>
            <a:r>
              <a:rPr lang="fr-FR" sz="1600" dirty="0"/>
              <a:t>Cout initial, </a:t>
            </a:r>
          </a:p>
          <a:p>
            <a:pPr lvl="1">
              <a:lnSpc>
                <a:spcPct val="104000"/>
              </a:lnSpc>
            </a:pPr>
            <a:r>
              <a:rPr lang="fr-FR" sz="1600" dirty="0"/>
              <a:t>Performance</a:t>
            </a:r>
          </a:p>
        </p:txBody>
      </p:sp>
      <p:pic>
        <p:nvPicPr>
          <p:cNvPr id="31748" name="Picture 4" descr="NAS vs SAN Storage Detailed Comparison | Hypertec SP">
            <a:extLst>
              <a:ext uri="{FF2B5EF4-FFF2-40B4-BE49-F238E27FC236}">
                <a16:creationId xmlns:a16="http://schemas.microsoft.com/office/drawing/2014/main" id="{73AE8C2B-5C82-A6F5-0665-5A0BF6E5D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8947" y="1568114"/>
            <a:ext cx="3734265" cy="3442992"/>
          </a:xfrm>
          <a:prstGeom prst="rect">
            <a:avLst/>
          </a:prstGeom>
          <a:noFill/>
          <a:extLst>
            <a:ext uri="{909E8E84-426E-40DD-AFC4-6F175D3DCCD1}">
              <a14:hiddenFill xmlns:a14="http://schemas.microsoft.com/office/drawing/2010/main">
                <a:solidFill>
                  <a:srgbClr val="FFFFFF"/>
                </a:solidFill>
              </a14:hiddenFill>
            </a:ext>
          </a:extLst>
        </p:spPr>
      </p:pic>
      <p:pic>
        <p:nvPicPr>
          <p:cNvPr id="31750" name="Picture 6" descr="AS6004U - ASUSTOR NAS">
            <a:extLst>
              <a:ext uri="{FF2B5EF4-FFF2-40B4-BE49-F238E27FC236}">
                <a16:creationId xmlns:a16="http://schemas.microsoft.com/office/drawing/2014/main" id="{B3B27F7F-EB4A-52B5-B5CD-71EA18C5FC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6459" y="4807986"/>
            <a:ext cx="2372488" cy="2050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7114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a:xfrm>
            <a:off x="1371600" y="685800"/>
            <a:ext cx="10790378" cy="2202366"/>
          </a:xfrm>
        </p:spPr>
        <p:txBody>
          <a:bodyPr>
            <a:normAutofit/>
          </a:bodyPr>
          <a:lstStyle/>
          <a:p>
            <a:r>
              <a:rPr lang="fr-FR" sz="4000" dirty="0"/>
              <a:t>Virtualisation du stockage </a:t>
            </a:r>
            <a:r>
              <a:rPr lang="fr-FR" sz="4000" dirty="0">
                <a:solidFill>
                  <a:schemeClr val="accent2">
                    <a:lumMod val="75000"/>
                  </a:schemeClr>
                </a:solidFill>
              </a:rPr>
              <a:t>-</a:t>
            </a:r>
            <a:r>
              <a:rPr lang="fr-FR" sz="4000" dirty="0"/>
              <a:t> </a:t>
            </a:r>
            <a:r>
              <a:rPr lang="fr-FR" sz="4000" dirty="0">
                <a:solidFill>
                  <a:schemeClr val="accent2">
                    <a:lumMod val="75000"/>
                  </a:schemeClr>
                </a:solidFill>
              </a:rPr>
              <a:t>SAN</a:t>
            </a:r>
            <a:endParaRPr lang="fr-MA" sz="2800" dirty="0">
              <a:solidFill>
                <a:schemeClr val="accent2">
                  <a:lumMod val="75000"/>
                </a:schemeClr>
              </a:solidFill>
            </a:endParaRPr>
          </a:p>
        </p:txBody>
      </p:sp>
      <p:pic>
        <p:nvPicPr>
          <p:cNvPr id="32770" name="Picture 2" descr="SAN: Unified &amp; Integrated Enterprise Class On-demand Storage | Sify  cloudinfinit">
            <a:extLst>
              <a:ext uri="{FF2B5EF4-FFF2-40B4-BE49-F238E27FC236}">
                <a16:creationId xmlns:a16="http://schemas.microsoft.com/office/drawing/2014/main" id="{932D1523-AC97-ABC9-5E64-D8C91CBD3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3616" y="2128556"/>
            <a:ext cx="6958362" cy="4456046"/>
          </a:xfrm>
          <a:prstGeom prst="rect">
            <a:avLst/>
          </a:prstGeom>
          <a:noFill/>
          <a:extLst>
            <a:ext uri="{909E8E84-426E-40DD-AFC4-6F175D3DCCD1}">
              <a14:hiddenFill xmlns:a14="http://schemas.microsoft.com/office/drawing/2010/main">
                <a:solidFill>
                  <a:srgbClr val="FFFFFF"/>
                </a:solidFill>
              </a14:hiddenFill>
            </a:ext>
          </a:extLst>
        </p:spPr>
      </p:pic>
      <p:sp>
        <p:nvSpPr>
          <p:cNvPr id="5" name="Espace réservé du contenu 4">
            <a:extLst>
              <a:ext uri="{FF2B5EF4-FFF2-40B4-BE49-F238E27FC236}">
                <a16:creationId xmlns:a16="http://schemas.microsoft.com/office/drawing/2014/main" id="{9931BDF9-33CB-1F4C-8BD9-C515718A9AC7}"/>
              </a:ext>
            </a:extLst>
          </p:cNvPr>
          <p:cNvSpPr>
            <a:spLocks noGrp="1"/>
          </p:cNvSpPr>
          <p:nvPr>
            <p:ph idx="1"/>
          </p:nvPr>
        </p:nvSpPr>
        <p:spPr>
          <a:xfrm>
            <a:off x="1371600" y="1828800"/>
            <a:ext cx="9265920" cy="4653280"/>
          </a:xfrm>
        </p:spPr>
        <p:txBody>
          <a:bodyPr>
            <a:normAutofit/>
          </a:bodyPr>
          <a:lstStyle/>
          <a:p>
            <a:r>
              <a:rPr lang="fr-FR" sz="1600" b="1" dirty="0"/>
              <a:t>Storage Area Network</a:t>
            </a:r>
            <a:r>
              <a:rPr lang="fr-FR" sz="1600" dirty="0"/>
              <a:t>, est un réseau spécialisé conçu pour la gestion et le stockage de données. Il offre une infrastructure de stockage centralisée qui permet aux serveurs d'accéder à des dispositifs de stockage partagés de manière rapide et efficace. </a:t>
            </a:r>
          </a:p>
          <a:p>
            <a:endParaRPr lang="fr-FR" sz="1600" dirty="0"/>
          </a:p>
          <a:p>
            <a:pPr>
              <a:lnSpc>
                <a:spcPct val="104000"/>
              </a:lnSpc>
            </a:pPr>
            <a:r>
              <a:rPr lang="fr-FR" sz="1600" dirty="0"/>
              <a:t>Avantage : </a:t>
            </a:r>
          </a:p>
          <a:p>
            <a:pPr lvl="1">
              <a:lnSpc>
                <a:spcPct val="104000"/>
              </a:lnSpc>
            </a:pPr>
            <a:r>
              <a:rPr lang="fr-MA" sz="1600" dirty="0"/>
              <a:t>Stockage Centralisé</a:t>
            </a:r>
          </a:p>
          <a:p>
            <a:pPr lvl="1">
              <a:lnSpc>
                <a:spcPct val="104000"/>
              </a:lnSpc>
            </a:pPr>
            <a:r>
              <a:rPr lang="fr-MA" sz="1600" dirty="0"/>
              <a:t>Connectivité Haute Performance</a:t>
            </a:r>
          </a:p>
          <a:p>
            <a:pPr lvl="1">
              <a:lnSpc>
                <a:spcPct val="104000"/>
              </a:lnSpc>
            </a:pPr>
            <a:r>
              <a:rPr lang="fr-FR" sz="1600" dirty="0"/>
              <a:t>Redondance et Tolérance aux Pannes</a:t>
            </a:r>
          </a:p>
          <a:p>
            <a:pPr>
              <a:lnSpc>
                <a:spcPct val="104000"/>
              </a:lnSpc>
            </a:pPr>
            <a:r>
              <a:rPr lang="fr-FR" sz="1600" dirty="0"/>
              <a:t>Inconvénients :</a:t>
            </a:r>
          </a:p>
          <a:p>
            <a:pPr lvl="1">
              <a:lnSpc>
                <a:spcPct val="104000"/>
              </a:lnSpc>
            </a:pPr>
            <a:r>
              <a:rPr lang="fr-FR" sz="1600" dirty="0"/>
              <a:t>Cout élevé, </a:t>
            </a:r>
          </a:p>
          <a:p>
            <a:pPr lvl="1">
              <a:lnSpc>
                <a:spcPct val="104000"/>
              </a:lnSpc>
            </a:pPr>
            <a:r>
              <a:rPr lang="fr-MA" sz="1600" dirty="0"/>
              <a:t>Complexité</a:t>
            </a:r>
            <a:endParaRPr lang="fr-FR" sz="1600" dirty="0"/>
          </a:p>
          <a:p>
            <a:pPr lvl="1">
              <a:lnSpc>
                <a:spcPct val="104000"/>
              </a:lnSpc>
            </a:pPr>
            <a:r>
              <a:rPr lang="fr-MA" sz="1600" dirty="0"/>
              <a:t>Gestion de la Sécurité</a:t>
            </a:r>
            <a:endParaRPr lang="fr-FR" sz="1600" dirty="0"/>
          </a:p>
        </p:txBody>
      </p:sp>
    </p:spTree>
    <p:extLst>
      <p:ext uri="{BB962C8B-B14F-4D97-AF65-F5344CB8AC3E}">
        <p14:creationId xmlns:p14="http://schemas.microsoft.com/office/powerpoint/2010/main" val="5493105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5B8F8-8F3C-A208-E70D-1A1805710D7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82F612-7BB4-4479-4078-735906E715FD}"/>
              </a:ext>
            </a:extLst>
          </p:cNvPr>
          <p:cNvSpPr>
            <a:spLocks noGrp="1"/>
          </p:cNvSpPr>
          <p:nvPr>
            <p:ph type="title"/>
          </p:nvPr>
        </p:nvSpPr>
        <p:spPr>
          <a:xfrm>
            <a:off x="1371600" y="685800"/>
            <a:ext cx="10790378" cy="2202366"/>
          </a:xfrm>
        </p:spPr>
        <p:txBody>
          <a:bodyPr>
            <a:normAutofit/>
          </a:bodyPr>
          <a:lstStyle/>
          <a:p>
            <a:r>
              <a:rPr lang="fr-FR" sz="4000" dirty="0"/>
              <a:t>Virtualisation du stockage </a:t>
            </a:r>
            <a:r>
              <a:rPr lang="fr-FR" sz="4000" dirty="0">
                <a:solidFill>
                  <a:schemeClr val="accent2">
                    <a:lumMod val="75000"/>
                  </a:schemeClr>
                </a:solidFill>
              </a:rPr>
              <a:t>-</a:t>
            </a:r>
            <a:r>
              <a:rPr lang="fr-FR" sz="4000" dirty="0"/>
              <a:t> </a:t>
            </a:r>
            <a:r>
              <a:rPr lang="fr-FR" sz="4000" dirty="0">
                <a:solidFill>
                  <a:schemeClr val="accent2">
                    <a:lumMod val="75000"/>
                  </a:schemeClr>
                </a:solidFill>
              </a:rPr>
              <a:t>SAN</a:t>
            </a:r>
            <a:endParaRPr lang="fr-MA" sz="2800" dirty="0">
              <a:solidFill>
                <a:schemeClr val="accent2">
                  <a:lumMod val="75000"/>
                </a:schemeClr>
              </a:solidFill>
            </a:endParaRPr>
          </a:p>
        </p:txBody>
      </p:sp>
      <p:pic>
        <p:nvPicPr>
          <p:cNvPr id="4" name="Picture 3">
            <a:extLst>
              <a:ext uri="{FF2B5EF4-FFF2-40B4-BE49-F238E27FC236}">
                <a16:creationId xmlns:a16="http://schemas.microsoft.com/office/drawing/2014/main" id="{543CE56D-F143-0D35-E11C-B696617AD24B}"/>
              </a:ext>
            </a:extLst>
          </p:cNvPr>
          <p:cNvPicPr>
            <a:picLocks noChangeAspect="1"/>
          </p:cNvPicPr>
          <p:nvPr/>
        </p:nvPicPr>
        <p:blipFill>
          <a:blip r:embed="rId2"/>
          <a:stretch>
            <a:fillRect/>
          </a:stretch>
        </p:blipFill>
        <p:spPr>
          <a:xfrm>
            <a:off x="2194560" y="2196976"/>
            <a:ext cx="5613699" cy="4039232"/>
          </a:xfrm>
          <a:prstGeom prst="rect">
            <a:avLst/>
          </a:prstGeom>
        </p:spPr>
      </p:pic>
      <p:sp>
        <p:nvSpPr>
          <p:cNvPr id="6" name="Content Placeholder 5">
            <a:extLst>
              <a:ext uri="{FF2B5EF4-FFF2-40B4-BE49-F238E27FC236}">
                <a16:creationId xmlns:a16="http://schemas.microsoft.com/office/drawing/2014/main" id="{FE86DEB5-91B3-8A66-12A2-9D455E67702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053291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52891F-3BD8-67D8-4CC8-BB270504100C}"/>
              </a:ext>
            </a:extLst>
          </p:cNvPr>
          <p:cNvSpPr>
            <a:spLocks noGrp="1"/>
          </p:cNvSpPr>
          <p:nvPr>
            <p:ph type="title"/>
          </p:nvPr>
        </p:nvSpPr>
        <p:spPr>
          <a:xfrm>
            <a:off x="1371600" y="685800"/>
            <a:ext cx="9987280" cy="1485900"/>
          </a:xfrm>
        </p:spPr>
        <p:txBody>
          <a:bodyPr/>
          <a:lstStyle/>
          <a:p>
            <a:r>
              <a:rPr lang="fr-FR" sz="4400" dirty="0"/>
              <a:t>Virtualisation du stockage </a:t>
            </a:r>
            <a:r>
              <a:rPr lang="fr-FR" sz="4400" dirty="0">
                <a:solidFill>
                  <a:schemeClr val="accent2">
                    <a:lumMod val="75000"/>
                  </a:schemeClr>
                </a:solidFill>
              </a:rPr>
              <a:t>-</a:t>
            </a:r>
            <a:r>
              <a:rPr lang="fr-FR" sz="4400" dirty="0"/>
              <a:t> </a:t>
            </a:r>
            <a:r>
              <a:rPr lang="fr-FR" dirty="0">
                <a:solidFill>
                  <a:schemeClr val="accent2">
                    <a:lumMod val="75000"/>
                  </a:schemeClr>
                </a:solidFill>
              </a:rPr>
              <a:t>Datacenters</a:t>
            </a:r>
            <a:endParaRPr lang="fr-MA" dirty="0"/>
          </a:p>
        </p:txBody>
      </p:sp>
      <p:pic>
        <p:nvPicPr>
          <p:cNvPr id="4" name="Picture 4" descr="Key Components of Server Virtualization | by Abdurrahim Yıldırım | Turk  Telekom Bulut Teknolojileri | Medium">
            <a:extLst>
              <a:ext uri="{FF2B5EF4-FFF2-40B4-BE49-F238E27FC236}">
                <a16:creationId xmlns:a16="http://schemas.microsoft.com/office/drawing/2014/main" id="{A5D3F025-9FEC-413A-4B75-34576C0CF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04" y="1487076"/>
            <a:ext cx="9290736" cy="5918071"/>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39DCF98A-81A8-B4D5-CC06-A62A24D86DA5}"/>
              </a:ext>
            </a:extLst>
          </p:cNvPr>
          <p:cNvCxnSpPr/>
          <p:nvPr/>
        </p:nvCxnSpPr>
        <p:spPr>
          <a:xfrm>
            <a:off x="1371600" y="6212541"/>
            <a:ext cx="3926541"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6" name="Straight Arrow Connector 5">
            <a:extLst>
              <a:ext uri="{FF2B5EF4-FFF2-40B4-BE49-F238E27FC236}">
                <a16:creationId xmlns:a16="http://schemas.microsoft.com/office/drawing/2014/main" id="{AD3E4EB9-48F3-BACF-8567-2AE257B7C7F1}"/>
              </a:ext>
            </a:extLst>
          </p:cNvPr>
          <p:cNvCxnSpPr>
            <a:cxnSpLocks/>
          </p:cNvCxnSpPr>
          <p:nvPr/>
        </p:nvCxnSpPr>
        <p:spPr>
          <a:xfrm>
            <a:off x="1773706" y="4805085"/>
            <a:ext cx="1516341"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9501AE70-975B-6475-E7C7-5D57E4744329}"/>
              </a:ext>
            </a:extLst>
          </p:cNvPr>
          <p:cNvCxnSpPr>
            <a:cxnSpLocks/>
          </p:cNvCxnSpPr>
          <p:nvPr/>
        </p:nvCxnSpPr>
        <p:spPr>
          <a:xfrm>
            <a:off x="1371600" y="3872756"/>
            <a:ext cx="690282"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0" name="TextBox 9">
            <a:extLst>
              <a:ext uri="{FF2B5EF4-FFF2-40B4-BE49-F238E27FC236}">
                <a16:creationId xmlns:a16="http://schemas.microsoft.com/office/drawing/2014/main" id="{B5A90061-6B37-01FC-8202-CFA7DF77A6AD}"/>
              </a:ext>
            </a:extLst>
          </p:cNvPr>
          <p:cNvSpPr txBox="1"/>
          <p:nvPr/>
        </p:nvSpPr>
        <p:spPr>
          <a:xfrm>
            <a:off x="752877" y="6027875"/>
            <a:ext cx="591829" cy="369332"/>
          </a:xfrm>
          <a:prstGeom prst="rect">
            <a:avLst/>
          </a:prstGeom>
          <a:noFill/>
        </p:spPr>
        <p:txBody>
          <a:bodyPr wrap="none" rtlCol="0">
            <a:spAutoFit/>
          </a:bodyPr>
          <a:lstStyle/>
          <a:p>
            <a:r>
              <a:rPr lang="fr-FR" dirty="0">
                <a:solidFill>
                  <a:schemeClr val="accent6">
                    <a:lumMod val="60000"/>
                    <a:lumOff val="40000"/>
                  </a:schemeClr>
                </a:solidFill>
              </a:rPr>
              <a:t>SAN</a:t>
            </a:r>
            <a:endParaRPr lang="en-US" dirty="0">
              <a:solidFill>
                <a:schemeClr val="accent6">
                  <a:lumMod val="60000"/>
                  <a:lumOff val="40000"/>
                </a:schemeClr>
              </a:solidFill>
            </a:endParaRPr>
          </a:p>
        </p:txBody>
      </p:sp>
      <p:sp>
        <p:nvSpPr>
          <p:cNvPr id="11" name="TextBox 10">
            <a:extLst>
              <a:ext uri="{FF2B5EF4-FFF2-40B4-BE49-F238E27FC236}">
                <a16:creationId xmlns:a16="http://schemas.microsoft.com/office/drawing/2014/main" id="{0ED6AC25-0696-BA41-63FE-E6A788028326}"/>
              </a:ext>
            </a:extLst>
          </p:cNvPr>
          <p:cNvSpPr txBox="1"/>
          <p:nvPr/>
        </p:nvSpPr>
        <p:spPr>
          <a:xfrm>
            <a:off x="725983" y="4624892"/>
            <a:ext cx="1047723" cy="369332"/>
          </a:xfrm>
          <a:prstGeom prst="rect">
            <a:avLst/>
          </a:prstGeom>
          <a:noFill/>
        </p:spPr>
        <p:txBody>
          <a:bodyPr wrap="none" rtlCol="0">
            <a:spAutoFit/>
          </a:bodyPr>
          <a:lstStyle/>
          <a:p>
            <a:r>
              <a:rPr lang="fr-FR" dirty="0">
                <a:solidFill>
                  <a:schemeClr val="accent6">
                    <a:lumMod val="60000"/>
                    <a:lumOff val="40000"/>
                  </a:schemeClr>
                </a:solidFill>
              </a:rPr>
              <a:t>Serveurs</a:t>
            </a:r>
            <a:endParaRPr lang="en-US" dirty="0">
              <a:solidFill>
                <a:schemeClr val="accent6">
                  <a:lumMod val="60000"/>
                  <a:lumOff val="40000"/>
                </a:schemeClr>
              </a:solidFill>
            </a:endParaRPr>
          </a:p>
        </p:txBody>
      </p:sp>
      <p:cxnSp>
        <p:nvCxnSpPr>
          <p:cNvPr id="13" name="Straight Arrow Connector 12">
            <a:extLst>
              <a:ext uri="{FF2B5EF4-FFF2-40B4-BE49-F238E27FC236}">
                <a16:creationId xmlns:a16="http://schemas.microsoft.com/office/drawing/2014/main" id="{9C08D018-0239-E46A-B02B-4DAC0A7923C9}"/>
              </a:ext>
            </a:extLst>
          </p:cNvPr>
          <p:cNvCxnSpPr>
            <a:cxnSpLocks/>
          </p:cNvCxnSpPr>
          <p:nvPr/>
        </p:nvCxnSpPr>
        <p:spPr>
          <a:xfrm>
            <a:off x="1800597" y="5558122"/>
            <a:ext cx="1785285"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4" name="TextBox 13">
            <a:extLst>
              <a:ext uri="{FF2B5EF4-FFF2-40B4-BE49-F238E27FC236}">
                <a16:creationId xmlns:a16="http://schemas.microsoft.com/office/drawing/2014/main" id="{DAB4F136-CFC5-194B-0BDB-E531EB35294B}"/>
              </a:ext>
            </a:extLst>
          </p:cNvPr>
          <p:cNvSpPr txBox="1"/>
          <p:nvPr/>
        </p:nvSpPr>
        <p:spPr>
          <a:xfrm>
            <a:off x="717096" y="5195058"/>
            <a:ext cx="1309008" cy="646331"/>
          </a:xfrm>
          <a:prstGeom prst="rect">
            <a:avLst/>
          </a:prstGeom>
          <a:noFill/>
        </p:spPr>
        <p:txBody>
          <a:bodyPr wrap="square" rtlCol="0">
            <a:spAutoFit/>
          </a:bodyPr>
          <a:lstStyle/>
          <a:p>
            <a:r>
              <a:rPr lang="fr-FR" dirty="0">
                <a:solidFill>
                  <a:schemeClr val="accent6">
                    <a:lumMod val="60000"/>
                    <a:lumOff val="40000"/>
                  </a:schemeClr>
                </a:solidFill>
              </a:rPr>
              <a:t>Connexion haut débit</a:t>
            </a:r>
            <a:endParaRPr lang="en-US" dirty="0">
              <a:solidFill>
                <a:schemeClr val="accent6">
                  <a:lumMod val="60000"/>
                  <a:lumOff val="40000"/>
                </a:schemeClr>
              </a:solidFill>
            </a:endParaRPr>
          </a:p>
        </p:txBody>
      </p:sp>
      <p:sp>
        <p:nvSpPr>
          <p:cNvPr id="16" name="TextBox 15">
            <a:extLst>
              <a:ext uri="{FF2B5EF4-FFF2-40B4-BE49-F238E27FC236}">
                <a16:creationId xmlns:a16="http://schemas.microsoft.com/office/drawing/2014/main" id="{CF9964DB-B149-B8CB-73FB-A58D5F893D30}"/>
              </a:ext>
            </a:extLst>
          </p:cNvPr>
          <p:cNvSpPr txBox="1"/>
          <p:nvPr/>
        </p:nvSpPr>
        <p:spPr>
          <a:xfrm>
            <a:off x="796956" y="3607887"/>
            <a:ext cx="845889" cy="646331"/>
          </a:xfrm>
          <a:prstGeom prst="rect">
            <a:avLst/>
          </a:prstGeom>
          <a:noFill/>
        </p:spPr>
        <p:txBody>
          <a:bodyPr wrap="square" rtlCol="0">
            <a:spAutoFit/>
          </a:bodyPr>
          <a:lstStyle/>
          <a:p>
            <a:r>
              <a:rPr lang="fr-FR" dirty="0" err="1">
                <a:solidFill>
                  <a:schemeClr val="accent6">
                    <a:lumMod val="60000"/>
                    <a:lumOff val="40000"/>
                  </a:schemeClr>
                </a:solidFill>
              </a:rPr>
              <a:t>Xen</a:t>
            </a:r>
            <a:r>
              <a:rPr lang="fr-FR" dirty="0">
                <a:solidFill>
                  <a:schemeClr val="accent6">
                    <a:lumMod val="60000"/>
                    <a:lumOff val="40000"/>
                  </a:schemeClr>
                </a:solidFill>
              </a:rPr>
              <a:t> Server</a:t>
            </a:r>
            <a:endParaRPr lang="en-US" dirty="0">
              <a:solidFill>
                <a:schemeClr val="accent6">
                  <a:lumMod val="60000"/>
                  <a:lumOff val="40000"/>
                </a:schemeClr>
              </a:solidFill>
            </a:endParaRPr>
          </a:p>
        </p:txBody>
      </p:sp>
    </p:spTree>
    <p:extLst>
      <p:ext uri="{BB962C8B-B14F-4D97-AF65-F5344CB8AC3E}">
        <p14:creationId xmlns:p14="http://schemas.microsoft.com/office/powerpoint/2010/main" val="38370292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a:xfrm>
            <a:off x="992459" y="685800"/>
            <a:ext cx="11169519" cy="2202366"/>
          </a:xfrm>
        </p:spPr>
        <p:txBody>
          <a:bodyPr>
            <a:normAutofit/>
          </a:bodyPr>
          <a:lstStyle/>
          <a:p>
            <a:r>
              <a:rPr lang="fr-FR" sz="4000" dirty="0"/>
              <a:t>Virtualisation du stockage </a:t>
            </a:r>
            <a:r>
              <a:rPr lang="fr-FR" sz="4000" dirty="0">
                <a:solidFill>
                  <a:schemeClr val="accent2">
                    <a:lumMod val="75000"/>
                  </a:schemeClr>
                </a:solidFill>
              </a:rPr>
              <a:t>–</a:t>
            </a:r>
            <a:r>
              <a:rPr lang="fr-FR" sz="4000" dirty="0"/>
              <a:t> </a:t>
            </a:r>
            <a:r>
              <a:rPr lang="fr-FR" sz="4000" dirty="0">
                <a:solidFill>
                  <a:schemeClr val="accent2">
                    <a:lumMod val="75000"/>
                  </a:schemeClr>
                </a:solidFill>
              </a:rPr>
              <a:t>Block-</a:t>
            </a:r>
            <a:r>
              <a:rPr lang="fr-FR" sz="4000" dirty="0" err="1">
                <a:solidFill>
                  <a:schemeClr val="accent2">
                    <a:lumMod val="75000"/>
                  </a:schemeClr>
                </a:solidFill>
              </a:rPr>
              <a:t>Level</a:t>
            </a:r>
            <a:r>
              <a:rPr lang="fr-FR" sz="4000" dirty="0">
                <a:solidFill>
                  <a:schemeClr val="accent2">
                    <a:lumMod val="75000"/>
                  </a:schemeClr>
                </a:solidFill>
              </a:rPr>
              <a:t> / File </a:t>
            </a:r>
            <a:r>
              <a:rPr lang="fr-FR" sz="4000" dirty="0" err="1">
                <a:solidFill>
                  <a:schemeClr val="accent2">
                    <a:lumMod val="75000"/>
                  </a:schemeClr>
                </a:solidFill>
              </a:rPr>
              <a:t>Level</a:t>
            </a:r>
            <a:endParaRPr lang="fr-MA" sz="2800" dirty="0">
              <a:solidFill>
                <a:schemeClr val="accent2">
                  <a:lumMod val="75000"/>
                </a:schemeClr>
              </a:solidFill>
            </a:endParaRPr>
          </a:p>
        </p:txBody>
      </p:sp>
      <p:pic>
        <p:nvPicPr>
          <p:cNvPr id="1026" name="Picture 2" descr="What is File Level and Block Level Storage in Virtualization Concepts? |  Tutorials Link">
            <a:extLst>
              <a:ext uri="{FF2B5EF4-FFF2-40B4-BE49-F238E27FC236}">
                <a16:creationId xmlns:a16="http://schemas.microsoft.com/office/drawing/2014/main" id="{0C853303-FD44-D996-BFCB-766C4CD0A6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1007" y="2376721"/>
            <a:ext cx="7845812" cy="4328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51192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387DA2E-FA61-23E0-7D3B-3940DE427B55}"/>
              </a:ext>
            </a:extLst>
          </p:cNvPr>
          <p:cNvSpPr>
            <a:spLocks noGrp="1"/>
          </p:cNvSpPr>
          <p:nvPr>
            <p:ph idx="1"/>
          </p:nvPr>
        </p:nvSpPr>
        <p:spPr>
          <a:xfrm>
            <a:off x="1449659" y="1750741"/>
            <a:ext cx="6055112" cy="4750420"/>
          </a:xfrm>
        </p:spPr>
        <p:txBody>
          <a:bodyPr>
            <a:normAutofit fontScale="85000" lnSpcReduction="20000"/>
          </a:bodyPr>
          <a:lstStyle/>
          <a:p>
            <a:r>
              <a:rPr lang="fr-FR" sz="1600" dirty="0"/>
              <a:t>La virtualisation basée sur bloc repose sur la gestion de blocs de données bruts. Elle utilise des volumes logiques (LUN, </a:t>
            </a:r>
            <a:r>
              <a:rPr lang="fr-FR" sz="1600" dirty="0" err="1"/>
              <a:t>Logical</a:t>
            </a:r>
            <a:r>
              <a:rPr lang="fr-FR" sz="1600" dirty="0"/>
              <a:t> Unit </a:t>
            </a:r>
            <a:r>
              <a:rPr lang="fr-FR" sz="1600" dirty="0" err="1"/>
              <a:t>Number</a:t>
            </a:r>
            <a:r>
              <a:rPr lang="fr-FR" sz="1600" dirty="0"/>
              <a:t>) pour regrouper les blocs de données physiques en une seule ressource logique. </a:t>
            </a:r>
          </a:p>
          <a:p>
            <a:pPr>
              <a:lnSpc>
                <a:spcPct val="104000"/>
              </a:lnSpc>
            </a:pPr>
            <a:endParaRPr lang="fr-FR" sz="1600" dirty="0"/>
          </a:p>
          <a:p>
            <a:pPr>
              <a:lnSpc>
                <a:spcPct val="104000"/>
              </a:lnSpc>
            </a:pPr>
            <a:r>
              <a:rPr lang="fr-FR" sz="1600" dirty="0"/>
              <a:t>Avantage : </a:t>
            </a:r>
          </a:p>
          <a:p>
            <a:pPr marL="742950" lvl="1" indent="-285750" algn="just">
              <a:buFont typeface="Times New Roman" panose="02020603050405020304" pitchFamily="18" charset="0"/>
              <a:buChar char="-"/>
            </a:pPr>
            <a:r>
              <a:rPr lang="fr-FR" sz="1600" dirty="0"/>
              <a:t>Haute tolérance de panne.</a:t>
            </a:r>
            <a:endParaRPr lang="fr-MA" sz="1600" dirty="0"/>
          </a:p>
          <a:p>
            <a:pPr marL="742950" lvl="1" indent="-285750" algn="just">
              <a:buFont typeface="Times New Roman" panose="02020603050405020304" pitchFamily="18" charset="0"/>
              <a:buChar char="-"/>
            </a:pPr>
            <a:r>
              <a:rPr lang="fr-FR" sz="1600" dirty="0"/>
              <a:t>Haute performance.</a:t>
            </a:r>
            <a:endParaRPr lang="fr-MA" sz="1600" dirty="0"/>
          </a:p>
          <a:p>
            <a:pPr marL="742950" lvl="1" indent="-285750" algn="just">
              <a:buFont typeface="Times New Roman" panose="02020603050405020304" pitchFamily="18" charset="0"/>
              <a:buChar char="-"/>
            </a:pPr>
            <a:r>
              <a:rPr lang="fr-FR" sz="1600" dirty="0"/>
              <a:t>Hautement redondant.</a:t>
            </a:r>
            <a:endParaRPr lang="fr-MA" sz="1600" dirty="0"/>
          </a:p>
          <a:p>
            <a:pPr marL="742950" lvl="1" indent="-285750" algn="just">
              <a:buFont typeface="Times New Roman" panose="02020603050405020304" pitchFamily="18" charset="0"/>
              <a:buChar char="-"/>
            </a:pPr>
            <a:r>
              <a:rPr lang="fr-FR" sz="1600" dirty="0"/>
              <a:t>Peut être utilisé comme « boot volume »</a:t>
            </a:r>
            <a:endParaRPr lang="fr-MA" sz="1600" dirty="0"/>
          </a:p>
          <a:p>
            <a:pPr marL="457200" lvl="1" indent="0" algn="just">
              <a:buNone/>
            </a:pPr>
            <a:br>
              <a:rPr lang="fr-FR" dirty="0"/>
            </a:br>
            <a:endParaRPr lang="fr-FR" sz="1600" dirty="0"/>
          </a:p>
          <a:p>
            <a:pPr>
              <a:lnSpc>
                <a:spcPct val="104000"/>
              </a:lnSpc>
            </a:pPr>
            <a:r>
              <a:rPr lang="fr-FR" sz="1600" dirty="0"/>
              <a:t>Inconvénients :</a:t>
            </a:r>
          </a:p>
          <a:p>
            <a:pPr lvl="1">
              <a:lnSpc>
                <a:spcPct val="104000"/>
              </a:lnSpc>
            </a:pPr>
            <a:r>
              <a:rPr lang="fr-FR" sz="1500" dirty="0"/>
              <a:t>Complexe à gérer et à configurer par rapport à la virtualisation basée sur fichier.</a:t>
            </a:r>
          </a:p>
          <a:p>
            <a:pPr lvl="1">
              <a:lnSpc>
                <a:spcPct val="104000"/>
              </a:lnSpc>
            </a:pPr>
            <a:r>
              <a:rPr lang="fr-FR" sz="1500" dirty="0"/>
              <a:t>Convient moins bien au partage de fichiers.</a:t>
            </a:r>
          </a:p>
          <a:p>
            <a:pPr marL="530352" lvl="1" indent="0">
              <a:lnSpc>
                <a:spcPct val="104000"/>
              </a:lnSpc>
              <a:buNone/>
            </a:pPr>
            <a:endParaRPr lang="fr-FR" sz="1600" dirty="0"/>
          </a:p>
          <a:p>
            <a:pPr marL="0" lvl="1" indent="0">
              <a:lnSpc>
                <a:spcPct val="104000"/>
              </a:lnSpc>
              <a:buNone/>
            </a:pPr>
            <a:r>
              <a:rPr lang="fr-FR" sz="1600" dirty="0"/>
              <a:t>Des technologies telles que les SAN sont couramment utilisées pour la virtualisation basée sur bloc.</a:t>
            </a:r>
          </a:p>
        </p:txBody>
      </p:sp>
      <p:sp>
        <p:nvSpPr>
          <p:cNvPr id="6" name="Titre 1">
            <a:extLst>
              <a:ext uri="{FF2B5EF4-FFF2-40B4-BE49-F238E27FC236}">
                <a16:creationId xmlns:a16="http://schemas.microsoft.com/office/drawing/2014/main" id="{B8E1D4A6-5C15-BA1A-6F19-AEBD94675423}"/>
              </a:ext>
            </a:extLst>
          </p:cNvPr>
          <p:cNvSpPr>
            <a:spLocks noGrp="1"/>
          </p:cNvSpPr>
          <p:nvPr>
            <p:ph type="title"/>
          </p:nvPr>
        </p:nvSpPr>
        <p:spPr>
          <a:xfrm>
            <a:off x="992459" y="685800"/>
            <a:ext cx="11169519" cy="875371"/>
          </a:xfrm>
        </p:spPr>
        <p:txBody>
          <a:bodyPr>
            <a:normAutofit/>
          </a:bodyPr>
          <a:lstStyle/>
          <a:p>
            <a:r>
              <a:rPr lang="fr-FR" sz="4000" dirty="0"/>
              <a:t>Virtualisation du stockage </a:t>
            </a:r>
            <a:r>
              <a:rPr lang="fr-FR" sz="4000" dirty="0">
                <a:solidFill>
                  <a:schemeClr val="accent2">
                    <a:lumMod val="75000"/>
                  </a:schemeClr>
                </a:solidFill>
              </a:rPr>
              <a:t>–</a:t>
            </a:r>
            <a:r>
              <a:rPr lang="fr-FR" sz="4000" dirty="0"/>
              <a:t> </a:t>
            </a:r>
            <a:r>
              <a:rPr lang="fr-FR" sz="4000" dirty="0">
                <a:solidFill>
                  <a:schemeClr val="accent2">
                    <a:lumMod val="75000"/>
                  </a:schemeClr>
                </a:solidFill>
              </a:rPr>
              <a:t>Block-</a:t>
            </a:r>
            <a:r>
              <a:rPr lang="fr-FR" sz="4000" dirty="0" err="1">
                <a:solidFill>
                  <a:schemeClr val="accent2">
                    <a:lumMod val="75000"/>
                  </a:schemeClr>
                </a:solidFill>
              </a:rPr>
              <a:t>Level</a:t>
            </a:r>
            <a:endParaRPr lang="fr-MA" sz="2800" dirty="0">
              <a:solidFill>
                <a:schemeClr val="accent2">
                  <a:lumMod val="75000"/>
                </a:schemeClr>
              </a:solidFill>
            </a:endParaRPr>
          </a:p>
        </p:txBody>
      </p:sp>
      <p:pic>
        <p:nvPicPr>
          <p:cNvPr id="8" name="Image 7">
            <a:extLst>
              <a:ext uri="{FF2B5EF4-FFF2-40B4-BE49-F238E27FC236}">
                <a16:creationId xmlns:a16="http://schemas.microsoft.com/office/drawing/2014/main" id="{55BE184B-A00B-87D9-BC5F-1864C726D16E}"/>
              </a:ext>
            </a:extLst>
          </p:cNvPr>
          <p:cNvPicPr>
            <a:picLocks noChangeAspect="1"/>
          </p:cNvPicPr>
          <p:nvPr/>
        </p:nvPicPr>
        <p:blipFill>
          <a:blip r:embed="rId2"/>
          <a:stretch>
            <a:fillRect/>
          </a:stretch>
        </p:blipFill>
        <p:spPr>
          <a:xfrm>
            <a:off x="7814609" y="2253167"/>
            <a:ext cx="3425820" cy="3498452"/>
          </a:xfrm>
          <a:prstGeom prst="rect">
            <a:avLst/>
          </a:prstGeom>
        </p:spPr>
      </p:pic>
    </p:spTree>
    <p:extLst>
      <p:ext uri="{BB962C8B-B14F-4D97-AF65-F5344CB8AC3E}">
        <p14:creationId xmlns:p14="http://schemas.microsoft.com/office/powerpoint/2010/main" val="36471360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387DA2E-FA61-23E0-7D3B-3940DE427B55}"/>
              </a:ext>
            </a:extLst>
          </p:cNvPr>
          <p:cNvSpPr>
            <a:spLocks noGrp="1"/>
          </p:cNvSpPr>
          <p:nvPr>
            <p:ph idx="1"/>
          </p:nvPr>
        </p:nvSpPr>
        <p:spPr>
          <a:xfrm>
            <a:off x="1449659" y="1750741"/>
            <a:ext cx="6055112" cy="4750420"/>
          </a:xfrm>
        </p:spPr>
        <p:txBody>
          <a:bodyPr>
            <a:normAutofit/>
          </a:bodyPr>
          <a:lstStyle/>
          <a:p>
            <a:r>
              <a:rPr lang="fr-FR" sz="1600" dirty="0"/>
              <a:t>Souvent associée à des systèmes de fichiers distribués. Les données sont organisées en fichiers et réparties sur plusieurs systèmes de stockage. Un système de fichiers virtuel est créé au-dessus de ces systèmes de stockage physiques, permettant un accès transparent aux données via un chemin de fichier. NFS (Network File System) en est un exemple.</a:t>
            </a:r>
          </a:p>
          <a:p>
            <a:pPr>
              <a:lnSpc>
                <a:spcPct val="104000"/>
              </a:lnSpc>
            </a:pPr>
            <a:endParaRPr lang="fr-FR" sz="1600" dirty="0"/>
          </a:p>
          <a:p>
            <a:pPr>
              <a:lnSpc>
                <a:spcPct val="104000"/>
              </a:lnSpc>
            </a:pPr>
            <a:r>
              <a:rPr lang="fr-FR" sz="1600" dirty="0"/>
              <a:t>Avantage : </a:t>
            </a:r>
          </a:p>
          <a:p>
            <a:pPr lvl="1">
              <a:lnSpc>
                <a:spcPct val="104000"/>
              </a:lnSpc>
            </a:pPr>
            <a:r>
              <a:rPr lang="fr-MA" sz="1600" dirty="0"/>
              <a:t>Facile d’utilisation</a:t>
            </a:r>
          </a:p>
          <a:p>
            <a:pPr lvl="1">
              <a:lnSpc>
                <a:spcPct val="104000"/>
              </a:lnSpc>
            </a:pPr>
            <a:r>
              <a:rPr lang="fr-FR" sz="1600" dirty="0"/>
              <a:t>Idéal pour le partage de fichier</a:t>
            </a:r>
            <a:br>
              <a:rPr lang="fr-FR" dirty="0"/>
            </a:br>
            <a:endParaRPr lang="fr-FR" sz="1600" dirty="0"/>
          </a:p>
          <a:p>
            <a:pPr>
              <a:lnSpc>
                <a:spcPct val="104000"/>
              </a:lnSpc>
            </a:pPr>
            <a:r>
              <a:rPr lang="fr-FR" sz="1600" dirty="0"/>
              <a:t>Inconvénients :</a:t>
            </a:r>
          </a:p>
          <a:p>
            <a:pPr lvl="1">
              <a:lnSpc>
                <a:spcPct val="104000"/>
              </a:lnSpc>
            </a:pPr>
            <a:r>
              <a:rPr lang="fr-FR" sz="1500" dirty="0"/>
              <a:t>Moins performant</a:t>
            </a:r>
          </a:p>
          <a:p>
            <a:pPr lvl="1">
              <a:lnSpc>
                <a:spcPct val="104000"/>
              </a:lnSpc>
            </a:pPr>
            <a:r>
              <a:rPr lang="fr-FR" sz="1500" dirty="0"/>
              <a:t>Moins adapté aux applications nécessitant un accès bas niveau aux données</a:t>
            </a:r>
          </a:p>
        </p:txBody>
      </p:sp>
      <p:sp>
        <p:nvSpPr>
          <p:cNvPr id="6" name="Titre 1">
            <a:extLst>
              <a:ext uri="{FF2B5EF4-FFF2-40B4-BE49-F238E27FC236}">
                <a16:creationId xmlns:a16="http://schemas.microsoft.com/office/drawing/2014/main" id="{B8E1D4A6-5C15-BA1A-6F19-AEBD94675423}"/>
              </a:ext>
            </a:extLst>
          </p:cNvPr>
          <p:cNvSpPr>
            <a:spLocks noGrp="1"/>
          </p:cNvSpPr>
          <p:nvPr>
            <p:ph type="title"/>
          </p:nvPr>
        </p:nvSpPr>
        <p:spPr>
          <a:xfrm>
            <a:off x="992459" y="685800"/>
            <a:ext cx="11169519" cy="875371"/>
          </a:xfrm>
        </p:spPr>
        <p:txBody>
          <a:bodyPr>
            <a:normAutofit/>
          </a:bodyPr>
          <a:lstStyle/>
          <a:p>
            <a:r>
              <a:rPr lang="fr-FR" sz="4000" dirty="0"/>
              <a:t>Virtualisation du stockage </a:t>
            </a:r>
            <a:r>
              <a:rPr lang="fr-FR" sz="4000" dirty="0">
                <a:solidFill>
                  <a:schemeClr val="accent2">
                    <a:lumMod val="75000"/>
                  </a:schemeClr>
                </a:solidFill>
              </a:rPr>
              <a:t>–</a:t>
            </a:r>
            <a:r>
              <a:rPr lang="fr-FR" sz="4000" dirty="0"/>
              <a:t> </a:t>
            </a:r>
            <a:r>
              <a:rPr lang="fr-FR" sz="4000" dirty="0">
                <a:solidFill>
                  <a:schemeClr val="accent2">
                    <a:lumMod val="75000"/>
                  </a:schemeClr>
                </a:solidFill>
              </a:rPr>
              <a:t>File-</a:t>
            </a:r>
            <a:r>
              <a:rPr lang="fr-FR" sz="4000" dirty="0" err="1">
                <a:solidFill>
                  <a:schemeClr val="accent2">
                    <a:lumMod val="75000"/>
                  </a:schemeClr>
                </a:solidFill>
              </a:rPr>
              <a:t>Level</a:t>
            </a:r>
            <a:endParaRPr lang="fr-MA" sz="2800" dirty="0">
              <a:solidFill>
                <a:schemeClr val="accent2">
                  <a:lumMod val="75000"/>
                </a:schemeClr>
              </a:solidFill>
            </a:endParaRPr>
          </a:p>
        </p:txBody>
      </p:sp>
      <p:pic>
        <p:nvPicPr>
          <p:cNvPr id="4" name="Image 3">
            <a:extLst>
              <a:ext uri="{FF2B5EF4-FFF2-40B4-BE49-F238E27FC236}">
                <a16:creationId xmlns:a16="http://schemas.microsoft.com/office/drawing/2014/main" id="{9C400BE4-D3B4-73BB-007D-7EBB08F612EC}"/>
              </a:ext>
            </a:extLst>
          </p:cNvPr>
          <p:cNvPicPr>
            <a:picLocks noChangeAspect="1"/>
          </p:cNvPicPr>
          <p:nvPr/>
        </p:nvPicPr>
        <p:blipFill>
          <a:blip r:embed="rId2"/>
          <a:stretch>
            <a:fillRect/>
          </a:stretch>
        </p:blipFill>
        <p:spPr>
          <a:xfrm>
            <a:off x="8018247" y="2169593"/>
            <a:ext cx="3601324" cy="3912716"/>
          </a:xfrm>
          <a:prstGeom prst="rect">
            <a:avLst/>
          </a:prstGeom>
        </p:spPr>
      </p:pic>
    </p:spTree>
    <p:extLst>
      <p:ext uri="{BB962C8B-B14F-4D97-AF65-F5344CB8AC3E}">
        <p14:creationId xmlns:p14="http://schemas.microsoft.com/office/powerpoint/2010/main" val="42487323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a:xfrm>
            <a:off x="992459" y="685800"/>
            <a:ext cx="11169519" cy="2202366"/>
          </a:xfrm>
        </p:spPr>
        <p:txBody>
          <a:bodyPr>
            <a:normAutofit/>
          </a:bodyPr>
          <a:lstStyle/>
          <a:p>
            <a:r>
              <a:rPr lang="fr-FR" sz="4000" dirty="0"/>
              <a:t>Virtualisation du stockage </a:t>
            </a:r>
            <a:r>
              <a:rPr lang="fr-FR" sz="4000" dirty="0">
                <a:solidFill>
                  <a:schemeClr val="accent2">
                    <a:lumMod val="75000"/>
                  </a:schemeClr>
                </a:solidFill>
              </a:rPr>
              <a:t>–</a:t>
            </a:r>
            <a:r>
              <a:rPr lang="fr-FR" sz="4000" dirty="0"/>
              <a:t> </a:t>
            </a:r>
            <a:r>
              <a:rPr lang="fr-FR" sz="4000" dirty="0">
                <a:solidFill>
                  <a:schemeClr val="accent2">
                    <a:lumMod val="75000"/>
                  </a:schemeClr>
                </a:solidFill>
              </a:rPr>
              <a:t>Block-</a:t>
            </a:r>
            <a:r>
              <a:rPr lang="fr-FR" sz="4000" dirty="0" err="1">
                <a:solidFill>
                  <a:schemeClr val="accent2">
                    <a:lumMod val="75000"/>
                  </a:schemeClr>
                </a:solidFill>
              </a:rPr>
              <a:t>Level</a:t>
            </a:r>
            <a:r>
              <a:rPr lang="fr-FR" sz="4000" dirty="0">
                <a:solidFill>
                  <a:schemeClr val="accent2">
                    <a:lumMod val="75000"/>
                  </a:schemeClr>
                </a:solidFill>
              </a:rPr>
              <a:t> / File-</a:t>
            </a:r>
            <a:r>
              <a:rPr lang="fr-FR" sz="4000" dirty="0" err="1">
                <a:solidFill>
                  <a:schemeClr val="accent2">
                    <a:lumMod val="75000"/>
                  </a:schemeClr>
                </a:solidFill>
              </a:rPr>
              <a:t>Level</a:t>
            </a:r>
            <a:endParaRPr lang="fr-MA" sz="2800" dirty="0">
              <a:solidFill>
                <a:schemeClr val="accent2">
                  <a:lumMod val="75000"/>
                </a:schemeClr>
              </a:solidFill>
            </a:endParaRPr>
          </a:p>
        </p:txBody>
      </p:sp>
      <p:pic>
        <p:nvPicPr>
          <p:cNvPr id="2050" name="Picture 2" descr="What is file based vs block based storage? and differences">
            <a:extLst>
              <a:ext uri="{FF2B5EF4-FFF2-40B4-BE49-F238E27FC236}">
                <a16:creationId xmlns:a16="http://schemas.microsoft.com/office/drawing/2014/main" id="{7B64DD09-5675-A110-E439-7F2FF7006A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8587" y="1669547"/>
            <a:ext cx="4314825" cy="4600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552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8B651-B840-E103-7E03-92A6B554A8D5}"/>
              </a:ext>
            </a:extLst>
          </p:cNvPr>
          <p:cNvSpPr>
            <a:spLocks noGrp="1"/>
          </p:cNvSpPr>
          <p:nvPr>
            <p:ph type="title"/>
          </p:nvPr>
        </p:nvSpPr>
        <p:spPr/>
        <p:txBody>
          <a:bodyPr/>
          <a:lstStyle/>
          <a:p>
            <a:r>
              <a:rPr lang="fr-FR" dirty="0"/>
              <a:t>Virtualisation du stockage </a:t>
            </a:r>
            <a:r>
              <a:rPr lang="fr-FR" dirty="0">
                <a:solidFill>
                  <a:schemeClr val="accent2">
                    <a:lumMod val="75000"/>
                  </a:schemeClr>
                </a:solidFill>
              </a:rPr>
              <a:t>– Pros</a:t>
            </a:r>
            <a:endParaRPr lang="fr-MA" dirty="0"/>
          </a:p>
        </p:txBody>
      </p:sp>
      <p:sp>
        <p:nvSpPr>
          <p:cNvPr id="3" name="Espace réservé du contenu 2">
            <a:extLst>
              <a:ext uri="{FF2B5EF4-FFF2-40B4-BE49-F238E27FC236}">
                <a16:creationId xmlns:a16="http://schemas.microsoft.com/office/drawing/2014/main" id="{59278EDB-CC45-E9F2-736C-6AA224F2C2DC}"/>
              </a:ext>
            </a:extLst>
          </p:cNvPr>
          <p:cNvSpPr>
            <a:spLocks noGrp="1"/>
          </p:cNvSpPr>
          <p:nvPr>
            <p:ph idx="1"/>
          </p:nvPr>
        </p:nvSpPr>
        <p:spPr>
          <a:xfrm>
            <a:off x="1449659" y="1750741"/>
            <a:ext cx="9601200" cy="4750420"/>
          </a:xfrm>
        </p:spPr>
        <p:txBody>
          <a:bodyPr>
            <a:normAutofit fontScale="85000" lnSpcReduction="10000"/>
          </a:bodyPr>
          <a:lstStyle/>
          <a:p>
            <a:r>
              <a:rPr lang="fr-FR" b="1" dirty="0"/>
              <a:t>Centralisation de la gestion</a:t>
            </a:r>
            <a:r>
              <a:rPr lang="fr-FR" dirty="0"/>
              <a:t> : Gérer l'ensemble des ressources de stockage à partir d'une seule interface centralisée. </a:t>
            </a:r>
          </a:p>
          <a:p>
            <a:r>
              <a:rPr lang="fr-FR" b="1" dirty="0"/>
              <a:t>Optimisation des ressources </a:t>
            </a:r>
            <a:r>
              <a:rPr lang="fr-FR" dirty="0"/>
              <a:t>: La virtualisation permet une utilisation plus efficace des ressources. Elle aide à éviter les gaspillages de capacité et assure une meilleure répartition des données.</a:t>
            </a:r>
          </a:p>
          <a:p>
            <a:r>
              <a:rPr lang="fr-FR" b="1" dirty="0"/>
              <a:t>Redondance et tolérance aux pannes</a:t>
            </a:r>
            <a:r>
              <a:rPr lang="fr-FR" dirty="0"/>
              <a:t> : La VS permet des stratégies de redondance, telles que le RAID, pour protéger les données contre les pannes matérielles. En cas de défaillance d'un disque dur, les données restent accessibles.</a:t>
            </a:r>
          </a:p>
          <a:p>
            <a:r>
              <a:rPr lang="fr-FR" b="1" dirty="0"/>
              <a:t>Simplification de la migration de données </a:t>
            </a:r>
            <a:r>
              <a:rPr lang="fr-FR" dirty="0"/>
              <a:t>: La VS simplifie la migration de données entre les différents systèmes de stockage. Cela facilite la mise à niveau du matériel, les transferts de données entre les emplacements.</a:t>
            </a:r>
          </a:p>
          <a:p>
            <a:r>
              <a:rPr lang="fr-FR" b="1" dirty="0"/>
              <a:t>Snapshot et sauvegarde</a:t>
            </a:r>
            <a:r>
              <a:rPr lang="fr-FR" dirty="0"/>
              <a:t> : La VS facilite la création de snapshots (instantanés) de données à des fins de sauvegarde, de récupération et de tests.</a:t>
            </a:r>
          </a:p>
          <a:p>
            <a:r>
              <a:rPr lang="fr-FR" b="1" dirty="0"/>
              <a:t>Évolutivité</a:t>
            </a:r>
            <a:r>
              <a:rPr lang="fr-FR" dirty="0"/>
              <a:t> : Les solutions de VS sont généralement évolutives. Il est possible d'ajouter de nouveaux disques et de nouvelles ressources sans perturber les opérations en cours.</a:t>
            </a:r>
          </a:p>
          <a:p>
            <a:r>
              <a:rPr lang="fr-FR" b="1" dirty="0"/>
              <a:t>Économies de coûts</a:t>
            </a:r>
            <a:r>
              <a:rPr lang="fr-FR" dirty="0"/>
              <a:t> : La VS peut aider à réduire les coûts en évitant des achats inutiles de matériel, en optimisant l'utilisation des ressources existantes et en réduisant la complexité de gestion.</a:t>
            </a:r>
          </a:p>
          <a:p>
            <a:endParaRPr lang="fr-FR" dirty="0"/>
          </a:p>
        </p:txBody>
      </p:sp>
    </p:spTree>
    <p:extLst>
      <p:ext uri="{BB962C8B-B14F-4D97-AF65-F5344CB8AC3E}">
        <p14:creationId xmlns:p14="http://schemas.microsoft.com/office/powerpoint/2010/main" val="40413421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00FCD0-C730-779C-F13A-D24521E27EFD}"/>
              </a:ext>
            </a:extLst>
          </p:cNvPr>
          <p:cNvSpPr>
            <a:spLocks noGrp="1"/>
          </p:cNvSpPr>
          <p:nvPr>
            <p:ph type="title"/>
          </p:nvPr>
        </p:nvSpPr>
        <p:spPr/>
        <p:txBody>
          <a:bodyPr/>
          <a:lstStyle/>
          <a:p>
            <a:r>
              <a:rPr lang="fr-FR" dirty="0"/>
              <a:t>Virtualisation des réseaux </a:t>
            </a:r>
            <a:r>
              <a:rPr lang="fr-FR" dirty="0">
                <a:solidFill>
                  <a:schemeClr val="accent2">
                    <a:lumMod val="75000"/>
                  </a:schemeClr>
                </a:solidFill>
              </a:rPr>
              <a:t>- Aperçu</a:t>
            </a:r>
            <a:endParaRPr lang="fr-MA" dirty="0">
              <a:solidFill>
                <a:schemeClr val="accent2">
                  <a:lumMod val="75000"/>
                </a:schemeClr>
              </a:solidFill>
            </a:endParaRPr>
          </a:p>
        </p:txBody>
      </p:sp>
      <p:sp>
        <p:nvSpPr>
          <p:cNvPr id="8" name="Espace réservé du contenu 7">
            <a:extLst>
              <a:ext uri="{FF2B5EF4-FFF2-40B4-BE49-F238E27FC236}">
                <a16:creationId xmlns:a16="http://schemas.microsoft.com/office/drawing/2014/main" id="{BAEF542E-8F10-99FD-52FB-CBB630E5EF45}"/>
              </a:ext>
            </a:extLst>
          </p:cNvPr>
          <p:cNvSpPr>
            <a:spLocks noGrp="1"/>
          </p:cNvSpPr>
          <p:nvPr>
            <p:ph idx="1"/>
          </p:nvPr>
        </p:nvSpPr>
        <p:spPr>
          <a:xfrm>
            <a:off x="970158" y="2285999"/>
            <a:ext cx="5125842" cy="4270917"/>
          </a:xfrm>
        </p:spPr>
        <p:txBody>
          <a:bodyPr>
            <a:normAutofit/>
          </a:bodyPr>
          <a:lstStyle/>
          <a:p>
            <a:pPr marL="342900" lvl="0" indent="-342900" algn="just">
              <a:lnSpc>
                <a:spcPct val="150000"/>
              </a:lnSpc>
              <a:spcBef>
                <a:spcPts val="600"/>
              </a:spcBef>
              <a:buFont typeface="Symbol" panose="05050102010706020507" pitchFamily="18" charset="2"/>
              <a:buChar char=""/>
              <a:tabLst>
                <a:tab pos="5018088" algn="l"/>
                <a:tab pos="5475288" algn="l"/>
                <a:tab pos="5564188" algn="l"/>
                <a:tab pos="5743575" algn="l"/>
              </a:tabLst>
            </a:pPr>
            <a:r>
              <a:rPr lang="fr-MA" sz="1800" b="1" kern="100" dirty="0">
                <a:effectLst/>
                <a:latin typeface="Times New Roman" panose="02020603050405020304" pitchFamily="18" charset="0"/>
                <a:ea typeface="Calibri" panose="020F0502020204030204" pitchFamily="34" charset="0"/>
                <a:cs typeface="Times New Roman" panose="02020603050405020304" pitchFamily="18" charset="0"/>
              </a:rPr>
              <a:t>Définition</a:t>
            </a:r>
            <a:r>
              <a:rPr lang="fr-MA"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fr-FR" sz="1800" kern="100" dirty="0">
                <a:latin typeface="Times New Roman" panose="02020603050405020304" pitchFamily="18" charset="0"/>
                <a:ea typeface="Calibri" panose="020F0502020204030204" pitchFamily="34" charset="0"/>
                <a:cs typeface="Times New Roman" panose="02020603050405020304" pitchFamily="18" charset="0"/>
              </a:rPr>
              <a:t>un concept informatique qui vise à créer des réseaux virtuels indépendants et isolés au sein d'un réseau physique. Elle permet de segmenter le réseau physique en plusieurs segments virtuels, chacun fonctionnant de manière autonome. VLAN, </a:t>
            </a:r>
            <a:r>
              <a:rPr lang="fr-FR" sz="1800" kern="100" dirty="0" err="1">
                <a:latin typeface="Times New Roman" panose="02020603050405020304" pitchFamily="18" charset="0"/>
                <a:ea typeface="Calibri" panose="020F0502020204030204" pitchFamily="34" charset="0"/>
                <a:cs typeface="Times New Roman" panose="02020603050405020304" pitchFamily="18" charset="0"/>
              </a:rPr>
              <a:t>VPNs</a:t>
            </a:r>
            <a:r>
              <a:rPr lang="fr-FR" sz="1800" kern="100" dirty="0">
                <a:latin typeface="Times New Roman" panose="02020603050405020304" pitchFamily="18" charset="0"/>
                <a:ea typeface="Calibri" panose="020F0502020204030204" pitchFamily="34" charset="0"/>
                <a:cs typeface="Times New Roman" panose="02020603050405020304" pitchFamily="18" charset="0"/>
              </a:rPr>
              <a:t> et autres.</a:t>
            </a:r>
          </a:p>
        </p:txBody>
      </p:sp>
      <p:pic>
        <p:nvPicPr>
          <p:cNvPr id="6" name="Image 5">
            <a:extLst>
              <a:ext uri="{FF2B5EF4-FFF2-40B4-BE49-F238E27FC236}">
                <a16:creationId xmlns:a16="http://schemas.microsoft.com/office/drawing/2014/main" id="{B7ABBF32-9D2B-20C3-1C5C-5EECFACE5D3B}"/>
              </a:ext>
            </a:extLst>
          </p:cNvPr>
          <p:cNvPicPr>
            <a:picLocks noChangeAspect="1"/>
          </p:cNvPicPr>
          <p:nvPr/>
        </p:nvPicPr>
        <p:blipFill>
          <a:blip r:embed="rId2"/>
          <a:stretch>
            <a:fillRect/>
          </a:stretch>
        </p:blipFill>
        <p:spPr>
          <a:xfrm>
            <a:off x="6496050" y="1885950"/>
            <a:ext cx="5600700" cy="4286250"/>
          </a:xfrm>
          <a:prstGeom prst="rect">
            <a:avLst/>
          </a:prstGeom>
        </p:spPr>
      </p:pic>
    </p:spTree>
    <p:extLst>
      <p:ext uri="{BB962C8B-B14F-4D97-AF65-F5344CB8AC3E}">
        <p14:creationId xmlns:p14="http://schemas.microsoft.com/office/powerpoint/2010/main" val="17199868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D8B651-B840-E103-7E03-92A6B554A8D5}"/>
              </a:ext>
            </a:extLst>
          </p:cNvPr>
          <p:cNvSpPr>
            <a:spLocks noGrp="1"/>
          </p:cNvSpPr>
          <p:nvPr>
            <p:ph type="title"/>
          </p:nvPr>
        </p:nvSpPr>
        <p:spPr/>
        <p:txBody>
          <a:bodyPr/>
          <a:lstStyle/>
          <a:p>
            <a:r>
              <a:rPr lang="fr-FR" dirty="0"/>
              <a:t>Virtualisation des réseaux</a:t>
            </a:r>
            <a:r>
              <a:rPr lang="fr-FR" dirty="0">
                <a:solidFill>
                  <a:schemeClr val="accent2">
                    <a:lumMod val="75000"/>
                  </a:schemeClr>
                </a:solidFill>
              </a:rPr>
              <a:t>– utilités</a:t>
            </a:r>
            <a:endParaRPr lang="fr-MA" dirty="0"/>
          </a:p>
        </p:txBody>
      </p:sp>
      <p:sp>
        <p:nvSpPr>
          <p:cNvPr id="3" name="Espace réservé du contenu 2">
            <a:extLst>
              <a:ext uri="{FF2B5EF4-FFF2-40B4-BE49-F238E27FC236}">
                <a16:creationId xmlns:a16="http://schemas.microsoft.com/office/drawing/2014/main" id="{59278EDB-CC45-E9F2-736C-6AA224F2C2DC}"/>
              </a:ext>
            </a:extLst>
          </p:cNvPr>
          <p:cNvSpPr>
            <a:spLocks noGrp="1"/>
          </p:cNvSpPr>
          <p:nvPr>
            <p:ph idx="1"/>
          </p:nvPr>
        </p:nvSpPr>
        <p:spPr>
          <a:xfrm>
            <a:off x="1449659" y="1750741"/>
            <a:ext cx="9601200" cy="4750420"/>
          </a:xfrm>
        </p:spPr>
        <p:txBody>
          <a:bodyPr>
            <a:normAutofit/>
          </a:bodyPr>
          <a:lstStyle/>
          <a:p>
            <a:r>
              <a:rPr lang="fr-FR" b="1" dirty="0"/>
              <a:t>Simplification de gestion du réseau</a:t>
            </a:r>
          </a:p>
          <a:p>
            <a:r>
              <a:rPr lang="fr-FR" b="1" dirty="0"/>
              <a:t>Réduction des couts</a:t>
            </a:r>
          </a:p>
          <a:p>
            <a:r>
              <a:rPr lang="fr-FR" b="1" dirty="0"/>
              <a:t>Isolation des réseaux</a:t>
            </a:r>
          </a:p>
        </p:txBody>
      </p:sp>
    </p:spTree>
    <p:extLst>
      <p:ext uri="{BB962C8B-B14F-4D97-AF65-F5344CB8AC3E}">
        <p14:creationId xmlns:p14="http://schemas.microsoft.com/office/powerpoint/2010/main" val="502048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a:xfrm>
            <a:off x="1371600" y="685800"/>
            <a:ext cx="10231120" cy="2202366"/>
          </a:xfrm>
        </p:spPr>
        <p:txBody>
          <a:bodyPr>
            <a:normAutofit/>
          </a:bodyPr>
          <a:lstStyle/>
          <a:p>
            <a:r>
              <a:rPr lang="fr-FR" dirty="0"/>
              <a:t>Virtualisation des réseaux</a:t>
            </a:r>
            <a:r>
              <a:rPr lang="fr-FR" dirty="0">
                <a:solidFill>
                  <a:schemeClr val="accent2">
                    <a:lumMod val="75000"/>
                  </a:schemeClr>
                </a:solidFill>
              </a:rPr>
              <a:t>– VLAN</a:t>
            </a:r>
            <a:br>
              <a:rPr lang="fr-FR" dirty="0">
                <a:solidFill>
                  <a:schemeClr val="accent2">
                    <a:lumMod val="75000"/>
                  </a:schemeClr>
                </a:solidFill>
              </a:rPr>
            </a:br>
            <a:r>
              <a:rPr lang="fr-FR" dirty="0">
                <a:solidFill>
                  <a:schemeClr val="accent2">
                    <a:lumMod val="75000"/>
                  </a:schemeClr>
                </a:solidFill>
              </a:rPr>
              <a:t>Virtual LAN</a:t>
            </a:r>
            <a:endParaRPr lang="fr-MA" sz="3200" dirty="0">
              <a:solidFill>
                <a:schemeClr val="accent2">
                  <a:lumMod val="75000"/>
                </a:schemeClr>
              </a:solidFill>
            </a:endParaRPr>
          </a:p>
        </p:txBody>
      </p:sp>
      <p:pic>
        <p:nvPicPr>
          <p:cNvPr id="4" name="Image 3">
            <a:extLst>
              <a:ext uri="{FF2B5EF4-FFF2-40B4-BE49-F238E27FC236}">
                <a16:creationId xmlns:a16="http://schemas.microsoft.com/office/drawing/2014/main" id="{7FA307A8-A071-51A1-64B0-71495E500975}"/>
              </a:ext>
            </a:extLst>
          </p:cNvPr>
          <p:cNvPicPr>
            <a:picLocks noChangeAspect="1"/>
          </p:cNvPicPr>
          <p:nvPr/>
        </p:nvPicPr>
        <p:blipFill>
          <a:blip r:embed="rId2"/>
          <a:stretch>
            <a:fillRect/>
          </a:stretch>
        </p:blipFill>
        <p:spPr>
          <a:xfrm>
            <a:off x="1371599" y="2073847"/>
            <a:ext cx="5199101" cy="2813112"/>
          </a:xfrm>
          <a:prstGeom prst="rect">
            <a:avLst/>
          </a:prstGeom>
        </p:spPr>
      </p:pic>
      <p:pic>
        <p:nvPicPr>
          <p:cNvPr id="10" name="Image 9">
            <a:extLst>
              <a:ext uri="{FF2B5EF4-FFF2-40B4-BE49-F238E27FC236}">
                <a16:creationId xmlns:a16="http://schemas.microsoft.com/office/drawing/2014/main" id="{FFA06F89-7A1D-16C0-BE17-005E35AFD121}"/>
              </a:ext>
            </a:extLst>
          </p:cNvPr>
          <p:cNvPicPr>
            <a:picLocks noChangeAspect="1"/>
          </p:cNvPicPr>
          <p:nvPr/>
        </p:nvPicPr>
        <p:blipFill>
          <a:blip r:embed="rId3"/>
          <a:stretch>
            <a:fillRect/>
          </a:stretch>
        </p:blipFill>
        <p:spPr>
          <a:xfrm>
            <a:off x="6721899" y="2073846"/>
            <a:ext cx="4932478" cy="2813113"/>
          </a:xfrm>
          <a:prstGeom prst="rect">
            <a:avLst/>
          </a:prstGeom>
        </p:spPr>
      </p:pic>
    </p:spTree>
    <p:extLst>
      <p:ext uri="{BB962C8B-B14F-4D97-AF65-F5344CB8AC3E}">
        <p14:creationId xmlns:p14="http://schemas.microsoft.com/office/powerpoint/2010/main" val="6916378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a:xfrm>
            <a:off x="1371600" y="685800"/>
            <a:ext cx="10231120" cy="2202366"/>
          </a:xfrm>
        </p:spPr>
        <p:txBody>
          <a:bodyPr>
            <a:normAutofit/>
          </a:bodyPr>
          <a:lstStyle/>
          <a:p>
            <a:r>
              <a:rPr lang="fr-FR" dirty="0"/>
              <a:t>Virtualisation des réseaux</a:t>
            </a:r>
            <a:r>
              <a:rPr lang="fr-FR" dirty="0">
                <a:solidFill>
                  <a:schemeClr val="accent2">
                    <a:lumMod val="75000"/>
                  </a:schemeClr>
                </a:solidFill>
              </a:rPr>
              <a:t>– VPN</a:t>
            </a:r>
            <a:br>
              <a:rPr lang="fr-FR" dirty="0">
                <a:solidFill>
                  <a:schemeClr val="accent2">
                    <a:lumMod val="75000"/>
                  </a:schemeClr>
                </a:solidFill>
              </a:rPr>
            </a:br>
            <a:r>
              <a:rPr lang="fr-FR" dirty="0">
                <a:solidFill>
                  <a:schemeClr val="accent2">
                    <a:lumMod val="75000"/>
                  </a:schemeClr>
                </a:solidFill>
              </a:rPr>
              <a:t>Virtual </a:t>
            </a:r>
            <a:r>
              <a:rPr lang="fr-FR" dirty="0" err="1">
                <a:solidFill>
                  <a:schemeClr val="accent2">
                    <a:lumMod val="75000"/>
                  </a:schemeClr>
                </a:solidFill>
              </a:rPr>
              <a:t>Private</a:t>
            </a:r>
            <a:r>
              <a:rPr lang="fr-FR" dirty="0">
                <a:solidFill>
                  <a:schemeClr val="accent2">
                    <a:lumMod val="75000"/>
                  </a:schemeClr>
                </a:solidFill>
              </a:rPr>
              <a:t> Network</a:t>
            </a:r>
            <a:endParaRPr lang="fr-MA" sz="3200" dirty="0">
              <a:solidFill>
                <a:schemeClr val="accent2">
                  <a:lumMod val="75000"/>
                </a:schemeClr>
              </a:solidFill>
            </a:endParaRPr>
          </a:p>
        </p:txBody>
      </p:sp>
      <p:pic>
        <p:nvPicPr>
          <p:cNvPr id="1026" name="Picture 2" descr="You are currently viewing Construction of a VPN server diagram">
            <a:extLst>
              <a:ext uri="{FF2B5EF4-FFF2-40B4-BE49-F238E27FC236}">
                <a16:creationId xmlns:a16="http://schemas.microsoft.com/office/drawing/2014/main" id="{FFEEB4D6-A83B-2179-69B5-EE813BD861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3230" y="2520950"/>
            <a:ext cx="9268558" cy="365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86466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8EDE6A-B204-4D30-E8A1-60041808CC85}"/>
              </a:ext>
            </a:extLst>
          </p:cNvPr>
          <p:cNvSpPr>
            <a:spLocks noGrp="1"/>
          </p:cNvSpPr>
          <p:nvPr>
            <p:ph type="title"/>
          </p:nvPr>
        </p:nvSpPr>
        <p:spPr>
          <a:xfrm>
            <a:off x="980440" y="142509"/>
            <a:ext cx="10231120" cy="2202366"/>
          </a:xfrm>
        </p:spPr>
        <p:txBody>
          <a:bodyPr>
            <a:normAutofit/>
          </a:bodyPr>
          <a:lstStyle/>
          <a:p>
            <a:r>
              <a:rPr lang="fr-FR" dirty="0"/>
              <a:t>Virtualisation des réseaux</a:t>
            </a:r>
            <a:r>
              <a:rPr lang="fr-FR" dirty="0">
                <a:solidFill>
                  <a:schemeClr val="accent2">
                    <a:lumMod val="75000"/>
                  </a:schemeClr>
                </a:solidFill>
              </a:rPr>
              <a:t>– SDN</a:t>
            </a:r>
            <a:br>
              <a:rPr lang="fr-FR" dirty="0">
                <a:solidFill>
                  <a:schemeClr val="accent2">
                    <a:lumMod val="75000"/>
                  </a:schemeClr>
                </a:solidFill>
              </a:rPr>
            </a:br>
            <a:r>
              <a:rPr lang="fr-FR" dirty="0">
                <a:solidFill>
                  <a:schemeClr val="accent2">
                    <a:lumMod val="75000"/>
                  </a:schemeClr>
                </a:solidFill>
              </a:rPr>
              <a:t>Software-</a:t>
            </a:r>
            <a:r>
              <a:rPr lang="fr-FR" dirty="0" err="1">
                <a:solidFill>
                  <a:schemeClr val="accent2">
                    <a:lumMod val="75000"/>
                  </a:schemeClr>
                </a:solidFill>
              </a:rPr>
              <a:t>Defined</a:t>
            </a:r>
            <a:r>
              <a:rPr lang="fr-FR" dirty="0">
                <a:solidFill>
                  <a:schemeClr val="accent2">
                    <a:lumMod val="75000"/>
                  </a:schemeClr>
                </a:solidFill>
              </a:rPr>
              <a:t> Network</a:t>
            </a:r>
            <a:endParaRPr lang="fr-MA" sz="3200" dirty="0">
              <a:solidFill>
                <a:schemeClr val="accent2">
                  <a:lumMod val="75000"/>
                </a:schemeClr>
              </a:solidFill>
            </a:endParaRPr>
          </a:p>
        </p:txBody>
      </p:sp>
      <p:pic>
        <p:nvPicPr>
          <p:cNvPr id="2050" name="Picture 2">
            <a:extLst>
              <a:ext uri="{FF2B5EF4-FFF2-40B4-BE49-F238E27FC236}">
                <a16:creationId xmlns:a16="http://schemas.microsoft.com/office/drawing/2014/main" id="{3B76402A-E31D-7E43-1819-DCCFAB132B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8528" y="1897510"/>
            <a:ext cx="4718050" cy="4835581"/>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63B13974-22EC-6F13-15B9-9845E2415A3B}"/>
              </a:ext>
            </a:extLst>
          </p:cNvPr>
          <p:cNvCxnSpPr/>
          <p:nvPr/>
        </p:nvCxnSpPr>
        <p:spPr>
          <a:xfrm>
            <a:off x="2644588" y="6063734"/>
            <a:ext cx="3926541"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4" name="TextBox 3">
            <a:extLst>
              <a:ext uri="{FF2B5EF4-FFF2-40B4-BE49-F238E27FC236}">
                <a16:creationId xmlns:a16="http://schemas.microsoft.com/office/drawing/2014/main" id="{DE2176EA-88FB-F8D7-CDC2-171E1254EBE9}"/>
              </a:ext>
            </a:extLst>
          </p:cNvPr>
          <p:cNvSpPr txBox="1"/>
          <p:nvPr/>
        </p:nvSpPr>
        <p:spPr>
          <a:xfrm>
            <a:off x="1154276" y="5694402"/>
            <a:ext cx="1490312" cy="923330"/>
          </a:xfrm>
          <a:prstGeom prst="rect">
            <a:avLst/>
          </a:prstGeom>
          <a:noFill/>
        </p:spPr>
        <p:txBody>
          <a:bodyPr wrap="square" rtlCol="0">
            <a:spAutoFit/>
          </a:bodyPr>
          <a:lstStyle/>
          <a:p>
            <a:r>
              <a:rPr lang="fr-FR" dirty="0">
                <a:solidFill>
                  <a:schemeClr val="accent6">
                    <a:lumMod val="60000"/>
                    <a:lumOff val="40000"/>
                  </a:schemeClr>
                </a:solidFill>
              </a:rPr>
              <a:t>Switch SDN, Routeur SDN, …</a:t>
            </a:r>
            <a:endParaRPr lang="en-US" dirty="0">
              <a:solidFill>
                <a:schemeClr val="accent6">
                  <a:lumMod val="60000"/>
                  <a:lumOff val="40000"/>
                </a:schemeClr>
              </a:solidFill>
            </a:endParaRPr>
          </a:p>
        </p:txBody>
      </p:sp>
      <p:cxnSp>
        <p:nvCxnSpPr>
          <p:cNvPr id="5" name="Straight Arrow Connector 4">
            <a:extLst>
              <a:ext uri="{FF2B5EF4-FFF2-40B4-BE49-F238E27FC236}">
                <a16:creationId xmlns:a16="http://schemas.microsoft.com/office/drawing/2014/main" id="{163D999A-0FFC-9998-D8C6-E557666B94EB}"/>
              </a:ext>
            </a:extLst>
          </p:cNvPr>
          <p:cNvCxnSpPr>
            <a:cxnSpLocks/>
          </p:cNvCxnSpPr>
          <p:nvPr/>
        </p:nvCxnSpPr>
        <p:spPr>
          <a:xfrm>
            <a:off x="2644588" y="4915398"/>
            <a:ext cx="4536141"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6" name="TextBox 5">
            <a:extLst>
              <a:ext uri="{FF2B5EF4-FFF2-40B4-BE49-F238E27FC236}">
                <a16:creationId xmlns:a16="http://schemas.microsoft.com/office/drawing/2014/main" id="{11B15C78-0285-CBB5-5954-3B48F40BA1BD}"/>
              </a:ext>
            </a:extLst>
          </p:cNvPr>
          <p:cNvSpPr txBox="1"/>
          <p:nvPr/>
        </p:nvSpPr>
        <p:spPr>
          <a:xfrm>
            <a:off x="849476" y="4307295"/>
            <a:ext cx="2503324" cy="923330"/>
          </a:xfrm>
          <a:prstGeom prst="rect">
            <a:avLst/>
          </a:prstGeom>
          <a:noFill/>
        </p:spPr>
        <p:txBody>
          <a:bodyPr wrap="square" rtlCol="0">
            <a:spAutoFit/>
          </a:bodyPr>
          <a:lstStyle/>
          <a:p>
            <a:r>
              <a:rPr lang="fr-FR" dirty="0">
                <a:solidFill>
                  <a:schemeClr val="accent6">
                    <a:lumMod val="60000"/>
                    <a:lumOff val="40000"/>
                  </a:schemeClr>
                </a:solidFill>
              </a:rPr>
              <a:t>Communication via un protocole SDN comme Open Flow</a:t>
            </a:r>
            <a:endParaRPr lang="en-US" dirty="0">
              <a:solidFill>
                <a:schemeClr val="accent6">
                  <a:lumMod val="60000"/>
                  <a:lumOff val="40000"/>
                </a:schemeClr>
              </a:solidFill>
            </a:endParaRPr>
          </a:p>
        </p:txBody>
      </p:sp>
      <p:sp>
        <p:nvSpPr>
          <p:cNvPr id="8" name="Right Brace 7">
            <a:extLst>
              <a:ext uri="{FF2B5EF4-FFF2-40B4-BE49-F238E27FC236}">
                <a16:creationId xmlns:a16="http://schemas.microsoft.com/office/drawing/2014/main" id="{B9BA4CE4-927E-EF2B-C900-F72F17DADBEA}"/>
              </a:ext>
            </a:extLst>
          </p:cNvPr>
          <p:cNvSpPr/>
          <p:nvPr/>
        </p:nvSpPr>
        <p:spPr>
          <a:xfrm>
            <a:off x="10372164" y="3630724"/>
            <a:ext cx="286871" cy="298700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F10D2833-32D7-659A-9F03-87EA4D900C5D}"/>
              </a:ext>
            </a:extLst>
          </p:cNvPr>
          <p:cNvSpPr txBox="1"/>
          <p:nvPr/>
        </p:nvSpPr>
        <p:spPr>
          <a:xfrm>
            <a:off x="10659035" y="4801044"/>
            <a:ext cx="1712259" cy="646331"/>
          </a:xfrm>
          <a:prstGeom prst="rect">
            <a:avLst/>
          </a:prstGeom>
          <a:noFill/>
        </p:spPr>
        <p:txBody>
          <a:bodyPr wrap="square" rtlCol="0">
            <a:spAutoFit/>
          </a:bodyPr>
          <a:lstStyle/>
          <a:p>
            <a:r>
              <a:rPr lang="fr-FR" dirty="0">
                <a:solidFill>
                  <a:schemeClr val="accent6">
                    <a:lumMod val="60000"/>
                    <a:lumOff val="40000"/>
                  </a:schemeClr>
                </a:solidFill>
              </a:rPr>
              <a:t>Architecture SDN</a:t>
            </a:r>
            <a:endParaRPr lang="en-US" dirty="0">
              <a:solidFill>
                <a:schemeClr val="accent6">
                  <a:lumMod val="60000"/>
                  <a:lumOff val="40000"/>
                </a:schemeClr>
              </a:solidFill>
            </a:endParaRPr>
          </a:p>
        </p:txBody>
      </p:sp>
    </p:spTree>
    <p:extLst>
      <p:ext uri="{BB962C8B-B14F-4D97-AF65-F5344CB8AC3E}">
        <p14:creationId xmlns:p14="http://schemas.microsoft.com/office/powerpoint/2010/main" val="42636989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23045-BE39-89D9-58CB-69DCCB73B2A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C67B8A6-F548-D62F-D1CB-3A0CBD95FC6C}"/>
              </a:ext>
            </a:extLst>
          </p:cNvPr>
          <p:cNvSpPr>
            <a:spLocks noGrp="1"/>
          </p:cNvSpPr>
          <p:nvPr>
            <p:ph type="title"/>
          </p:nvPr>
        </p:nvSpPr>
        <p:spPr>
          <a:xfrm>
            <a:off x="966226" y="150004"/>
            <a:ext cx="10231120" cy="2202366"/>
          </a:xfrm>
        </p:spPr>
        <p:txBody>
          <a:bodyPr>
            <a:normAutofit/>
          </a:bodyPr>
          <a:lstStyle/>
          <a:p>
            <a:r>
              <a:rPr lang="fr-FR" dirty="0"/>
              <a:t>Virtualisation des réseaux</a:t>
            </a:r>
            <a:r>
              <a:rPr lang="fr-FR" dirty="0">
                <a:solidFill>
                  <a:schemeClr val="accent2">
                    <a:lumMod val="75000"/>
                  </a:schemeClr>
                </a:solidFill>
              </a:rPr>
              <a:t>– SDN</a:t>
            </a:r>
            <a:br>
              <a:rPr lang="fr-FR" dirty="0">
                <a:solidFill>
                  <a:schemeClr val="accent2">
                    <a:lumMod val="75000"/>
                  </a:schemeClr>
                </a:solidFill>
              </a:rPr>
            </a:br>
            <a:r>
              <a:rPr lang="fr-FR" dirty="0" err="1">
                <a:solidFill>
                  <a:schemeClr val="accent2">
                    <a:lumMod val="75000"/>
                  </a:schemeClr>
                </a:solidFill>
              </a:rPr>
              <a:t>Sofwares</a:t>
            </a:r>
            <a:endParaRPr lang="fr-MA" sz="3200" dirty="0">
              <a:solidFill>
                <a:schemeClr val="accent2">
                  <a:lumMod val="75000"/>
                </a:schemeClr>
              </a:solidFill>
            </a:endParaRPr>
          </a:p>
        </p:txBody>
      </p:sp>
      <p:pic>
        <p:nvPicPr>
          <p:cNvPr id="11" name="Picture 10">
            <a:extLst>
              <a:ext uri="{FF2B5EF4-FFF2-40B4-BE49-F238E27FC236}">
                <a16:creationId xmlns:a16="http://schemas.microsoft.com/office/drawing/2014/main" id="{9C80C2CA-554C-B448-B6EC-F24193B3BDCE}"/>
              </a:ext>
            </a:extLst>
          </p:cNvPr>
          <p:cNvPicPr>
            <a:picLocks noChangeAspect="1"/>
          </p:cNvPicPr>
          <p:nvPr/>
        </p:nvPicPr>
        <p:blipFill>
          <a:blip r:embed="rId2"/>
          <a:stretch>
            <a:fillRect/>
          </a:stretch>
        </p:blipFill>
        <p:spPr>
          <a:xfrm>
            <a:off x="1371600" y="2827283"/>
            <a:ext cx="2745092" cy="1142552"/>
          </a:xfrm>
          <a:prstGeom prst="rect">
            <a:avLst/>
          </a:prstGeom>
        </p:spPr>
      </p:pic>
      <p:pic>
        <p:nvPicPr>
          <p:cNvPr id="13" name="Picture 12">
            <a:extLst>
              <a:ext uri="{FF2B5EF4-FFF2-40B4-BE49-F238E27FC236}">
                <a16:creationId xmlns:a16="http://schemas.microsoft.com/office/drawing/2014/main" id="{6791D617-D057-5F92-7EE0-E648C7980F51}"/>
              </a:ext>
            </a:extLst>
          </p:cNvPr>
          <p:cNvPicPr>
            <a:picLocks noChangeAspect="1"/>
          </p:cNvPicPr>
          <p:nvPr/>
        </p:nvPicPr>
        <p:blipFill>
          <a:blip r:embed="rId3"/>
          <a:stretch>
            <a:fillRect/>
          </a:stretch>
        </p:blipFill>
        <p:spPr>
          <a:xfrm>
            <a:off x="5211506" y="2352370"/>
            <a:ext cx="2551307" cy="1668555"/>
          </a:xfrm>
          <a:prstGeom prst="rect">
            <a:avLst/>
          </a:prstGeom>
        </p:spPr>
      </p:pic>
      <p:pic>
        <p:nvPicPr>
          <p:cNvPr id="10" name="Picture 9">
            <a:extLst>
              <a:ext uri="{FF2B5EF4-FFF2-40B4-BE49-F238E27FC236}">
                <a16:creationId xmlns:a16="http://schemas.microsoft.com/office/drawing/2014/main" id="{4BB154D1-D84E-01DF-59E6-B1EF4D8270B7}"/>
              </a:ext>
            </a:extLst>
          </p:cNvPr>
          <p:cNvPicPr>
            <a:picLocks noChangeAspect="1"/>
          </p:cNvPicPr>
          <p:nvPr/>
        </p:nvPicPr>
        <p:blipFill>
          <a:blip r:embed="rId4"/>
          <a:stretch>
            <a:fillRect/>
          </a:stretch>
        </p:blipFill>
        <p:spPr>
          <a:xfrm>
            <a:off x="9326898" y="2283927"/>
            <a:ext cx="2865102" cy="2229264"/>
          </a:xfrm>
          <a:prstGeom prst="rect">
            <a:avLst/>
          </a:prstGeom>
        </p:spPr>
      </p:pic>
      <p:sp>
        <p:nvSpPr>
          <p:cNvPr id="12" name="TextBox 11">
            <a:extLst>
              <a:ext uri="{FF2B5EF4-FFF2-40B4-BE49-F238E27FC236}">
                <a16:creationId xmlns:a16="http://schemas.microsoft.com/office/drawing/2014/main" id="{A7069B66-3CEA-1AF2-ADD1-3F68D354FB16}"/>
              </a:ext>
            </a:extLst>
          </p:cNvPr>
          <p:cNvSpPr txBox="1"/>
          <p:nvPr/>
        </p:nvSpPr>
        <p:spPr>
          <a:xfrm>
            <a:off x="9654989" y="2352370"/>
            <a:ext cx="1031436" cy="369332"/>
          </a:xfrm>
          <a:prstGeom prst="rect">
            <a:avLst/>
          </a:prstGeom>
          <a:noFill/>
        </p:spPr>
        <p:txBody>
          <a:bodyPr wrap="none" rtlCol="0">
            <a:spAutoFit/>
          </a:bodyPr>
          <a:lstStyle/>
          <a:p>
            <a:r>
              <a:rPr lang="fr-FR" dirty="0" err="1"/>
              <a:t>Ryo</a:t>
            </a:r>
            <a:r>
              <a:rPr lang="fr-FR" dirty="0"/>
              <a:t> SDN</a:t>
            </a:r>
            <a:endParaRPr lang="en-US" dirty="0"/>
          </a:p>
        </p:txBody>
      </p:sp>
      <p:pic>
        <p:nvPicPr>
          <p:cNvPr id="15" name="Picture 14">
            <a:extLst>
              <a:ext uri="{FF2B5EF4-FFF2-40B4-BE49-F238E27FC236}">
                <a16:creationId xmlns:a16="http://schemas.microsoft.com/office/drawing/2014/main" id="{8A58A9E2-10D9-01F3-75AF-18B563BA2926}"/>
              </a:ext>
            </a:extLst>
          </p:cNvPr>
          <p:cNvPicPr>
            <a:picLocks noChangeAspect="1"/>
          </p:cNvPicPr>
          <p:nvPr/>
        </p:nvPicPr>
        <p:blipFill>
          <a:blip r:embed="rId5"/>
          <a:stretch>
            <a:fillRect/>
          </a:stretch>
        </p:blipFill>
        <p:spPr>
          <a:xfrm>
            <a:off x="966226" y="4513191"/>
            <a:ext cx="2377609" cy="1540845"/>
          </a:xfrm>
          <a:prstGeom prst="rect">
            <a:avLst/>
          </a:prstGeom>
        </p:spPr>
      </p:pic>
      <p:pic>
        <p:nvPicPr>
          <p:cNvPr id="17" name="Picture 16">
            <a:extLst>
              <a:ext uri="{FF2B5EF4-FFF2-40B4-BE49-F238E27FC236}">
                <a16:creationId xmlns:a16="http://schemas.microsoft.com/office/drawing/2014/main" id="{0FFB6AA9-EDF1-8DE1-9C5D-E70F21D8D6DC}"/>
              </a:ext>
            </a:extLst>
          </p:cNvPr>
          <p:cNvPicPr>
            <a:picLocks noChangeAspect="1"/>
          </p:cNvPicPr>
          <p:nvPr/>
        </p:nvPicPr>
        <p:blipFill>
          <a:blip r:embed="rId6"/>
          <a:stretch>
            <a:fillRect/>
          </a:stretch>
        </p:blipFill>
        <p:spPr>
          <a:xfrm>
            <a:off x="6051176" y="5118525"/>
            <a:ext cx="2551307" cy="1307634"/>
          </a:xfrm>
          <a:prstGeom prst="rect">
            <a:avLst/>
          </a:prstGeom>
        </p:spPr>
      </p:pic>
    </p:spTree>
    <p:extLst>
      <p:ext uri="{BB962C8B-B14F-4D97-AF65-F5344CB8AC3E}">
        <p14:creationId xmlns:p14="http://schemas.microsoft.com/office/powerpoint/2010/main" val="31586270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39A3C-E716-B8ED-EB70-E64DDEB0973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D221A86-7B63-B90B-67D9-6A0D88E52C42}"/>
              </a:ext>
            </a:extLst>
          </p:cNvPr>
          <p:cNvSpPr>
            <a:spLocks noGrp="1"/>
          </p:cNvSpPr>
          <p:nvPr>
            <p:ph type="title"/>
          </p:nvPr>
        </p:nvSpPr>
        <p:spPr>
          <a:xfrm>
            <a:off x="1371600" y="685800"/>
            <a:ext cx="10231120" cy="2202366"/>
          </a:xfrm>
        </p:spPr>
        <p:txBody>
          <a:bodyPr>
            <a:normAutofit/>
          </a:bodyPr>
          <a:lstStyle/>
          <a:p>
            <a:r>
              <a:rPr lang="fr-FR" dirty="0"/>
              <a:t>Virtualisation des réseaux</a:t>
            </a:r>
            <a:r>
              <a:rPr lang="fr-FR" dirty="0">
                <a:solidFill>
                  <a:schemeClr val="accent2">
                    <a:lumMod val="75000"/>
                  </a:schemeClr>
                </a:solidFill>
              </a:rPr>
              <a:t>– SDN</a:t>
            </a:r>
            <a:br>
              <a:rPr lang="fr-FR" dirty="0">
                <a:solidFill>
                  <a:schemeClr val="accent2">
                    <a:lumMod val="75000"/>
                  </a:schemeClr>
                </a:solidFill>
              </a:rPr>
            </a:br>
            <a:r>
              <a:rPr lang="fr-FR" dirty="0">
                <a:solidFill>
                  <a:schemeClr val="accent2">
                    <a:lumMod val="75000"/>
                  </a:schemeClr>
                </a:solidFill>
              </a:rPr>
              <a:t>Hardwares</a:t>
            </a:r>
            <a:endParaRPr lang="fr-MA" sz="3200" dirty="0">
              <a:solidFill>
                <a:schemeClr val="accent2">
                  <a:lumMod val="75000"/>
                </a:schemeClr>
              </a:solidFill>
            </a:endParaRPr>
          </a:p>
        </p:txBody>
      </p:sp>
      <p:grpSp>
        <p:nvGrpSpPr>
          <p:cNvPr id="14" name="Group 13">
            <a:extLst>
              <a:ext uri="{FF2B5EF4-FFF2-40B4-BE49-F238E27FC236}">
                <a16:creationId xmlns:a16="http://schemas.microsoft.com/office/drawing/2014/main" id="{C42CCDB3-B843-A73E-6FAD-B6E934555A6C}"/>
              </a:ext>
            </a:extLst>
          </p:cNvPr>
          <p:cNvGrpSpPr/>
          <p:nvPr/>
        </p:nvGrpSpPr>
        <p:grpSpPr>
          <a:xfrm>
            <a:off x="2726705" y="2202237"/>
            <a:ext cx="6738590" cy="4386822"/>
            <a:chOff x="2726705" y="1897437"/>
            <a:chExt cx="6738590" cy="4386822"/>
          </a:xfrm>
        </p:grpSpPr>
        <p:pic>
          <p:nvPicPr>
            <p:cNvPr id="8" name="Picture 7">
              <a:extLst>
                <a:ext uri="{FF2B5EF4-FFF2-40B4-BE49-F238E27FC236}">
                  <a16:creationId xmlns:a16="http://schemas.microsoft.com/office/drawing/2014/main" id="{7ED287E1-AB70-EEC3-DB4D-E6B238E8AE6F}"/>
                </a:ext>
              </a:extLst>
            </p:cNvPr>
            <p:cNvPicPr>
              <a:picLocks noChangeAspect="1"/>
            </p:cNvPicPr>
            <p:nvPr/>
          </p:nvPicPr>
          <p:blipFill>
            <a:blip r:embed="rId2"/>
            <a:stretch>
              <a:fillRect/>
            </a:stretch>
          </p:blipFill>
          <p:spPr>
            <a:xfrm>
              <a:off x="2726705" y="1897437"/>
              <a:ext cx="6738590" cy="4386822"/>
            </a:xfrm>
            <a:prstGeom prst="rect">
              <a:avLst/>
            </a:prstGeom>
          </p:spPr>
        </p:pic>
        <p:sp>
          <p:nvSpPr>
            <p:cNvPr id="9" name="Oval 8">
              <a:extLst>
                <a:ext uri="{FF2B5EF4-FFF2-40B4-BE49-F238E27FC236}">
                  <a16:creationId xmlns:a16="http://schemas.microsoft.com/office/drawing/2014/main" id="{40B9D8E3-130E-64C3-1982-3218330EEB26}"/>
                </a:ext>
              </a:extLst>
            </p:cNvPr>
            <p:cNvSpPr/>
            <p:nvPr/>
          </p:nvSpPr>
          <p:spPr>
            <a:xfrm>
              <a:off x="7539317" y="5316071"/>
              <a:ext cx="1506071" cy="968188"/>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78654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747A5F-B535-3D5B-18BF-87AB56C1BC24}"/>
              </a:ext>
            </a:extLst>
          </p:cNvPr>
          <p:cNvSpPr>
            <a:spLocks noGrp="1"/>
          </p:cNvSpPr>
          <p:nvPr>
            <p:ph type="title"/>
          </p:nvPr>
        </p:nvSpPr>
        <p:spPr/>
        <p:txBody>
          <a:bodyPr/>
          <a:lstStyle/>
          <a:p>
            <a:r>
              <a:rPr lang="fr-FR" dirty="0"/>
              <a:t>Fonctions des hyperviseurs</a:t>
            </a:r>
            <a:endParaRPr lang="fr-MA" dirty="0"/>
          </a:p>
        </p:txBody>
      </p:sp>
      <p:sp>
        <p:nvSpPr>
          <p:cNvPr id="3" name="Espace réservé du texte 2">
            <a:extLst>
              <a:ext uri="{FF2B5EF4-FFF2-40B4-BE49-F238E27FC236}">
                <a16:creationId xmlns:a16="http://schemas.microsoft.com/office/drawing/2014/main" id="{749AA980-A7DF-EA76-E909-70F99C7DA5AE}"/>
              </a:ext>
            </a:extLst>
          </p:cNvPr>
          <p:cNvSpPr>
            <a:spLocks noGrp="1"/>
          </p:cNvSpPr>
          <p:nvPr>
            <p:ph type="body" idx="1"/>
          </p:nvPr>
        </p:nvSpPr>
        <p:spPr/>
        <p:txBody>
          <a:bodyPr/>
          <a:lstStyle/>
          <a:p>
            <a:endParaRPr lang="fr-MA"/>
          </a:p>
        </p:txBody>
      </p:sp>
    </p:spTree>
    <p:extLst>
      <p:ext uri="{BB962C8B-B14F-4D97-AF65-F5344CB8AC3E}">
        <p14:creationId xmlns:p14="http://schemas.microsoft.com/office/powerpoint/2010/main" val="37891001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05D1D-C1B2-02EF-F1A3-387B9AA713F4}"/>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A35086A8-57A9-98C7-B317-5789A87D8270}"/>
              </a:ext>
            </a:extLst>
          </p:cNvPr>
          <p:cNvSpPr>
            <a:spLocks noGrp="1"/>
          </p:cNvSpPr>
          <p:nvPr>
            <p:ph type="title"/>
          </p:nvPr>
        </p:nvSpPr>
        <p:spPr/>
        <p:txBody>
          <a:bodyPr/>
          <a:lstStyle/>
          <a:p>
            <a:r>
              <a:rPr lang="fr-FR" dirty="0"/>
              <a:t>Le stockage</a:t>
            </a:r>
            <a:endParaRPr lang="fr-MA" dirty="0"/>
          </a:p>
        </p:txBody>
      </p:sp>
      <p:sp>
        <p:nvSpPr>
          <p:cNvPr id="5" name="Espace réservé du contenu 4">
            <a:extLst>
              <a:ext uri="{FF2B5EF4-FFF2-40B4-BE49-F238E27FC236}">
                <a16:creationId xmlns:a16="http://schemas.microsoft.com/office/drawing/2014/main" id="{A904FFC0-658D-3B5A-0146-E27001C8C86C}"/>
              </a:ext>
            </a:extLst>
          </p:cNvPr>
          <p:cNvSpPr>
            <a:spLocks noGrp="1"/>
          </p:cNvSpPr>
          <p:nvPr>
            <p:ph idx="1"/>
          </p:nvPr>
        </p:nvSpPr>
        <p:spPr/>
        <p:txBody>
          <a:bodyPr>
            <a:normAutofit/>
          </a:bodyPr>
          <a:lstStyle/>
          <a:p>
            <a:r>
              <a:rPr lang="fr-MA" sz="2100" dirty="0"/>
              <a:t>Disque virtuel </a:t>
            </a:r>
            <a:r>
              <a:rPr lang="fr-MA" sz="2100" b="1" dirty="0">
                <a:solidFill>
                  <a:srgbClr val="00B0F0"/>
                </a:solidFill>
              </a:rPr>
              <a:t>basé sur un fichier </a:t>
            </a:r>
            <a:r>
              <a:rPr lang="fr-MA" sz="2100" dirty="0"/>
              <a:t>: VMDK (VMWare), VHD (Hyper-V), VHDX (Hyper-V), VDI (VirtualBox). </a:t>
            </a:r>
            <a:r>
              <a:rPr lang="fr-MA" sz="2100" i="1" dirty="0"/>
              <a:t>Permettent de manipuler la VM comme un fichier.</a:t>
            </a:r>
          </a:p>
          <a:p>
            <a:r>
              <a:rPr lang="fr-MA" sz="2100" dirty="0"/>
              <a:t>Disque virtuel de stockage </a:t>
            </a:r>
            <a:r>
              <a:rPr lang="fr-MA" sz="2100" b="1" dirty="0">
                <a:solidFill>
                  <a:schemeClr val="accent6">
                    <a:lumMod val="75000"/>
                  </a:schemeClr>
                </a:solidFill>
              </a:rPr>
              <a:t>en réseau </a:t>
            </a:r>
            <a:r>
              <a:rPr lang="fr-MA" sz="2100" dirty="0"/>
              <a:t>: NFS – Network File System (File </a:t>
            </a:r>
            <a:r>
              <a:rPr lang="fr-MA" sz="2100" dirty="0" err="1"/>
              <a:t>level</a:t>
            </a:r>
            <a:r>
              <a:rPr lang="fr-MA" sz="2100" dirty="0"/>
              <a:t>), iSCSI (block </a:t>
            </a:r>
            <a:r>
              <a:rPr lang="fr-MA" sz="2100" dirty="0" err="1"/>
              <a:t>level</a:t>
            </a:r>
            <a:r>
              <a:rPr lang="fr-MA" sz="2100" dirty="0"/>
              <a:t>), Fibre Channel (block </a:t>
            </a:r>
            <a:r>
              <a:rPr lang="fr-MA" sz="2100" dirty="0" err="1"/>
              <a:t>level</a:t>
            </a:r>
            <a:r>
              <a:rPr lang="fr-MA" sz="2100" dirty="0"/>
              <a:t>), etc.</a:t>
            </a:r>
          </a:p>
          <a:p>
            <a:r>
              <a:rPr lang="fr-FR" sz="2100" dirty="0"/>
              <a:t>Disque virtuel de stockage </a:t>
            </a:r>
            <a:r>
              <a:rPr lang="fr-FR" sz="2100" b="1" dirty="0">
                <a:solidFill>
                  <a:srgbClr val="00B050"/>
                </a:solidFill>
              </a:rPr>
              <a:t>cloud</a:t>
            </a:r>
            <a:r>
              <a:rPr lang="fr-FR" sz="2100" dirty="0"/>
              <a:t> : Amazon EBS (</a:t>
            </a:r>
            <a:r>
              <a:rPr lang="fr-FR" sz="2100" dirty="0" err="1"/>
              <a:t>Elastic</a:t>
            </a:r>
            <a:r>
              <a:rPr lang="fr-FR" sz="2100" dirty="0"/>
              <a:t> Block Store), Azure Premium Storage, ou  Google Persistent </a:t>
            </a:r>
            <a:r>
              <a:rPr lang="fr-FR" sz="2100" dirty="0" err="1"/>
              <a:t>Disks</a:t>
            </a:r>
            <a:r>
              <a:rPr lang="fr-FR" sz="2100" dirty="0"/>
              <a:t>. Ces disques sont associés aux VM dans le cloud.</a:t>
            </a:r>
          </a:p>
          <a:p>
            <a:r>
              <a:rPr lang="fr-FR" sz="2100" dirty="0"/>
              <a:t>Disque virtuel de stockage en cluster (nœuds) : très utiles pour facilite la migration des MV entre les nœuds.</a:t>
            </a:r>
            <a:br>
              <a:rPr lang="fr-FR" sz="2100" dirty="0"/>
            </a:br>
            <a:endParaRPr lang="fr-MA" sz="2100" dirty="0"/>
          </a:p>
        </p:txBody>
      </p:sp>
    </p:spTree>
    <p:extLst>
      <p:ext uri="{BB962C8B-B14F-4D97-AF65-F5344CB8AC3E}">
        <p14:creationId xmlns:p14="http://schemas.microsoft.com/office/powerpoint/2010/main" val="26999400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75BDC3-F1D9-CC56-6A88-B5B994B495C5}"/>
              </a:ext>
            </a:extLst>
          </p:cNvPr>
          <p:cNvSpPr>
            <a:spLocks noGrp="1"/>
          </p:cNvSpPr>
          <p:nvPr>
            <p:ph type="title"/>
          </p:nvPr>
        </p:nvSpPr>
        <p:spPr/>
        <p:txBody>
          <a:bodyPr/>
          <a:lstStyle/>
          <a:p>
            <a:r>
              <a:rPr lang="fr-FR" dirty="0"/>
              <a:t>Le réseau</a:t>
            </a:r>
            <a:endParaRPr lang="fr-MA" dirty="0"/>
          </a:p>
        </p:txBody>
      </p:sp>
      <p:pic>
        <p:nvPicPr>
          <p:cNvPr id="7" name="Image 6">
            <a:extLst>
              <a:ext uri="{FF2B5EF4-FFF2-40B4-BE49-F238E27FC236}">
                <a16:creationId xmlns:a16="http://schemas.microsoft.com/office/drawing/2014/main" id="{FE8BBE41-82A2-7FE9-5CE3-40B37CA76F9F}"/>
              </a:ext>
            </a:extLst>
          </p:cNvPr>
          <p:cNvPicPr>
            <a:picLocks noChangeAspect="1"/>
          </p:cNvPicPr>
          <p:nvPr/>
        </p:nvPicPr>
        <p:blipFill>
          <a:blip r:embed="rId2"/>
          <a:stretch>
            <a:fillRect/>
          </a:stretch>
        </p:blipFill>
        <p:spPr>
          <a:xfrm>
            <a:off x="2308110" y="3291840"/>
            <a:ext cx="8817090" cy="3560027"/>
          </a:xfrm>
          <a:prstGeom prst="rect">
            <a:avLst/>
          </a:prstGeom>
        </p:spPr>
      </p:pic>
      <p:sp>
        <p:nvSpPr>
          <p:cNvPr id="8" name="Espace réservé du contenu 4">
            <a:extLst>
              <a:ext uri="{FF2B5EF4-FFF2-40B4-BE49-F238E27FC236}">
                <a16:creationId xmlns:a16="http://schemas.microsoft.com/office/drawing/2014/main" id="{81CBB194-F700-E8E9-2F76-920F2163891A}"/>
              </a:ext>
            </a:extLst>
          </p:cNvPr>
          <p:cNvSpPr>
            <a:spLocks noGrp="1"/>
          </p:cNvSpPr>
          <p:nvPr>
            <p:ph idx="1"/>
          </p:nvPr>
        </p:nvSpPr>
        <p:spPr>
          <a:xfrm>
            <a:off x="1371600" y="1828800"/>
            <a:ext cx="9601200" cy="3581400"/>
          </a:xfrm>
        </p:spPr>
        <p:txBody>
          <a:bodyPr>
            <a:normAutofit/>
          </a:bodyPr>
          <a:lstStyle/>
          <a:p>
            <a:r>
              <a:rPr lang="fr-FR" sz="2100" dirty="0"/>
              <a:t>Laquelle des </a:t>
            </a:r>
            <a:r>
              <a:rPr lang="fr-FR" sz="2100" dirty="0" err="1"/>
              <a:t>VMs</a:t>
            </a:r>
            <a:r>
              <a:rPr lang="fr-FR" sz="2100" dirty="0"/>
              <a:t> est visible depuis l’</a:t>
            </a:r>
            <a:r>
              <a:rPr lang="fr-FR" sz="2100" dirty="0" err="1"/>
              <a:t>exterieur</a:t>
            </a:r>
            <a:r>
              <a:rPr lang="fr-FR" sz="2100" dirty="0"/>
              <a:t> ?</a:t>
            </a:r>
          </a:p>
          <a:p>
            <a:r>
              <a:rPr lang="fr-FR" sz="2100" dirty="0"/>
              <a:t>Laquelle des </a:t>
            </a:r>
            <a:r>
              <a:rPr lang="fr-FR" sz="2100" dirty="0" err="1"/>
              <a:t>VMs</a:t>
            </a:r>
            <a:r>
              <a:rPr lang="fr-FR" sz="2100" dirty="0"/>
              <a:t> peut accéder à internet ?</a:t>
            </a:r>
          </a:p>
          <a:p>
            <a:r>
              <a:rPr lang="fr-FR" sz="2100" dirty="0"/>
              <a:t>Laquelle peut communiquer avec laquelle ?</a:t>
            </a:r>
            <a:endParaRPr lang="fr-MA" sz="2100" dirty="0"/>
          </a:p>
        </p:txBody>
      </p:sp>
    </p:spTree>
    <p:extLst>
      <p:ext uri="{BB962C8B-B14F-4D97-AF65-F5344CB8AC3E}">
        <p14:creationId xmlns:p14="http://schemas.microsoft.com/office/powerpoint/2010/main" val="12232343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75BDC3-F1D9-CC56-6A88-B5B994B495C5}"/>
              </a:ext>
            </a:extLst>
          </p:cNvPr>
          <p:cNvSpPr>
            <a:spLocks noGrp="1"/>
          </p:cNvSpPr>
          <p:nvPr>
            <p:ph type="title"/>
          </p:nvPr>
        </p:nvSpPr>
        <p:spPr/>
        <p:txBody>
          <a:bodyPr/>
          <a:lstStyle/>
          <a:p>
            <a:r>
              <a:rPr lang="fr-FR"/>
              <a:t>Le réseau</a:t>
            </a:r>
            <a:endParaRPr lang="fr-MA" dirty="0"/>
          </a:p>
        </p:txBody>
      </p:sp>
      <p:pic>
        <p:nvPicPr>
          <p:cNvPr id="4" name="Picture 3">
            <a:extLst>
              <a:ext uri="{FF2B5EF4-FFF2-40B4-BE49-F238E27FC236}">
                <a16:creationId xmlns:a16="http://schemas.microsoft.com/office/drawing/2014/main" id="{AFBF25B4-B9A0-66F1-CDAC-8BB5A0AAEDB1}"/>
              </a:ext>
            </a:extLst>
          </p:cNvPr>
          <p:cNvPicPr>
            <a:picLocks noChangeAspect="1"/>
          </p:cNvPicPr>
          <p:nvPr/>
        </p:nvPicPr>
        <p:blipFill>
          <a:blip r:embed="rId2"/>
          <a:stretch>
            <a:fillRect/>
          </a:stretch>
        </p:blipFill>
        <p:spPr>
          <a:xfrm>
            <a:off x="5865906" y="1063951"/>
            <a:ext cx="4784164" cy="2682549"/>
          </a:xfrm>
          <a:prstGeom prst="rect">
            <a:avLst/>
          </a:prstGeom>
        </p:spPr>
      </p:pic>
      <p:pic>
        <p:nvPicPr>
          <p:cNvPr id="9" name="Picture 8">
            <a:extLst>
              <a:ext uri="{FF2B5EF4-FFF2-40B4-BE49-F238E27FC236}">
                <a16:creationId xmlns:a16="http://schemas.microsoft.com/office/drawing/2014/main" id="{8AB00619-CCA9-4A42-9980-3F9A4219964B}"/>
              </a:ext>
            </a:extLst>
          </p:cNvPr>
          <p:cNvPicPr>
            <a:picLocks noChangeAspect="1"/>
          </p:cNvPicPr>
          <p:nvPr/>
        </p:nvPicPr>
        <p:blipFill>
          <a:blip r:embed="rId3"/>
          <a:stretch>
            <a:fillRect/>
          </a:stretch>
        </p:blipFill>
        <p:spPr>
          <a:xfrm>
            <a:off x="2426567" y="4600885"/>
            <a:ext cx="7338865" cy="1774850"/>
          </a:xfrm>
          <a:prstGeom prst="rect">
            <a:avLst/>
          </a:prstGeom>
        </p:spPr>
      </p:pic>
    </p:spTree>
    <p:extLst>
      <p:ext uri="{BB962C8B-B14F-4D97-AF65-F5344CB8AC3E}">
        <p14:creationId xmlns:p14="http://schemas.microsoft.com/office/powerpoint/2010/main" val="3447427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F95EB83-C7C0-5F4B-9767-30536BCBF12B}"/>
              </a:ext>
            </a:extLst>
          </p:cNvPr>
          <p:cNvSpPr>
            <a:spLocks noGrp="1"/>
          </p:cNvSpPr>
          <p:nvPr>
            <p:ph type="title"/>
          </p:nvPr>
        </p:nvSpPr>
        <p:spPr/>
        <p:txBody>
          <a:bodyPr/>
          <a:lstStyle/>
          <a:p>
            <a:r>
              <a:rPr lang="fr-FR" dirty="0"/>
              <a:t>Docker – intro.</a:t>
            </a:r>
            <a:endParaRPr lang="fr-MA" dirty="0"/>
          </a:p>
        </p:txBody>
      </p:sp>
      <p:sp>
        <p:nvSpPr>
          <p:cNvPr id="5" name="Espace réservé du texte 4">
            <a:extLst>
              <a:ext uri="{FF2B5EF4-FFF2-40B4-BE49-F238E27FC236}">
                <a16:creationId xmlns:a16="http://schemas.microsoft.com/office/drawing/2014/main" id="{9ECA7363-00E8-4B64-54B7-58C86549FC07}"/>
              </a:ext>
            </a:extLst>
          </p:cNvPr>
          <p:cNvSpPr>
            <a:spLocks noGrp="1"/>
          </p:cNvSpPr>
          <p:nvPr>
            <p:ph type="body" idx="1"/>
          </p:nvPr>
        </p:nvSpPr>
        <p:spPr/>
        <p:txBody>
          <a:bodyPr/>
          <a:lstStyle/>
          <a:p>
            <a:endParaRPr lang="fr-MA"/>
          </a:p>
        </p:txBody>
      </p:sp>
    </p:spTree>
    <p:extLst>
      <p:ext uri="{BB962C8B-B14F-4D97-AF65-F5344CB8AC3E}">
        <p14:creationId xmlns:p14="http://schemas.microsoft.com/office/powerpoint/2010/main" val="35299221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Docker - Introduction</a:t>
            </a:r>
          </a:p>
        </p:txBody>
      </p:sp>
      <p:sp>
        <p:nvSpPr>
          <p:cNvPr id="5" name="Content Placeholder 4"/>
          <p:cNvSpPr>
            <a:spLocks noGrp="1"/>
          </p:cNvSpPr>
          <p:nvPr>
            <p:ph idx="1"/>
            <p:custDataLst>
              <p:tags r:id="rId3"/>
            </p:custDataLst>
          </p:nvPr>
        </p:nvSpPr>
        <p:spPr>
          <a:xfrm>
            <a:off x="1472541" y="2083302"/>
            <a:ext cx="10474036" cy="4222495"/>
          </a:xfrm>
        </p:spPr>
        <p:txBody>
          <a:bodyPr>
            <a:normAutofit/>
          </a:bodyPr>
          <a:lstStyle/>
          <a:p>
            <a:r>
              <a:rPr lang="fr-FR" dirty="0"/>
              <a:t>Chaque application a besoin d’un ensemble de services pour fonctionner.</a:t>
            </a:r>
          </a:p>
          <a:p>
            <a:endParaRPr lang="fr-FR" dirty="0"/>
          </a:p>
          <a:p>
            <a:r>
              <a:rPr lang="fr-FR" dirty="0"/>
              <a:t>Les services peuvent avoir des incompatibilités entre eux ou avec les services d’autres applications (Oracle / </a:t>
            </a:r>
            <a:r>
              <a:rPr lang="fr-FR" dirty="0" err="1"/>
              <a:t>Sql</a:t>
            </a:r>
            <a:r>
              <a:rPr lang="fr-FR" dirty="0"/>
              <a:t> Server, Apache / </a:t>
            </a:r>
            <a:r>
              <a:rPr lang="fr-FR" dirty="0" err="1"/>
              <a:t>Tomcat</a:t>
            </a:r>
            <a:r>
              <a:rPr lang="fr-FR" dirty="0"/>
              <a:t>/ </a:t>
            </a:r>
            <a:r>
              <a:rPr lang="fr-FR" dirty="0" err="1"/>
              <a:t>NodeJs</a:t>
            </a:r>
            <a:r>
              <a:rPr lang="fr-FR" dirty="0"/>
              <a:t>, </a:t>
            </a:r>
            <a:r>
              <a:rPr lang="fr-FR" dirty="0" err="1"/>
              <a:t>Netbeans</a:t>
            </a:r>
            <a:r>
              <a:rPr lang="fr-FR" dirty="0"/>
              <a:t>/</a:t>
            </a:r>
            <a:r>
              <a:rPr lang="fr-FR" dirty="0" err="1"/>
              <a:t>Odoo</a:t>
            </a:r>
            <a:r>
              <a:rPr lang="fr-FR" dirty="0"/>
              <a:t>, etc.).</a:t>
            </a:r>
          </a:p>
          <a:p>
            <a:endParaRPr lang="fr-FR" dirty="0"/>
          </a:p>
          <a:p>
            <a:r>
              <a:rPr lang="fr-FR" dirty="0"/>
              <a:t>Quand un service nécessite une version d’une librairie et un autre nécessite une autre version, problème !</a:t>
            </a:r>
          </a:p>
          <a:p>
            <a:endParaRPr lang="fr-FR" dirty="0"/>
          </a:p>
          <a:p>
            <a:r>
              <a:rPr lang="fr-FR" dirty="0"/>
              <a:t>Le projet évolue, les mises à jour deviennent nécessaires et les compatibilités deviennent un cauchemar.</a:t>
            </a:r>
          </a:p>
        </p:txBody>
      </p:sp>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Pourquoi docker ?</a:t>
            </a:r>
          </a:p>
        </p:txBody>
      </p:sp>
      <p:sp>
        <p:nvSpPr>
          <p:cNvPr id="5" name="Content Placeholder 4"/>
          <p:cNvSpPr>
            <a:spLocks noGrp="1"/>
          </p:cNvSpPr>
          <p:nvPr>
            <p:ph idx="1"/>
            <p:custDataLst>
              <p:tags r:id="rId3"/>
            </p:custDataLst>
          </p:nvPr>
        </p:nvSpPr>
        <p:spPr>
          <a:xfrm>
            <a:off x="2286000" y="1596414"/>
            <a:ext cx="8305800" cy="5032987"/>
          </a:xfrm>
        </p:spPr>
        <p:txBody>
          <a:bodyPr>
            <a:normAutofit lnSpcReduction="10000"/>
          </a:bodyPr>
          <a:lstStyle/>
          <a:p>
            <a:r>
              <a:rPr lang="fr-FR" sz="2400" dirty="0"/>
              <a:t>Nous avons besoin donc d’un outil qui élimine les incompatibilités</a:t>
            </a:r>
          </a:p>
          <a:p>
            <a:endParaRPr lang="fr-FR" sz="2400" dirty="0"/>
          </a:p>
          <a:p>
            <a:r>
              <a:rPr lang="fr-FR" sz="2400" dirty="0"/>
              <a:t>Différents environnements : </a:t>
            </a:r>
            <a:r>
              <a:rPr lang="fr-FR" sz="2400" dirty="0" err="1"/>
              <a:t>dev</a:t>
            </a:r>
            <a:r>
              <a:rPr lang="fr-FR" sz="2400" dirty="0"/>
              <a:t>/test/recette/</a:t>
            </a:r>
            <a:r>
              <a:rPr lang="fr-FR" sz="2400" dirty="0" err="1"/>
              <a:t>prod</a:t>
            </a:r>
            <a:endParaRPr lang="fr-FR" sz="2400" dirty="0"/>
          </a:p>
          <a:p>
            <a:pPr marL="0" indent="0">
              <a:buNone/>
            </a:pPr>
            <a:endParaRPr lang="fr-FR" sz="2400" dirty="0"/>
          </a:p>
          <a:p>
            <a:pPr marL="0" indent="0">
              <a:buNone/>
            </a:pPr>
            <a:r>
              <a:rPr lang="fr-FR" sz="2400" dirty="0">
                <a:sym typeface="Wingdings" pitchFamily="2" charset="2"/>
              </a:rPr>
              <a:t> Docker</a:t>
            </a:r>
          </a:p>
          <a:p>
            <a:pPr marL="0" indent="0">
              <a:buNone/>
            </a:pPr>
            <a:endParaRPr lang="fr-FR" sz="2400" dirty="0">
              <a:sym typeface="Wingdings" pitchFamily="2" charset="2"/>
            </a:endParaRPr>
          </a:p>
          <a:p>
            <a:pPr marL="0" indent="0">
              <a:buNone/>
            </a:pPr>
            <a:r>
              <a:rPr lang="fr-FR" sz="2400" dirty="0">
                <a:sym typeface="Wingdings" pitchFamily="2" charset="2"/>
              </a:rPr>
              <a:t>Docker fait tourner chaque application dans un environnement séparé, qui fonctionne comme une Machine Virtuelle (VM).</a:t>
            </a:r>
          </a:p>
          <a:p>
            <a:pPr marL="0" indent="0">
              <a:buNone/>
            </a:pPr>
            <a:endParaRPr lang="fr-FR" sz="2400" dirty="0">
              <a:sym typeface="Wingdings" pitchFamily="2" charset="2"/>
            </a:endParaRPr>
          </a:p>
          <a:p>
            <a:pPr marL="0" indent="0">
              <a:buNone/>
            </a:pPr>
            <a:r>
              <a:rPr lang="fr-FR" sz="2400" dirty="0">
                <a:sym typeface="Wingdings" pitchFamily="2" charset="2"/>
              </a:rPr>
              <a:t>Ces environnements sont appelés des </a:t>
            </a:r>
            <a:r>
              <a:rPr lang="fr-FR" sz="2400" b="1" dirty="0">
                <a:sym typeface="Wingdings" pitchFamily="2" charset="2"/>
              </a:rPr>
              <a:t>conteneurs</a:t>
            </a:r>
            <a:r>
              <a:rPr lang="fr-FR" sz="2400" dirty="0">
                <a:sym typeface="Wingdings" pitchFamily="2" charset="2"/>
              </a:rPr>
              <a:t>.</a:t>
            </a:r>
            <a:endParaRPr lang="fr-FR" sz="2400" dirty="0"/>
          </a:p>
        </p:txBody>
      </p:sp>
    </p:spTree>
    <p:custDataLst>
      <p:tags r:id="rId1"/>
    </p:custDataLst>
    <p:extLst>
      <p:ext uri="{BB962C8B-B14F-4D97-AF65-F5344CB8AC3E}">
        <p14:creationId xmlns:p14="http://schemas.microsoft.com/office/powerpoint/2010/main" val="22060001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Docker est il un hyperviseur ?</a:t>
            </a:r>
          </a:p>
        </p:txBody>
      </p:sp>
      <p:sp>
        <p:nvSpPr>
          <p:cNvPr id="5" name="Content Placeholder 4"/>
          <p:cNvSpPr>
            <a:spLocks noGrp="1"/>
          </p:cNvSpPr>
          <p:nvPr>
            <p:ph idx="1"/>
            <p:custDataLst>
              <p:tags r:id="rId3"/>
            </p:custDataLst>
          </p:nvPr>
        </p:nvSpPr>
        <p:spPr>
          <a:xfrm>
            <a:off x="1555668" y="1990602"/>
            <a:ext cx="10224654" cy="4365171"/>
          </a:xfrm>
        </p:spPr>
        <p:txBody>
          <a:bodyPr>
            <a:normAutofit/>
          </a:bodyPr>
          <a:lstStyle/>
          <a:p>
            <a:pPr marL="0" indent="0">
              <a:buNone/>
            </a:pPr>
            <a:r>
              <a:rPr lang="fr-FR" dirty="0"/>
              <a:t>Non, Docker est un gestionnaire de conteneurs, il ne crée pas d’OS pour chaque conteneur, mais réutilise le même Linux OS de la machine.</a:t>
            </a:r>
          </a:p>
          <a:p>
            <a:endParaRPr lang="fr-FR" dirty="0"/>
          </a:p>
          <a:p>
            <a:pPr marL="0" indent="0">
              <a:buNone/>
            </a:pPr>
            <a:r>
              <a:rPr lang="fr-FR" dirty="0"/>
              <a:t>Avantages : </a:t>
            </a:r>
          </a:p>
          <a:p>
            <a:r>
              <a:rPr lang="fr-FR" dirty="0"/>
              <a:t>Conteneuriser les applications</a:t>
            </a:r>
          </a:p>
          <a:p>
            <a:r>
              <a:rPr lang="fr-FR" dirty="0"/>
              <a:t>Exécuter chaque service avec ses dépendances dans des conteneurs séparés (Technique de cloisonnement).</a:t>
            </a:r>
          </a:p>
          <a:p>
            <a:r>
              <a:rPr lang="fr-FR" dirty="0"/>
              <a:t>Très léger (en Mb) et se lance rapidement (pas comme les </a:t>
            </a:r>
            <a:r>
              <a:rPr lang="fr-FR" dirty="0" err="1"/>
              <a:t>MVs</a:t>
            </a:r>
            <a:r>
              <a:rPr lang="fr-FR" dirty="0"/>
              <a:t>)</a:t>
            </a:r>
          </a:p>
          <a:p>
            <a:pPr marL="0" indent="0">
              <a:buNone/>
            </a:pPr>
            <a:endParaRPr lang="fr-FR" dirty="0"/>
          </a:p>
          <a:p>
            <a:pPr marL="0" indent="0">
              <a:buNone/>
            </a:pPr>
            <a:r>
              <a:rPr lang="fr-FR" i="1" dirty="0">
                <a:solidFill>
                  <a:schemeClr val="bg1">
                    <a:lumMod val="50000"/>
                  </a:schemeClr>
                </a:solidFill>
              </a:rPr>
              <a:t>Mais c’est quoi un conteneur en exact ?</a:t>
            </a:r>
          </a:p>
        </p:txBody>
      </p:sp>
    </p:spTree>
    <p:custDataLst>
      <p:tags r:id="rId1"/>
    </p:custDataLst>
    <p:extLst>
      <p:ext uri="{BB962C8B-B14F-4D97-AF65-F5344CB8AC3E}">
        <p14:creationId xmlns:p14="http://schemas.microsoft.com/office/powerpoint/2010/main" val="12813885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371600" y="685800"/>
            <a:ext cx="9601200" cy="964870"/>
          </a:xfrm>
        </p:spPr>
        <p:txBody>
          <a:bodyPr>
            <a:normAutofit/>
          </a:bodyPr>
          <a:lstStyle/>
          <a:p>
            <a:r>
              <a:rPr lang="fr-FR" dirty="0"/>
              <a:t>C’est quoi un conteneur ?	</a:t>
            </a:r>
          </a:p>
        </p:txBody>
      </p:sp>
      <p:sp>
        <p:nvSpPr>
          <p:cNvPr id="5" name="Content Placeholder 4"/>
          <p:cNvSpPr>
            <a:spLocks noGrp="1"/>
          </p:cNvSpPr>
          <p:nvPr>
            <p:ph idx="1"/>
            <p:custDataLst>
              <p:tags r:id="rId3"/>
            </p:custDataLst>
          </p:nvPr>
        </p:nvSpPr>
        <p:spPr>
          <a:xfrm>
            <a:off x="1600200" y="1972294"/>
            <a:ext cx="10379032" cy="3977244"/>
          </a:xfrm>
        </p:spPr>
        <p:txBody>
          <a:bodyPr>
            <a:normAutofit/>
          </a:bodyPr>
          <a:lstStyle/>
          <a:p>
            <a:r>
              <a:rPr lang="fr-FR" dirty="0"/>
              <a:t>Un environnement complètement isolé.</a:t>
            </a:r>
          </a:p>
          <a:p>
            <a:endParaRPr lang="fr-FR" dirty="0"/>
          </a:p>
          <a:p>
            <a:r>
              <a:rPr lang="fr-FR" dirty="0"/>
              <a:t>Il peut avoir ses propre processus, son propre réseau et son propre montage (</a:t>
            </a:r>
            <a:r>
              <a:rPr lang="fr-FR" dirty="0" err="1"/>
              <a:t>mounts</a:t>
            </a:r>
            <a:r>
              <a:rPr lang="fr-FR" dirty="0"/>
              <a:t>).</a:t>
            </a:r>
          </a:p>
          <a:p>
            <a:endParaRPr lang="fr-FR" dirty="0"/>
          </a:p>
          <a:p>
            <a:r>
              <a:rPr lang="fr-FR" dirty="0"/>
              <a:t>Tous les conteneurs se partagent le même </a:t>
            </a:r>
            <a:r>
              <a:rPr lang="fr-FR" dirty="0" err="1"/>
              <a:t>kernel</a:t>
            </a:r>
            <a:r>
              <a:rPr lang="fr-FR" dirty="0"/>
              <a:t> (Linux) que le système Hôte. Pas comme les </a:t>
            </a:r>
            <a:r>
              <a:rPr lang="fr-FR" dirty="0" err="1"/>
              <a:t>MVs</a:t>
            </a:r>
            <a:r>
              <a:rPr lang="fr-FR" dirty="0"/>
              <a:t>.            </a:t>
            </a:r>
          </a:p>
          <a:p>
            <a:endParaRPr lang="fr-FR" i="1" dirty="0"/>
          </a:p>
          <a:p>
            <a:pPr marL="0" indent="0">
              <a:buNone/>
            </a:pPr>
            <a:r>
              <a:rPr lang="fr-FR" i="1" dirty="0">
                <a:solidFill>
                  <a:schemeClr val="bg1">
                    <a:lumMod val="50000"/>
                  </a:schemeClr>
                </a:solidFill>
              </a:rPr>
              <a:t>Et si le système Hôte n’est pas linux ?</a:t>
            </a:r>
          </a:p>
          <a:p>
            <a:endParaRPr lang="fr-FR" dirty="0"/>
          </a:p>
        </p:txBody>
      </p:sp>
      <p:pic>
        <p:nvPicPr>
          <p:cNvPr id="3074" name="Picture 2" descr="Résultat de recherche d'images pour &quot;whats docker container&quot;&quot;"/>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6569032" y="4225109"/>
            <a:ext cx="5410200" cy="263289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3673082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C’est quoi un conteneur ?	</a:t>
            </a:r>
          </a:p>
        </p:txBody>
      </p:sp>
      <p:sp>
        <p:nvSpPr>
          <p:cNvPr id="5" name="Content Placeholder 4"/>
          <p:cNvSpPr>
            <a:spLocks noGrp="1"/>
          </p:cNvSpPr>
          <p:nvPr>
            <p:ph idx="1"/>
            <p:custDataLst>
              <p:tags r:id="rId3"/>
            </p:custDataLst>
          </p:nvPr>
        </p:nvSpPr>
        <p:spPr>
          <a:xfrm>
            <a:off x="1371600" y="1556657"/>
            <a:ext cx="10598726" cy="4800600"/>
          </a:xfrm>
        </p:spPr>
        <p:txBody>
          <a:bodyPr>
            <a:noAutofit/>
          </a:bodyPr>
          <a:lstStyle/>
          <a:p>
            <a:endParaRPr lang="fr-FR" dirty="0"/>
          </a:p>
          <a:p>
            <a:r>
              <a:rPr lang="fr-FR" dirty="0"/>
              <a:t>Les conteneurs existaient depuis longtemps, mais leurs mis en œuvre est compliquée, docker ne fait que simplifier cette mise en œuvre.</a:t>
            </a:r>
          </a:p>
          <a:p>
            <a:endParaRPr lang="fr-FR" i="1" dirty="0"/>
          </a:p>
          <a:p>
            <a:r>
              <a:rPr lang="fr-FR" dirty="0"/>
              <a:t>La question n’est pas de choisir Docker ou VM, dans les cas où nous avons une multitude d’applications, nous pouvons profiter des deux technologies en ayant des </a:t>
            </a:r>
            <a:r>
              <a:rPr lang="fr-FR" dirty="0" err="1"/>
              <a:t>MVs</a:t>
            </a:r>
            <a:r>
              <a:rPr lang="fr-FR" dirty="0"/>
              <a:t> dans lesquelles tournent des conteneurs docker. </a:t>
            </a:r>
          </a:p>
          <a:p>
            <a:endParaRPr lang="fr-FR" dirty="0"/>
          </a:p>
          <a:p>
            <a:r>
              <a:rPr lang="fr-FR" dirty="0"/>
              <a:t>Ainsi nous n’aurons pas à créer une VM par application, mais des centaines de conteneurs par VM.</a:t>
            </a:r>
          </a:p>
        </p:txBody>
      </p:sp>
    </p:spTree>
    <p:custDataLst>
      <p:tags r:id="rId1"/>
    </p:custDataLst>
    <p:extLst>
      <p:ext uri="{BB962C8B-B14F-4D97-AF65-F5344CB8AC3E}">
        <p14:creationId xmlns:p14="http://schemas.microsoft.com/office/powerpoint/2010/main" val="51145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Docker Hub?	</a:t>
            </a:r>
          </a:p>
        </p:txBody>
      </p:sp>
      <p:sp>
        <p:nvSpPr>
          <p:cNvPr id="5" name="Content Placeholder 4"/>
          <p:cNvSpPr>
            <a:spLocks noGrp="1"/>
          </p:cNvSpPr>
          <p:nvPr>
            <p:ph idx="1"/>
            <p:custDataLst>
              <p:tags r:id="rId3"/>
            </p:custDataLst>
          </p:nvPr>
        </p:nvSpPr>
        <p:spPr>
          <a:xfrm>
            <a:off x="1484416" y="1733549"/>
            <a:ext cx="10260280" cy="3390901"/>
          </a:xfrm>
        </p:spPr>
        <p:txBody>
          <a:bodyPr>
            <a:normAutofit/>
          </a:bodyPr>
          <a:lstStyle/>
          <a:p>
            <a:r>
              <a:rPr lang="fr-FR" dirty="0"/>
              <a:t>Docker propose un répertoire (docker hub ou docker </a:t>
            </a:r>
            <a:r>
              <a:rPr lang="fr-FR" dirty="0" err="1"/>
              <a:t>repository</a:t>
            </a:r>
            <a:r>
              <a:rPr lang="fr-FR" dirty="0"/>
              <a:t>) qui contient beaucoup d’images de conteneurs </a:t>
            </a:r>
          </a:p>
          <a:p>
            <a:endParaRPr lang="fr-FR" dirty="0"/>
          </a:p>
          <a:p>
            <a:r>
              <a:rPr lang="fr-FR" dirty="0"/>
              <a:t>Il y a beaucoup de versions conteneurisées de logiciels et d’outils, la plupart des fournisseurs et d’organisations ont des versions conteneurisées, disponibles dans le répertoire public de Docker : hub.docker.com</a:t>
            </a:r>
          </a:p>
        </p:txBody>
      </p:sp>
      <p:pic>
        <p:nvPicPr>
          <p:cNvPr id="5122" name="Picture 2"/>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2094250" y="4152929"/>
            <a:ext cx="8878550" cy="2705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3649486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Docker Hub?	</a:t>
            </a:r>
          </a:p>
        </p:txBody>
      </p:sp>
      <p:sp>
        <p:nvSpPr>
          <p:cNvPr id="5" name="Content Placeholder 4"/>
          <p:cNvSpPr>
            <a:spLocks noGrp="1"/>
          </p:cNvSpPr>
          <p:nvPr>
            <p:ph idx="1"/>
            <p:custDataLst>
              <p:tags r:id="rId3"/>
            </p:custDataLst>
          </p:nvPr>
        </p:nvSpPr>
        <p:spPr>
          <a:xfrm>
            <a:off x="1957439" y="2015609"/>
            <a:ext cx="6574345" cy="1976768"/>
          </a:xfrm>
        </p:spPr>
        <p:txBody>
          <a:bodyPr>
            <a:normAutofit/>
          </a:bodyPr>
          <a:lstStyle/>
          <a:p>
            <a:endParaRPr lang="fr-FR" sz="1800" dirty="0"/>
          </a:p>
          <a:p>
            <a:r>
              <a:rPr lang="fr-FR" sz="1800" dirty="0"/>
              <a:t>On peut trouver des outils avancés complexes, basés </a:t>
            </a:r>
          </a:p>
          <a:p>
            <a:pPr marL="0" indent="0">
              <a:buNone/>
            </a:pPr>
            <a:r>
              <a:rPr lang="fr-FR" sz="1800" dirty="0"/>
              <a:t>sur plusieurs services</a:t>
            </a:r>
          </a:p>
        </p:txBody>
      </p:sp>
      <p:grpSp>
        <p:nvGrpSpPr>
          <p:cNvPr id="3" name="Groupe 2">
            <a:extLst>
              <a:ext uri="{FF2B5EF4-FFF2-40B4-BE49-F238E27FC236}">
                <a16:creationId xmlns:a16="http://schemas.microsoft.com/office/drawing/2014/main" id="{7B72EEA7-882C-77A2-DFAA-4287DED1E1D8}"/>
              </a:ext>
            </a:extLst>
          </p:cNvPr>
          <p:cNvGrpSpPr/>
          <p:nvPr/>
        </p:nvGrpSpPr>
        <p:grpSpPr>
          <a:xfrm>
            <a:off x="1325237" y="5212794"/>
            <a:ext cx="3162300" cy="1243423"/>
            <a:chOff x="2319531" y="2880902"/>
            <a:chExt cx="3162300" cy="1243423"/>
          </a:xfrm>
        </p:grpSpPr>
        <p:pic>
          <p:nvPicPr>
            <p:cNvPr id="614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9531" y="2880902"/>
              <a:ext cx="31623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ZoneTexte 9"/>
            <p:cNvSpPr txBox="1"/>
            <p:nvPr/>
          </p:nvSpPr>
          <p:spPr>
            <a:xfrm>
              <a:off x="3179980" y="3754993"/>
              <a:ext cx="2285819" cy="369332"/>
            </a:xfrm>
            <a:prstGeom prst="rect">
              <a:avLst/>
            </a:prstGeom>
            <a:noFill/>
          </p:spPr>
          <p:txBody>
            <a:bodyPr wrap="none" rtlCol="0">
              <a:spAutoFit/>
            </a:bodyPr>
            <a:lstStyle/>
            <a:p>
              <a:r>
                <a:rPr lang="en-US" dirty="0" err="1">
                  <a:solidFill>
                    <a:schemeClr val="tx2">
                      <a:lumMod val="60000"/>
                      <a:lumOff val="40000"/>
                    </a:schemeClr>
                  </a:solidFill>
                </a:rPr>
                <a:t>docker</a:t>
              </a:r>
              <a:r>
                <a:rPr lang="en-US" dirty="0">
                  <a:solidFill>
                    <a:schemeClr val="tx2">
                      <a:lumMod val="60000"/>
                      <a:lumOff val="40000"/>
                    </a:schemeClr>
                  </a:solidFill>
                </a:rPr>
                <a:t> run </a:t>
              </a:r>
              <a:r>
                <a:rPr lang="en-US" dirty="0" err="1">
                  <a:solidFill>
                    <a:schemeClr val="tx2">
                      <a:lumMod val="60000"/>
                      <a:lumOff val="40000"/>
                    </a:schemeClr>
                  </a:solidFill>
                </a:rPr>
                <a:t>wordpress</a:t>
              </a:r>
              <a:endParaRPr lang="en-US" dirty="0">
                <a:solidFill>
                  <a:schemeClr val="tx2">
                    <a:lumMod val="60000"/>
                    <a:lumOff val="40000"/>
                  </a:schemeClr>
                </a:solidFill>
              </a:endParaRPr>
            </a:p>
          </p:txBody>
        </p:sp>
      </p:grpSp>
      <p:grpSp>
        <p:nvGrpSpPr>
          <p:cNvPr id="4" name="Groupe 3">
            <a:extLst>
              <a:ext uri="{FF2B5EF4-FFF2-40B4-BE49-F238E27FC236}">
                <a16:creationId xmlns:a16="http://schemas.microsoft.com/office/drawing/2014/main" id="{17FDDDFF-102E-270A-A199-432E5A1E1855}"/>
              </a:ext>
            </a:extLst>
          </p:cNvPr>
          <p:cNvGrpSpPr/>
          <p:nvPr/>
        </p:nvGrpSpPr>
        <p:grpSpPr>
          <a:xfrm>
            <a:off x="5053748" y="4926613"/>
            <a:ext cx="3190875" cy="1267896"/>
            <a:chOff x="2590801" y="4567238"/>
            <a:chExt cx="3190875" cy="1267896"/>
          </a:xfrm>
        </p:grpSpPr>
        <p:pic>
          <p:nvPicPr>
            <p:cNvPr id="614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1" y="4567238"/>
              <a:ext cx="3190875"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ZoneTexte 10"/>
            <p:cNvSpPr txBox="1"/>
            <p:nvPr/>
          </p:nvSpPr>
          <p:spPr>
            <a:xfrm>
              <a:off x="3712051" y="5465802"/>
              <a:ext cx="1769780" cy="369332"/>
            </a:xfrm>
            <a:prstGeom prst="rect">
              <a:avLst/>
            </a:prstGeom>
            <a:noFill/>
          </p:spPr>
          <p:txBody>
            <a:bodyPr wrap="none" rtlCol="0">
              <a:spAutoFit/>
            </a:bodyPr>
            <a:lstStyle/>
            <a:p>
              <a:r>
                <a:rPr lang="en-US" dirty="0" err="1">
                  <a:solidFill>
                    <a:schemeClr val="tx2">
                      <a:lumMod val="60000"/>
                      <a:lumOff val="40000"/>
                    </a:schemeClr>
                  </a:solidFill>
                </a:rPr>
                <a:t>docker</a:t>
              </a:r>
              <a:r>
                <a:rPr lang="en-US" dirty="0">
                  <a:solidFill>
                    <a:schemeClr val="tx2">
                      <a:lumMod val="60000"/>
                      <a:lumOff val="40000"/>
                    </a:schemeClr>
                  </a:solidFill>
                </a:rPr>
                <a:t> run </a:t>
              </a:r>
              <a:r>
                <a:rPr lang="en-US" dirty="0" err="1">
                  <a:solidFill>
                    <a:schemeClr val="tx2">
                      <a:lumMod val="60000"/>
                      <a:lumOff val="40000"/>
                    </a:schemeClr>
                  </a:solidFill>
                </a:rPr>
                <a:t>odoo</a:t>
              </a:r>
              <a:endParaRPr lang="en-US" dirty="0">
                <a:solidFill>
                  <a:schemeClr val="tx2">
                    <a:lumMod val="60000"/>
                    <a:lumOff val="40000"/>
                  </a:schemeClr>
                </a:solidFill>
              </a:endParaRPr>
            </a:p>
          </p:txBody>
        </p:sp>
      </p:grpSp>
      <p:grpSp>
        <p:nvGrpSpPr>
          <p:cNvPr id="6" name="Groupe 5">
            <a:extLst>
              <a:ext uri="{FF2B5EF4-FFF2-40B4-BE49-F238E27FC236}">
                <a16:creationId xmlns:a16="http://schemas.microsoft.com/office/drawing/2014/main" id="{B1ADE4E4-15A7-BA5D-D448-B36EF02AA289}"/>
              </a:ext>
            </a:extLst>
          </p:cNvPr>
          <p:cNvGrpSpPr/>
          <p:nvPr/>
        </p:nvGrpSpPr>
        <p:grpSpPr>
          <a:xfrm>
            <a:off x="8843407" y="685800"/>
            <a:ext cx="2584689" cy="6123883"/>
            <a:chOff x="8843407" y="685800"/>
            <a:chExt cx="2584689" cy="6123883"/>
          </a:xfrm>
        </p:grpSpPr>
        <p:pic>
          <p:nvPicPr>
            <p:cNvPr id="6148" name="Picture 4"/>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9377046" y="685800"/>
              <a:ext cx="205105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ZoneTexte 11"/>
            <p:cNvSpPr txBox="1"/>
            <p:nvPr/>
          </p:nvSpPr>
          <p:spPr>
            <a:xfrm>
              <a:off x="8987080" y="1830943"/>
              <a:ext cx="1950919" cy="369332"/>
            </a:xfrm>
            <a:prstGeom prst="rect">
              <a:avLst/>
            </a:prstGeom>
            <a:noFill/>
          </p:spPr>
          <p:txBody>
            <a:bodyPr wrap="none" rtlCol="0">
              <a:spAutoFit/>
            </a:bodyPr>
            <a:lstStyle/>
            <a:p>
              <a:r>
                <a:rPr lang="en-US" dirty="0" err="1">
                  <a:solidFill>
                    <a:schemeClr val="tx2">
                      <a:lumMod val="60000"/>
                      <a:lumOff val="40000"/>
                    </a:schemeClr>
                  </a:solidFill>
                </a:rPr>
                <a:t>docker</a:t>
              </a:r>
              <a:r>
                <a:rPr lang="en-US" dirty="0">
                  <a:solidFill>
                    <a:schemeClr val="tx2">
                      <a:lumMod val="60000"/>
                      <a:lumOff val="40000"/>
                    </a:schemeClr>
                  </a:solidFill>
                </a:rPr>
                <a:t> run mongo</a:t>
              </a:r>
            </a:p>
          </p:txBody>
        </p:sp>
        <p:sp>
          <p:nvSpPr>
            <p:cNvPr id="13" name="ZoneTexte 12"/>
            <p:cNvSpPr txBox="1"/>
            <p:nvPr/>
          </p:nvSpPr>
          <p:spPr>
            <a:xfrm>
              <a:off x="8987080" y="3726418"/>
              <a:ext cx="2091983" cy="369332"/>
            </a:xfrm>
            <a:prstGeom prst="rect">
              <a:avLst/>
            </a:prstGeom>
            <a:noFill/>
          </p:spPr>
          <p:txBody>
            <a:bodyPr wrap="none" rtlCol="0">
              <a:spAutoFit/>
            </a:bodyPr>
            <a:lstStyle/>
            <a:p>
              <a:r>
                <a:rPr lang="en-US" dirty="0" err="1">
                  <a:solidFill>
                    <a:schemeClr val="tx2">
                      <a:lumMod val="60000"/>
                      <a:lumOff val="40000"/>
                    </a:schemeClr>
                  </a:solidFill>
                </a:rPr>
                <a:t>docker</a:t>
              </a:r>
              <a:r>
                <a:rPr lang="en-US" dirty="0">
                  <a:solidFill>
                    <a:schemeClr val="tx2">
                      <a:lumMod val="60000"/>
                      <a:lumOff val="40000"/>
                    </a:schemeClr>
                  </a:solidFill>
                </a:rPr>
                <a:t> run </a:t>
              </a:r>
              <a:r>
                <a:rPr lang="en-US" dirty="0" err="1">
                  <a:solidFill>
                    <a:schemeClr val="tx2">
                      <a:lumMod val="60000"/>
                      <a:lumOff val="40000"/>
                    </a:schemeClr>
                  </a:solidFill>
                </a:rPr>
                <a:t>mariadb</a:t>
              </a:r>
              <a:endParaRPr lang="en-US" dirty="0">
                <a:solidFill>
                  <a:schemeClr val="tx2">
                    <a:lumMod val="60000"/>
                    <a:lumOff val="40000"/>
                  </a:schemeClr>
                </a:solidFill>
              </a:endParaRPr>
            </a:p>
          </p:txBody>
        </p:sp>
        <p:sp>
          <p:nvSpPr>
            <p:cNvPr id="14" name="ZoneTexte 13"/>
            <p:cNvSpPr txBox="1"/>
            <p:nvPr/>
          </p:nvSpPr>
          <p:spPr>
            <a:xfrm>
              <a:off x="8933148" y="5484152"/>
              <a:ext cx="1890005" cy="369332"/>
            </a:xfrm>
            <a:prstGeom prst="rect">
              <a:avLst/>
            </a:prstGeom>
            <a:noFill/>
          </p:spPr>
          <p:txBody>
            <a:bodyPr wrap="none" rtlCol="0">
              <a:spAutoFit/>
            </a:bodyPr>
            <a:lstStyle/>
            <a:p>
              <a:r>
                <a:rPr lang="en-US" dirty="0" err="1">
                  <a:solidFill>
                    <a:schemeClr val="tx2">
                      <a:lumMod val="60000"/>
                      <a:lumOff val="40000"/>
                    </a:schemeClr>
                  </a:solidFill>
                </a:rPr>
                <a:t>docker</a:t>
              </a:r>
              <a:r>
                <a:rPr lang="en-US" dirty="0">
                  <a:solidFill>
                    <a:schemeClr val="tx2">
                      <a:lumMod val="60000"/>
                      <a:lumOff val="40000"/>
                    </a:schemeClr>
                  </a:solidFill>
                </a:rPr>
                <a:t> run </a:t>
              </a:r>
              <a:r>
                <a:rPr lang="en-US" dirty="0" err="1">
                  <a:solidFill>
                    <a:schemeClr val="tx2">
                      <a:lumMod val="60000"/>
                      <a:lumOff val="40000"/>
                    </a:schemeClr>
                  </a:solidFill>
                </a:rPr>
                <a:t>redius</a:t>
              </a:r>
              <a:endParaRPr lang="en-US" dirty="0">
                <a:solidFill>
                  <a:schemeClr val="tx2">
                    <a:lumMod val="60000"/>
                    <a:lumOff val="40000"/>
                  </a:schemeClr>
                </a:solidFill>
              </a:endParaRPr>
            </a:p>
          </p:txBody>
        </p:sp>
        <p:sp>
          <p:nvSpPr>
            <p:cNvPr id="15" name="ZoneTexte 14"/>
            <p:cNvSpPr txBox="1"/>
            <p:nvPr/>
          </p:nvSpPr>
          <p:spPr>
            <a:xfrm>
              <a:off x="8843407" y="6440351"/>
              <a:ext cx="1847109" cy="369332"/>
            </a:xfrm>
            <a:prstGeom prst="rect">
              <a:avLst/>
            </a:prstGeom>
            <a:noFill/>
          </p:spPr>
          <p:txBody>
            <a:bodyPr wrap="none" rtlCol="0">
              <a:spAutoFit/>
            </a:bodyPr>
            <a:lstStyle/>
            <a:p>
              <a:r>
                <a:rPr lang="en-US" dirty="0" err="1">
                  <a:solidFill>
                    <a:schemeClr val="tx2">
                      <a:lumMod val="60000"/>
                      <a:lumOff val="40000"/>
                    </a:schemeClr>
                  </a:solidFill>
                </a:rPr>
                <a:t>docker</a:t>
              </a:r>
              <a:r>
                <a:rPr lang="en-US" dirty="0">
                  <a:solidFill>
                    <a:schemeClr val="tx2">
                      <a:lumMod val="60000"/>
                      <a:lumOff val="40000"/>
                    </a:schemeClr>
                  </a:solidFill>
                </a:rPr>
                <a:t> run </a:t>
              </a:r>
              <a:r>
                <a:rPr lang="en-US" dirty="0" err="1">
                  <a:solidFill>
                    <a:schemeClr val="tx2">
                      <a:lumMod val="60000"/>
                      <a:lumOff val="40000"/>
                    </a:schemeClr>
                  </a:solidFill>
                </a:rPr>
                <a:t>mysql</a:t>
              </a:r>
              <a:endParaRPr lang="en-US" dirty="0">
                <a:solidFill>
                  <a:schemeClr val="tx2">
                    <a:lumMod val="60000"/>
                    <a:lumOff val="40000"/>
                  </a:schemeClr>
                </a:solidFill>
              </a:endParaRPr>
            </a:p>
          </p:txBody>
        </p:sp>
      </p:grpSp>
    </p:spTree>
    <p:custDataLst>
      <p:tags r:id="rId1"/>
    </p:custDataLst>
    <p:extLst>
      <p:ext uri="{BB962C8B-B14F-4D97-AF65-F5344CB8AC3E}">
        <p14:creationId xmlns:p14="http://schemas.microsoft.com/office/powerpoint/2010/main" val="4959227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Images Vs Conteneurs	</a:t>
            </a:r>
          </a:p>
        </p:txBody>
      </p:sp>
      <p:sp>
        <p:nvSpPr>
          <p:cNvPr id="5" name="Content Placeholder 4"/>
          <p:cNvSpPr>
            <a:spLocks noGrp="1"/>
          </p:cNvSpPr>
          <p:nvPr>
            <p:ph idx="1"/>
            <p:custDataLst>
              <p:tags r:id="rId3"/>
            </p:custDataLst>
          </p:nvPr>
        </p:nvSpPr>
        <p:spPr>
          <a:xfrm>
            <a:off x="1721922" y="1675410"/>
            <a:ext cx="9512135" cy="4800600"/>
          </a:xfrm>
        </p:spPr>
        <p:txBody>
          <a:bodyPr>
            <a:normAutofit/>
          </a:bodyPr>
          <a:lstStyle/>
          <a:p>
            <a:endParaRPr lang="fr-FR" sz="1800" dirty="0"/>
          </a:p>
          <a:p>
            <a:r>
              <a:rPr lang="fr-FR" sz="1800" dirty="0"/>
              <a:t>Une images est un </a:t>
            </a:r>
            <a:r>
              <a:rPr lang="fr-FR" sz="1800" dirty="0" err="1"/>
              <a:t>template</a:t>
            </a:r>
            <a:r>
              <a:rPr lang="fr-FR" sz="1800" dirty="0"/>
              <a:t> de conteneurs, utilisée pour créer un ou plusieurs conteneurs.</a:t>
            </a:r>
          </a:p>
          <a:p>
            <a:endParaRPr lang="fr-FR" sz="1800" dirty="0"/>
          </a:p>
          <a:p>
            <a:r>
              <a:rPr lang="fr-FR" sz="1800" dirty="0"/>
              <a:t>Un conteneur est une instance d’image qui a son propre environnement</a:t>
            </a:r>
          </a:p>
          <a:p>
            <a:endParaRPr lang="fr-FR" sz="1800" dirty="0"/>
          </a:p>
          <a:p>
            <a:r>
              <a:rPr lang="fr-FR" sz="1800" dirty="0"/>
              <a:t>Vous aussi pouvez créer votre propre image via ce que l’on appelle </a:t>
            </a:r>
            <a:r>
              <a:rPr lang="fr-FR" sz="1800" b="1" dirty="0" err="1"/>
              <a:t>DockerFile</a:t>
            </a:r>
            <a:endParaRPr lang="fr-FR" sz="1800" b="1" dirty="0"/>
          </a:p>
          <a:p>
            <a:endParaRPr lang="fr-FR" sz="1800" dirty="0"/>
          </a:p>
          <a:p>
            <a:r>
              <a:rPr lang="fr-FR" sz="1800" dirty="0"/>
              <a:t>Avec </a:t>
            </a:r>
            <a:r>
              <a:rPr lang="fr-FR" sz="1800" b="1" dirty="0" err="1"/>
              <a:t>DockerFile</a:t>
            </a:r>
            <a:r>
              <a:rPr lang="fr-FR" sz="1800" dirty="0"/>
              <a:t>, les développeurs peuvent se passer d’utiliser un guide de déploiement (comment la machine doit être installé et comment l’application doit être déployée), et donner un </a:t>
            </a:r>
            <a:r>
              <a:rPr lang="fr-FR" sz="1800" b="1" dirty="0" err="1"/>
              <a:t>DockerFile</a:t>
            </a:r>
            <a:r>
              <a:rPr lang="fr-FR" sz="1800" dirty="0"/>
              <a:t> permettant de créer un conteneur.</a:t>
            </a:r>
          </a:p>
          <a:p>
            <a:endParaRPr lang="fr-FR" sz="1800" dirty="0"/>
          </a:p>
          <a:p>
            <a:pPr marL="0" indent="0">
              <a:buNone/>
            </a:pPr>
            <a:r>
              <a:rPr lang="fr-FR" sz="1800" dirty="0">
                <a:sym typeface="Wingdings" pitchFamily="2" charset="2"/>
              </a:rPr>
              <a:t> Voici comment docker contribue dans la mentalité </a:t>
            </a:r>
            <a:r>
              <a:rPr lang="fr-FR" sz="1800" dirty="0" err="1">
                <a:sym typeface="Wingdings" pitchFamily="2" charset="2"/>
              </a:rPr>
              <a:t>Devops</a:t>
            </a:r>
            <a:endParaRPr lang="fr-FR" sz="1800" dirty="0"/>
          </a:p>
        </p:txBody>
      </p:sp>
    </p:spTree>
    <p:custDataLst>
      <p:tags r:id="rId1"/>
    </p:custDataLst>
    <p:extLst>
      <p:ext uri="{BB962C8B-B14F-4D97-AF65-F5344CB8AC3E}">
        <p14:creationId xmlns:p14="http://schemas.microsoft.com/office/powerpoint/2010/main" val="595709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568CB541-FB48-6C9D-4D04-DC23E6A2D207}"/>
              </a:ext>
            </a:extLst>
          </p:cNvPr>
          <p:cNvSpPr txBox="1"/>
          <p:nvPr/>
        </p:nvSpPr>
        <p:spPr>
          <a:xfrm>
            <a:off x="1524000" y="609600"/>
            <a:ext cx="9144000" cy="5867400"/>
          </a:xfrm>
          <a:prstGeom prst="rect">
            <a:avLst/>
          </a:prstGeom>
          <a:noFill/>
        </p:spPr>
        <p:txBody>
          <a:bodyPr wrap="square" rtlCol="0">
            <a:noAutofit/>
          </a:bodyPr>
          <a:lstStyle/>
          <a:p>
            <a:pPr algn="ctr"/>
            <a:endParaRPr lang="fr-FR" sz="4400" b="1" dirty="0"/>
          </a:p>
          <a:p>
            <a:pPr algn="ctr"/>
            <a:endParaRPr lang="fr-FR" sz="4400" b="1" dirty="0"/>
          </a:p>
          <a:p>
            <a:pPr algn="ctr"/>
            <a:r>
              <a:rPr lang="fr-FR" sz="4400" b="1" dirty="0"/>
              <a:t>Docker </a:t>
            </a:r>
            <a:endParaRPr lang="fr-FR" sz="4000" b="1" dirty="0"/>
          </a:p>
          <a:p>
            <a:pPr algn="ctr"/>
            <a:r>
              <a:rPr lang="fr-FR" sz="4000" dirty="0"/>
              <a:t>est fait pour </a:t>
            </a:r>
          </a:p>
          <a:p>
            <a:pPr algn="ctr"/>
            <a:r>
              <a:rPr lang="fr-FR" sz="4400" b="1" dirty="0"/>
              <a:t>packager et conteneuriser </a:t>
            </a:r>
          </a:p>
          <a:p>
            <a:pPr algn="ctr"/>
            <a:r>
              <a:rPr lang="fr-FR" sz="4000" dirty="0"/>
              <a:t>les applications afin de </a:t>
            </a:r>
          </a:p>
          <a:p>
            <a:pPr algn="ctr"/>
            <a:r>
              <a:rPr lang="fr-FR" sz="4000" dirty="0"/>
              <a:t>les </a:t>
            </a:r>
            <a:r>
              <a:rPr lang="fr-FR" sz="4400" b="1" dirty="0"/>
              <a:t>faire tourner </a:t>
            </a:r>
            <a:r>
              <a:rPr lang="fr-FR" sz="4000" dirty="0"/>
              <a:t>partout dans </a:t>
            </a:r>
          </a:p>
          <a:p>
            <a:pPr algn="ctr"/>
            <a:r>
              <a:rPr lang="fr-FR" sz="4400" b="1" dirty="0"/>
              <a:t>le même environnement</a:t>
            </a:r>
          </a:p>
        </p:txBody>
      </p:sp>
      <p:pic>
        <p:nvPicPr>
          <p:cNvPr id="5" name="Picture 2" descr="Résultat de recherche d'images pour &quot;A retenir&quot;&quot;">
            <a:extLst>
              <a:ext uri="{FF2B5EF4-FFF2-40B4-BE49-F238E27FC236}">
                <a16:creationId xmlns:a16="http://schemas.microsoft.com/office/drawing/2014/main" id="{C46BAAC0-B90D-A4CA-7E08-B980833E46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
            <a:ext cx="285750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0462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8EC68F5F-511E-2C1A-0369-7D8D5492F64B}"/>
              </a:ext>
            </a:extLst>
          </p:cNvPr>
          <p:cNvSpPr>
            <a:spLocks noGrp="1"/>
          </p:cNvSpPr>
          <p:nvPr>
            <p:ph type="title"/>
          </p:nvPr>
        </p:nvSpPr>
        <p:spPr/>
        <p:txBody>
          <a:bodyPr/>
          <a:lstStyle/>
          <a:p>
            <a:r>
              <a:rPr lang="fr-FR" dirty="0"/>
              <a:t>Docker – how to?</a:t>
            </a:r>
            <a:endParaRPr lang="fr-MA" dirty="0"/>
          </a:p>
        </p:txBody>
      </p:sp>
      <p:sp>
        <p:nvSpPr>
          <p:cNvPr id="7" name="Espace réservé du texte 6">
            <a:extLst>
              <a:ext uri="{FF2B5EF4-FFF2-40B4-BE49-F238E27FC236}">
                <a16:creationId xmlns:a16="http://schemas.microsoft.com/office/drawing/2014/main" id="{A68F6664-8DE8-91BF-9CC6-8031292C6B66}"/>
              </a:ext>
            </a:extLst>
          </p:cNvPr>
          <p:cNvSpPr>
            <a:spLocks noGrp="1"/>
          </p:cNvSpPr>
          <p:nvPr>
            <p:ph type="body" idx="1"/>
          </p:nvPr>
        </p:nvSpPr>
        <p:spPr/>
        <p:txBody>
          <a:bodyPr/>
          <a:lstStyle/>
          <a:p>
            <a:endParaRPr lang="fr-MA"/>
          </a:p>
        </p:txBody>
      </p:sp>
    </p:spTree>
    <p:extLst>
      <p:ext uri="{BB962C8B-B14F-4D97-AF65-F5344CB8AC3E}">
        <p14:creationId xmlns:p14="http://schemas.microsoft.com/office/powerpoint/2010/main" val="27088412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Docker : Commandes (1)	</a:t>
            </a:r>
          </a:p>
        </p:txBody>
      </p:sp>
      <p:sp>
        <p:nvSpPr>
          <p:cNvPr id="5" name="Content Placeholder 4"/>
          <p:cNvSpPr>
            <a:spLocks noGrp="1"/>
          </p:cNvSpPr>
          <p:nvPr>
            <p:ph idx="1"/>
            <p:custDataLst>
              <p:tags r:id="rId3"/>
            </p:custDataLst>
          </p:nvPr>
        </p:nvSpPr>
        <p:spPr>
          <a:xfrm>
            <a:off x="1757680" y="1803400"/>
            <a:ext cx="9601200" cy="4719320"/>
          </a:xfrm>
        </p:spPr>
        <p:txBody>
          <a:bodyPr>
            <a:normAutofit/>
          </a:bodyPr>
          <a:lstStyle/>
          <a:p>
            <a:r>
              <a:rPr lang="fr-FR" dirty="0"/>
              <a:t>Installer docker dans votre système (</a:t>
            </a:r>
            <a:r>
              <a:rPr lang="fr-FR" dirty="0" err="1"/>
              <a:t>community</a:t>
            </a:r>
            <a:r>
              <a:rPr lang="fr-FR" dirty="0"/>
              <a:t> version)</a:t>
            </a:r>
          </a:p>
          <a:p>
            <a:r>
              <a:rPr lang="fr-FR" dirty="0"/>
              <a:t>Créer et démarrer un conteneur :  </a:t>
            </a:r>
            <a:r>
              <a:rPr lang="fr-FR" b="1" dirty="0"/>
              <a:t>docker run </a:t>
            </a:r>
            <a:r>
              <a:rPr lang="fr-FR" b="1" dirty="0" err="1"/>
              <a:t>nginx</a:t>
            </a:r>
            <a:r>
              <a:rPr lang="fr-FR" b="1" dirty="0"/>
              <a:t> </a:t>
            </a:r>
          </a:p>
          <a:p>
            <a:endParaRPr lang="fr-FR" b="1" dirty="0"/>
          </a:p>
          <a:p>
            <a:endParaRPr lang="fr-FR" b="1" dirty="0"/>
          </a:p>
          <a:p>
            <a:endParaRPr lang="fr-FR" b="1" dirty="0"/>
          </a:p>
          <a:p>
            <a:endParaRPr lang="fr-FR" b="1" dirty="0"/>
          </a:p>
          <a:p>
            <a:r>
              <a:rPr lang="fr-FR" dirty="0"/>
              <a:t>ce conteneur est une instance de l’image </a:t>
            </a:r>
            <a:r>
              <a:rPr lang="fr-FR" dirty="0" err="1"/>
              <a:t>nginx</a:t>
            </a:r>
            <a:r>
              <a:rPr lang="fr-FR" dirty="0"/>
              <a:t>, une fois arrêté, ce conteneur est perdu, le prochaine run crée une nouvelle instance.</a:t>
            </a:r>
          </a:p>
          <a:p>
            <a:r>
              <a:rPr lang="fr-FR" b="1" dirty="0"/>
              <a:t>docker </a:t>
            </a:r>
            <a:r>
              <a:rPr lang="fr-FR" b="1" dirty="0" err="1"/>
              <a:t>ps</a:t>
            </a:r>
            <a:r>
              <a:rPr lang="fr-FR" dirty="0"/>
              <a:t> liste tous les conteneurs en marche.</a:t>
            </a:r>
          </a:p>
          <a:p>
            <a:endParaRPr lang="fr-FR" dirty="0"/>
          </a:p>
          <a:p>
            <a:r>
              <a:rPr lang="fr-FR" b="1" dirty="0"/>
              <a:t>docker </a:t>
            </a:r>
            <a:r>
              <a:rPr lang="fr-FR" b="1" dirty="0" err="1"/>
              <a:t>ps</a:t>
            </a:r>
            <a:r>
              <a:rPr lang="fr-FR" b="1" dirty="0"/>
              <a:t> -a</a:t>
            </a:r>
            <a:r>
              <a:rPr lang="fr-FR" dirty="0"/>
              <a:t> liste tous les conteneurs, même ceux arrêtés.</a:t>
            </a:r>
          </a:p>
        </p:txBody>
      </p:sp>
      <p:pic>
        <p:nvPicPr>
          <p:cNvPr id="7170" name="Picture 2"/>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2804160" y="2621164"/>
            <a:ext cx="7366000" cy="1726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2247900" y="5559136"/>
            <a:ext cx="99441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9948559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Docker : Commandes (2)		</a:t>
            </a:r>
          </a:p>
        </p:txBody>
      </p:sp>
      <p:sp>
        <p:nvSpPr>
          <p:cNvPr id="5" name="Content Placeholder 4"/>
          <p:cNvSpPr>
            <a:spLocks noGrp="1"/>
          </p:cNvSpPr>
          <p:nvPr>
            <p:ph idx="1"/>
            <p:custDataLst>
              <p:tags r:id="rId3"/>
            </p:custDataLst>
          </p:nvPr>
        </p:nvSpPr>
        <p:spPr>
          <a:xfrm>
            <a:off x="1828800" y="1917253"/>
            <a:ext cx="9428480" cy="4221480"/>
          </a:xfrm>
        </p:spPr>
        <p:txBody>
          <a:bodyPr>
            <a:normAutofit/>
          </a:bodyPr>
          <a:lstStyle/>
          <a:p>
            <a:r>
              <a:rPr lang="fr-FR" dirty="0"/>
              <a:t>Pour arrêter un conteneur :  </a:t>
            </a:r>
          </a:p>
          <a:p>
            <a:pPr marL="0" indent="0">
              <a:buNone/>
            </a:pPr>
            <a:r>
              <a:rPr lang="fr-FR" b="1" dirty="0"/>
              <a:t>docker stop </a:t>
            </a:r>
            <a:r>
              <a:rPr lang="fr-FR" b="1" dirty="0" err="1"/>
              <a:t>name</a:t>
            </a:r>
            <a:r>
              <a:rPr lang="fr-FR" b="1" dirty="0"/>
              <a:t>/id </a:t>
            </a:r>
          </a:p>
          <a:p>
            <a:pPr marL="0" indent="0">
              <a:buNone/>
            </a:pPr>
            <a:endParaRPr lang="fr-FR" b="1" dirty="0"/>
          </a:p>
          <a:p>
            <a:r>
              <a:rPr lang="fr-FR" dirty="0"/>
              <a:t>ce conteneur est arrêté, mais réside toujours dans notre répertoire local : </a:t>
            </a:r>
          </a:p>
          <a:p>
            <a:pPr marL="0" indent="0">
              <a:buNone/>
            </a:pPr>
            <a:endParaRPr lang="fr-FR" dirty="0"/>
          </a:p>
          <a:p>
            <a:pPr>
              <a:lnSpc>
                <a:spcPct val="90000"/>
              </a:lnSpc>
            </a:pPr>
            <a:endParaRPr lang="fr-FR" sz="1900" b="1" dirty="0"/>
          </a:p>
          <a:p>
            <a:pPr>
              <a:lnSpc>
                <a:spcPct val="90000"/>
              </a:lnSpc>
            </a:pPr>
            <a:r>
              <a:rPr lang="fr-FR" sz="1900" b="1" dirty="0"/>
              <a:t>docker </a:t>
            </a:r>
            <a:r>
              <a:rPr lang="fr-FR" sz="1900" b="1" dirty="0" err="1"/>
              <a:t>rm</a:t>
            </a:r>
            <a:r>
              <a:rPr lang="fr-FR" sz="1900" b="1" dirty="0"/>
              <a:t> id</a:t>
            </a:r>
            <a:r>
              <a:rPr lang="fr-FR" sz="1900" dirty="0"/>
              <a:t>, supprime définitivement le conteneur.</a:t>
            </a:r>
          </a:p>
        </p:txBody>
      </p:sp>
      <p:pic>
        <p:nvPicPr>
          <p:cNvPr id="8194" name="Picture 2"/>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8077200" y="905979"/>
            <a:ext cx="2485178" cy="2276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2400300" y="3713126"/>
            <a:ext cx="79629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9362" y="4937760"/>
            <a:ext cx="7153275"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725062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Docker : Commandes (3)		</a:t>
            </a:r>
          </a:p>
        </p:txBody>
      </p:sp>
      <p:sp>
        <p:nvSpPr>
          <p:cNvPr id="5" name="Content Placeholder 4"/>
          <p:cNvSpPr>
            <a:spLocks noGrp="1"/>
          </p:cNvSpPr>
          <p:nvPr>
            <p:ph idx="1"/>
            <p:custDataLst>
              <p:tags r:id="rId3"/>
            </p:custDataLst>
          </p:nvPr>
        </p:nvSpPr>
        <p:spPr>
          <a:xfrm>
            <a:off x="1981200" y="2133601"/>
            <a:ext cx="8077200" cy="3713480"/>
          </a:xfrm>
        </p:spPr>
        <p:txBody>
          <a:bodyPr>
            <a:normAutofit/>
          </a:bodyPr>
          <a:lstStyle/>
          <a:p>
            <a:r>
              <a:rPr lang="fr-FR" dirty="0"/>
              <a:t>Quelles sont les images que j’ai dans mon répertoire local : </a:t>
            </a:r>
          </a:p>
          <a:p>
            <a:pPr marL="0" indent="0">
              <a:buNone/>
            </a:pPr>
            <a:r>
              <a:rPr lang="fr-FR" b="1" dirty="0"/>
              <a:t>docker images</a:t>
            </a:r>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a:lnSpc>
                <a:spcPct val="90000"/>
              </a:lnSpc>
            </a:pPr>
            <a:r>
              <a:rPr lang="fr-FR" sz="1900" b="1" dirty="0"/>
              <a:t>docker </a:t>
            </a:r>
            <a:r>
              <a:rPr lang="fr-FR" sz="1900" b="1" dirty="0" err="1"/>
              <a:t>rmi</a:t>
            </a:r>
            <a:r>
              <a:rPr lang="fr-FR" sz="1900" b="1" dirty="0"/>
              <a:t> id</a:t>
            </a:r>
            <a:r>
              <a:rPr lang="fr-FR" sz="1900" dirty="0"/>
              <a:t>, supprime définitivement une image ainsi que ses dépendances.</a:t>
            </a:r>
          </a:p>
        </p:txBody>
      </p:sp>
      <p:pic>
        <p:nvPicPr>
          <p:cNvPr id="9218" name="Picture 2"/>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2641917" y="3050223"/>
            <a:ext cx="6908165" cy="11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1644464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Essayer d’expliquer cet exemple	</a:t>
            </a:r>
          </a:p>
        </p:txBody>
      </p:sp>
      <p:sp>
        <p:nvSpPr>
          <p:cNvPr id="5" name="Content Placeholder 4"/>
          <p:cNvSpPr>
            <a:spLocks noGrp="1"/>
          </p:cNvSpPr>
          <p:nvPr>
            <p:ph idx="1"/>
            <p:custDataLst>
              <p:tags r:id="rId3"/>
            </p:custDataLst>
          </p:nvPr>
        </p:nvSpPr>
        <p:spPr>
          <a:xfrm>
            <a:off x="1371600" y="1886743"/>
            <a:ext cx="9773920" cy="4585177"/>
          </a:xfrm>
        </p:spPr>
        <p:txBody>
          <a:bodyPr>
            <a:normAutofit/>
          </a:bodyPr>
          <a:lstStyle/>
          <a:p>
            <a:pPr marL="0" indent="0">
              <a:buNone/>
            </a:pPr>
            <a:endParaRPr lang="fr-FR" b="1" dirty="0"/>
          </a:p>
          <a:p>
            <a:pPr marL="0" indent="0">
              <a:buNone/>
            </a:pPr>
            <a:r>
              <a:rPr lang="fr-FR" b="1" dirty="0"/>
              <a:t>Essayez d’expliquer …</a:t>
            </a: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b="1" i="1" dirty="0">
                <a:solidFill>
                  <a:schemeClr val="bg1">
                    <a:lumMod val="50000"/>
                  </a:schemeClr>
                </a:solidFill>
              </a:rPr>
              <a:t>Explication</a:t>
            </a:r>
            <a:r>
              <a:rPr lang="fr-FR" i="1" dirty="0">
                <a:solidFill>
                  <a:schemeClr val="bg1">
                    <a:lumMod val="50000"/>
                  </a:schemeClr>
                </a:solidFill>
              </a:rPr>
              <a:t> : Les conteneurs ne sont pas censés résider comme des </a:t>
            </a:r>
            <a:r>
              <a:rPr lang="fr-FR" i="1" dirty="0" err="1">
                <a:solidFill>
                  <a:schemeClr val="bg1">
                    <a:lumMod val="50000"/>
                  </a:schemeClr>
                </a:solidFill>
              </a:rPr>
              <a:t>VMs</a:t>
            </a:r>
            <a:r>
              <a:rPr lang="fr-FR" i="1" dirty="0">
                <a:solidFill>
                  <a:schemeClr val="bg1">
                    <a:lumMod val="50000"/>
                  </a:schemeClr>
                </a:solidFill>
              </a:rPr>
              <a:t>, ils sont censés exécuter des tâches spécifiques, puis quitter, l’image </a:t>
            </a:r>
            <a:r>
              <a:rPr lang="fr-FR" i="1" dirty="0" err="1">
                <a:solidFill>
                  <a:schemeClr val="bg1">
                    <a:lumMod val="50000"/>
                  </a:schemeClr>
                </a:solidFill>
              </a:rPr>
              <a:t>ubuntu</a:t>
            </a:r>
            <a:r>
              <a:rPr lang="fr-FR" i="1" dirty="0">
                <a:solidFill>
                  <a:schemeClr val="bg1">
                    <a:lumMod val="50000"/>
                  </a:schemeClr>
                </a:solidFill>
              </a:rPr>
              <a:t> ne prévoit aucun service, donc une fois le conteneur lancé, il fini sa tâche, puis il s’arrête.</a:t>
            </a:r>
          </a:p>
        </p:txBody>
      </p:sp>
      <p:pic>
        <p:nvPicPr>
          <p:cNvPr id="921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6090" y="1894522"/>
            <a:ext cx="5181600"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3241040" y="4182903"/>
            <a:ext cx="7486650"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5427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Mode attaché / détaché	</a:t>
            </a:r>
          </a:p>
        </p:txBody>
      </p:sp>
      <p:sp>
        <p:nvSpPr>
          <p:cNvPr id="5" name="Content Placeholder 4"/>
          <p:cNvSpPr>
            <a:spLocks noGrp="1"/>
          </p:cNvSpPr>
          <p:nvPr>
            <p:ph idx="1"/>
            <p:custDataLst>
              <p:tags r:id="rId3"/>
            </p:custDataLst>
          </p:nvPr>
        </p:nvSpPr>
        <p:spPr>
          <a:xfrm>
            <a:off x="1300480" y="1701800"/>
            <a:ext cx="9763760" cy="4658360"/>
          </a:xfrm>
        </p:spPr>
        <p:txBody>
          <a:bodyPr>
            <a:normAutofit/>
          </a:bodyPr>
          <a:lstStyle/>
          <a:p>
            <a:pPr marL="0" indent="0">
              <a:buNone/>
            </a:pPr>
            <a:r>
              <a:rPr lang="fr-FR" dirty="0"/>
              <a:t>Par défaut, la commande </a:t>
            </a:r>
            <a:r>
              <a:rPr lang="fr-FR" b="1" dirty="0" err="1"/>
              <a:t>run</a:t>
            </a:r>
            <a:r>
              <a:rPr lang="fr-FR" dirty="0"/>
              <a:t> lance un conteneur en </a:t>
            </a:r>
            <a:r>
              <a:rPr lang="fr-FR" b="1" dirty="0"/>
              <a:t>mode attaché</a:t>
            </a:r>
            <a:r>
              <a:rPr lang="fr-FR" dirty="0"/>
              <a:t>, si l’on souhaite le lancer en mode détaché : </a:t>
            </a:r>
          </a:p>
          <a:p>
            <a:pPr marL="0" indent="0">
              <a:buNone/>
            </a:pPr>
            <a:endParaRPr lang="fr-FR" dirty="0"/>
          </a:p>
          <a:p>
            <a:pPr marL="0" indent="0">
              <a:buNone/>
            </a:pPr>
            <a:endParaRPr lang="fr-FR" dirty="0"/>
          </a:p>
          <a:p>
            <a:pPr marL="0" indent="0">
              <a:buNone/>
            </a:pPr>
            <a:r>
              <a:rPr lang="fr-FR" dirty="0"/>
              <a:t>Si l’on souhaite attaché un conteneur déjà détaché : </a:t>
            </a:r>
          </a:p>
          <a:p>
            <a:pPr marL="0" indent="0">
              <a:buNone/>
            </a:pPr>
            <a:endParaRPr lang="fr-FR" dirty="0"/>
          </a:p>
          <a:p>
            <a:pPr marL="0" indent="0">
              <a:buNone/>
            </a:pPr>
            <a:r>
              <a:rPr lang="fr-FR" b="1" i="1" dirty="0">
                <a:solidFill>
                  <a:schemeClr val="bg1">
                    <a:lumMod val="50000"/>
                  </a:schemeClr>
                </a:solidFill>
              </a:rPr>
              <a:t>Attention</a:t>
            </a:r>
            <a:r>
              <a:rPr lang="fr-FR" i="1" dirty="0">
                <a:solidFill>
                  <a:schemeClr val="bg1">
                    <a:lumMod val="50000"/>
                  </a:schemeClr>
                </a:solidFill>
              </a:rPr>
              <a:t>, les conteneurs utilisent la sortie standard mais ne lisent pas de l’entrée standard, pour pouvoir interagir avec un conteneur, ajoutez les paramètres –i et –t ou –</a:t>
            </a:r>
            <a:r>
              <a:rPr lang="fr-FR" i="1" dirty="0" err="1">
                <a:solidFill>
                  <a:schemeClr val="bg1">
                    <a:lumMod val="50000"/>
                  </a:schemeClr>
                </a:solidFill>
              </a:rPr>
              <a:t>it</a:t>
            </a:r>
            <a:r>
              <a:rPr lang="fr-FR" i="1" dirty="0">
                <a:solidFill>
                  <a:schemeClr val="bg1">
                    <a:lumMod val="50000"/>
                  </a:schemeClr>
                </a:solidFill>
              </a:rPr>
              <a:t>.</a:t>
            </a:r>
            <a:endParaRPr lang="fr-FR" dirty="0">
              <a:solidFill>
                <a:schemeClr val="bg1">
                  <a:lumMod val="50000"/>
                </a:schemeClr>
              </a:solidFill>
            </a:endParaRPr>
          </a:p>
          <a:p>
            <a:pPr marL="0" indent="0">
              <a:buNone/>
            </a:pPr>
            <a:endParaRPr lang="fr-FR" dirty="0"/>
          </a:p>
        </p:txBody>
      </p:sp>
      <p:pic>
        <p:nvPicPr>
          <p:cNvPr id="1024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3085" y="2085658"/>
            <a:ext cx="677227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50101" y="3333751"/>
            <a:ext cx="333375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2188" y="4911089"/>
            <a:ext cx="4695825"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7978913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err="1"/>
              <a:t>Mapping</a:t>
            </a:r>
            <a:r>
              <a:rPr lang="fr-FR" dirty="0"/>
              <a:t> de ports</a:t>
            </a:r>
          </a:p>
        </p:txBody>
      </p:sp>
      <p:sp>
        <p:nvSpPr>
          <p:cNvPr id="5" name="Content Placeholder 4"/>
          <p:cNvSpPr>
            <a:spLocks noGrp="1"/>
          </p:cNvSpPr>
          <p:nvPr>
            <p:ph idx="1"/>
            <p:custDataLst>
              <p:tags r:id="rId3"/>
            </p:custDataLst>
          </p:nvPr>
        </p:nvSpPr>
        <p:spPr>
          <a:xfrm>
            <a:off x="1676400" y="1803400"/>
            <a:ext cx="9601200" cy="4638040"/>
          </a:xfrm>
        </p:spPr>
        <p:txBody>
          <a:bodyPr>
            <a:normAutofit/>
          </a:bodyPr>
          <a:lstStyle/>
          <a:p>
            <a:pPr marL="0" indent="0">
              <a:buNone/>
            </a:pPr>
            <a:r>
              <a:rPr lang="fr-FR" dirty="0"/>
              <a:t>Quand un conteneur de serveur web est démarré, comment peut on accéder au serveur web ?</a:t>
            </a:r>
          </a:p>
          <a:p>
            <a:pPr marL="457200" indent="-457200">
              <a:buFont typeface="+mj-lt"/>
              <a:buAutoNum type="arabicPeriod"/>
            </a:pPr>
            <a:r>
              <a:rPr lang="fr-FR" dirty="0"/>
              <a:t>A partir de l’adresse IP du conteneur  (pas pratique, pourquoi ?)</a:t>
            </a:r>
          </a:p>
          <a:p>
            <a:pPr marL="457200" indent="-457200">
              <a:buFont typeface="+mj-lt"/>
              <a:buAutoNum type="arabicPeriod"/>
            </a:pPr>
            <a:r>
              <a:rPr lang="fr-FR" dirty="0"/>
              <a:t>En mappant l’adresse du conteneur et le port du service avec un port libre de la machine hôte. (Pratique, pourquoi ?) </a:t>
            </a:r>
          </a:p>
          <a:p>
            <a:pPr marL="0" indent="0">
              <a:buNone/>
            </a:pPr>
            <a:endParaRPr lang="fr-FR" dirty="0"/>
          </a:p>
          <a:p>
            <a:pPr marL="0" indent="0">
              <a:buNone/>
            </a:pPr>
            <a:endParaRPr lang="fr-FR" dirty="0"/>
          </a:p>
          <a:p>
            <a:pPr marL="0" indent="0">
              <a:buNone/>
            </a:pPr>
            <a:r>
              <a:rPr lang="fr-FR" i="1" dirty="0">
                <a:solidFill>
                  <a:schemeClr val="bg1">
                    <a:lumMod val="50000"/>
                  </a:schemeClr>
                </a:solidFill>
              </a:rPr>
              <a:t>On peut donc lancer </a:t>
            </a:r>
          </a:p>
          <a:p>
            <a:pPr marL="0" indent="0">
              <a:buNone/>
            </a:pPr>
            <a:r>
              <a:rPr lang="fr-FR" i="1" dirty="0">
                <a:solidFill>
                  <a:schemeClr val="bg1">
                    <a:lumMod val="50000"/>
                  </a:schemeClr>
                </a:solidFill>
              </a:rPr>
              <a:t>plusieurs Instances sur </a:t>
            </a:r>
          </a:p>
          <a:p>
            <a:pPr marL="0" indent="0">
              <a:buNone/>
            </a:pPr>
            <a:r>
              <a:rPr lang="fr-FR" i="1" dirty="0">
                <a:solidFill>
                  <a:schemeClr val="bg1">
                    <a:lumMod val="50000"/>
                  </a:schemeClr>
                </a:solidFill>
              </a:rPr>
              <a:t>différents ports.</a:t>
            </a:r>
          </a:p>
          <a:p>
            <a:pPr marL="0" indent="0">
              <a:buNone/>
            </a:pPr>
            <a:endParaRPr lang="fr-FR" dirty="0"/>
          </a:p>
        </p:txBody>
      </p:sp>
      <p:pic>
        <p:nvPicPr>
          <p:cNvPr id="112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1" y="4610100"/>
            <a:ext cx="6657975"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6050" y="3792579"/>
            <a:ext cx="681990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22916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err="1"/>
              <a:t>Mapping</a:t>
            </a:r>
            <a:r>
              <a:rPr lang="fr-FR" dirty="0"/>
              <a:t> de volumes</a:t>
            </a:r>
          </a:p>
        </p:txBody>
      </p:sp>
      <p:sp>
        <p:nvSpPr>
          <p:cNvPr id="5" name="Content Placeholder 4"/>
          <p:cNvSpPr>
            <a:spLocks noGrp="1"/>
          </p:cNvSpPr>
          <p:nvPr>
            <p:ph idx="1"/>
            <p:custDataLst>
              <p:tags r:id="rId3"/>
            </p:custDataLst>
          </p:nvPr>
        </p:nvSpPr>
        <p:spPr>
          <a:xfrm>
            <a:off x="1574800" y="1815682"/>
            <a:ext cx="9956800" cy="5367438"/>
          </a:xfrm>
        </p:spPr>
        <p:txBody>
          <a:bodyPr>
            <a:normAutofit/>
          </a:bodyPr>
          <a:lstStyle/>
          <a:p>
            <a:pPr marL="0" indent="0">
              <a:buNone/>
            </a:pPr>
            <a:r>
              <a:rPr lang="fr-FR" sz="1800" dirty="0"/>
              <a:t>Supposons que nous avons une conteneur </a:t>
            </a:r>
            <a:r>
              <a:rPr lang="fr-FR" sz="1800" dirty="0" err="1"/>
              <a:t>mysql</a:t>
            </a:r>
            <a:r>
              <a:rPr lang="fr-FR" sz="1800" dirty="0"/>
              <a:t> : </a:t>
            </a:r>
            <a:r>
              <a:rPr lang="fr-FR" sz="1800" b="1" dirty="0"/>
              <a:t>docker </a:t>
            </a:r>
            <a:r>
              <a:rPr lang="fr-FR" sz="1800" b="1" dirty="0" err="1"/>
              <a:t>run</a:t>
            </a:r>
            <a:r>
              <a:rPr lang="fr-FR" sz="1800" b="1" dirty="0"/>
              <a:t> </a:t>
            </a:r>
            <a:r>
              <a:rPr lang="fr-FR" sz="1800" b="1" dirty="0" err="1"/>
              <a:t>mysql</a:t>
            </a:r>
            <a:endParaRPr lang="fr-FR" sz="1800" b="1" dirty="0"/>
          </a:p>
          <a:p>
            <a:pPr marL="0" indent="0">
              <a:buNone/>
            </a:pPr>
            <a:endParaRPr lang="fr-FR" sz="1800" dirty="0"/>
          </a:p>
          <a:p>
            <a:pPr marL="0" indent="0">
              <a:buNone/>
            </a:pPr>
            <a:r>
              <a:rPr lang="fr-FR" sz="1800" dirty="0"/>
              <a:t>Les données relatives aux BD sont stockées dans /var/lib/</a:t>
            </a:r>
            <a:r>
              <a:rPr lang="fr-FR" sz="1800" dirty="0" err="1"/>
              <a:t>mysql</a:t>
            </a:r>
            <a:endParaRPr lang="fr-FR" sz="1800" dirty="0"/>
          </a:p>
          <a:p>
            <a:pPr marL="0" indent="0">
              <a:buNone/>
            </a:pPr>
            <a:endParaRPr lang="fr-FR" sz="1800" dirty="0"/>
          </a:p>
          <a:p>
            <a:pPr marL="0" indent="0">
              <a:buNone/>
            </a:pPr>
            <a:r>
              <a:rPr lang="fr-FR" sz="1800" dirty="0"/>
              <a:t>Un conteneur étant volatile, et est perdu une fois arrêté, donc toutes les données qui y sont stockées sont perdues : </a:t>
            </a:r>
            <a:r>
              <a:rPr lang="fr-FR" sz="1800" b="1" dirty="0"/>
              <a:t>docker stop </a:t>
            </a:r>
            <a:r>
              <a:rPr lang="fr-FR" sz="1800" b="1" dirty="0" err="1"/>
              <a:t>mysql</a:t>
            </a:r>
            <a:endParaRPr lang="fr-FR" sz="1800" b="1" dirty="0"/>
          </a:p>
          <a:p>
            <a:pPr marL="0" indent="0">
              <a:buNone/>
            </a:pPr>
            <a:endParaRPr lang="fr-FR" sz="1800" dirty="0"/>
          </a:p>
          <a:p>
            <a:pPr marL="0" indent="0">
              <a:buNone/>
            </a:pPr>
            <a:r>
              <a:rPr lang="fr-FR" sz="1800" dirty="0"/>
              <a:t>Si l’on souhaite garder les données après l’arrêt du conteneur, il faut mapper ce répertoire avec un répertoire en dehors du conteneur : </a:t>
            </a:r>
          </a:p>
          <a:p>
            <a:pPr marL="0" indent="0">
              <a:buNone/>
            </a:pPr>
            <a:r>
              <a:rPr lang="fr-FR" sz="1800" b="1" dirty="0"/>
              <a:t>docker run –v </a:t>
            </a:r>
            <a:r>
              <a:rPr lang="fr-FR" sz="1800" b="1" dirty="0" err="1"/>
              <a:t>local_path:container_path</a:t>
            </a:r>
            <a:r>
              <a:rPr lang="fr-FR" sz="1800" b="1" dirty="0"/>
              <a:t> </a:t>
            </a:r>
            <a:r>
              <a:rPr lang="fr-FR" sz="1800" b="1" dirty="0" err="1"/>
              <a:t>mysql</a:t>
            </a:r>
            <a:endParaRPr lang="fr-FR" sz="1800" b="1" dirty="0"/>
          </a:p>
          <a:p>
            <a:pPr marL="0" indent="0">
              <a:buNone/>
            </a:pPr>
            <a:endParaRPr lang="fr-FR" sz="1800" b="1" dirty="0"/>
          </a:p>
          <a:p>
            <a:pPr marL="0" indent="0">
              <a:buNone/>
            </a:pPr>
            <a:endParaRPr lang="fr-FR" sz="1800" b="1" dirty="0"/>
          </a:p>
          <a:p>
            <a:pPr marL="0" indent="0">
              <a:buNone/>
            </a:pPr>
            <a:r>
              <a:rPr lang="fr-FR" sz="1800" dirty="0"/>
              <a:t>Commandes utiles : </a:t>
            </a:r>
            <a:r>
              <a:rPr lang="fr-FR" sz="1800" b="1" dirty="0"/>
              <a:t>docker </a:t>
            </a:r>
            <a:r>
              <a:rPr lang="fr-FR" sz="1800" b="1" dirty="0" err="1"/>
              <a:t>inspect</a:t>
            </a:r>
            <a:r>
              <a:rPr lang="fr-FR" sz="1800" b="1" dirty="0"/>
              <a:t> id          docker logs id </a:t>
            </a:r>
            <a:endParaRPr lang="fr-FR" sz="1800" dirty="0"/>
          </a:p>
        </p:txBody>
      </p:sp>
      <p:pic>
        <p:nvPicPr>
          <p:cNvPr id="1229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0592" y="5603241"/>
            <a:ext cx="58197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9990300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Variables d’environnement</a:t>
            </a:r>
          </a:p>
        </p:txBody>
      </p:sp>
      <p:sp>
        <p:nvSpPr>
          <p:cNvPr id="5" name="Content Placeholder 4"/>
          <p:cNvSpPr>
            <a:spLocks noGrp="1"/>
          </p:cNvSpPr>
          <p:nvPr>
            <p:ph idx="1"/>
            <p:custDataLst>
              <p:tags r:id="rId3"/>
            </p:custDataLst>
          </p:nvPr>
        </p:nvSpPr>
        <p:spPr>
          <a:xfrm>
            <a:off x="1686560" y="2374482"/>
            <a:ext cx="9601200" cy="3630078"/>
          </a:xfrm>
        </p:spPr>
        <p:txBody>
          <a:bodyPr>
            <a:normAutofit/>
          </a:bodyPr>
          <a:lstStyle/>
          <a:p>
            <a:pPr marL="0" indent="0">
              <a:buNone/>
            </a:pPr>
            <a:r>
              <a:rPr lang="fr-FR" sz="1800" dirty="0"/>
              <a:t>Si vous vous sentez le besoin de faire des modifications dans votre projet par conteneur, vous pouvez le faire via les variables d’environnement.</a:t>
            </a:r>
          </a:p>
          <a:p>
            <a:pPr marL="0" indent="0">
              <a:buNone/>
            </a:pPr>
            <a:endParaRPr lang="fr-FR" sz="1800" dirty="0"/>
          </a:p>
          <a:p>
            <a:pPr marL="0" indent="0">
              <a:buNone/>
            </a:pPr>
            <a:r>
              <a:rPr lang="fr-FR" sz="1800" dirty="0"/>
              <a:t>Votre code récupère la valeur depuis le système : </a:t>
            </a:r>
          </a:p>
          <a:p>
            <a:pPr marL="0" indent="0">
              <a:buNone/>
            </a:pPr>
            <a:endParaRPr lang="fr-FR" sz="1800" dirty="0"/>
          </a:p>
          <a:p>
            <a:pPr marL="0" indent="0">
              <a:buNone/>
            </a:pPr>
            <a:endParaRPr lang="fr-FR" sz="1800" dirty="0"/>
          </a:p>
          <a:p>
            <a:pPr marL="0" indent="0">
              <a:buNone/>
            </a:pPr>
            <a:r>
              <a:rPr lang="fr-FR" sz="1800" dirty="0"/>
              <a:t> !!!</a:t>
            </a:r>
          </a:p>
          <a:p>
            <a:pPr marL="0" indent="0">
              <a:buNone/>
            </a:pPr>
            <a:r>
              <a:rPr lang="fr-FR" sz="1800" b="1" dirty="0"/>
              <a:t>docker </a:t>
            </a:r>
            <a:r>
              <a:rPr lang="fr-FR" sz="1800" b="1" dirty="0" err="1"/>
              <a:t>run</a:t>
            </a:r>
            <a:r>
              <a:rPr lang="fr-FR" sz="1800" b="1" dirty="0"/>
              <a:t> –e USER_MYSQL=</a:t>
            </a:r>
            <a:r>
              <a:rPr lang="fr-FR" sz="1800" b="1" dirty="0" err="1"/>
              <a:t>root</a:t>
            </a:r>
            <a:r>
              <a:rPr lang="fr-FR" sz="1800" b="1" dirty="0"/>
              <a:t> </a:t>
            </a:r>
            <a:r>
              <a:rPr lang="fr-FR" sz="1800" b="1" dirty="0" err="1"/>
              <a:t>myWebApp</a:t>
            </a:r>
            <a:endParaRPr lang="fr-FR" sz="1800" dirty="0"/>
          </a:p>
        </p:txBody>
      </p:sp>
      <p:grpSp>
        <p:nvGrpSpPr>
          <p:cNvPr id="4" name="Groupe 3">
            <a:extLst>
              <a:ext uri="{FF2B5EF4-FFF2-40B4-BE49-F238E27FC236}">
                <a16:creationId xmlns:a16="http://schemas.microsoft.com/office/drawing/2014/main" id="{93BEDD84-F0A1-3607-0D92-D79143C3C302}"/>
              </a:ext>
            </a:extLst>
          </p:cNvPr>
          <p:cNvGrpSpPr/>
          <p:nvPr/>
        </p:nvGrpSpPr>
        <p:grpSpPr>
          <a:xfrm>
            <a:off x="2286000" y="3998802"/>
            <a:ext cx="3771900" cy="664407"/>
            <a:chOff x="2286000" y="2891362"/>
            <a:chExt cx="3771900" cy="664407"/>
          </a:xfrm>
        </p:grpSpPr>
        <p:pic>
          <p:nvPicPr>
            <p:cNvPr id="1331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3241444"/>
              <a:ext cx="3771900"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ZoneTexte 2"/>
            <p:cNvSpPr txBox="1"/>
            <p:nvPr/>
          </p:nvSpPr>
          <p:spPr>
            <a:xfrm>
              <a:off x="2965056" y="2891362"/>
              <a:ext cx="611514" cy="369332"/>
            </a:xfrm>
            <a:prstGeom prst="rect">
              <a:avLst/>
            </a:prstGeom>
            <a:noFill/>
          </p:spPr>
          <p:txBody>
            <a:bodyPr wrap="none" rtlCol="0">
              <a:spAutoFit/>
            </a:bodyPr>
            <a:lstStyle/>
            <a:p>
              <a:r>
                <a:rPr lang="en-US" dirty="0">
                  <a:solidFill>
                    <a:schemeClr val="tx2">
                      <a:lumMod val="60000"/>
                      <a:lumOff val="40000"/>
                    </a:schemeClr>
                  </a:solidFill>
                </a:rPr>
                <a:t>Java</a:t>
              </a:r>
            </a:p>
          </p:txBody>
        </p:sp>
      </p:grpSp>
      <p:grpSp>
        <p:nvGrpSpPr>
          <p:cNvPr id="6" name="Groupe 5">
            <a:extLst>
              <a:ext uri="{FF2B5EF4-FFF2-40B4-BE49-F238E27FC236}">
                <a16:creationId xmlns:a16="http://schemas.microsoft.com/office/drawing/2014/main" id="{960FFF07-BB47-92F8-8E48-F55D3302CA87}"/>
              </a:ext>
            </a:extLst>
          </p:cNvPr>
          <p:cNvGrpSpPr/>
          <p:nvPr/>
        </p:nvGrpSpPr>
        <p:grpSpPr>
          <a:xfrm>
            <a:off x="7393141" y="4079240"/>
            <a:ext cx="3266839" cy="591688"/>
            <a:chOff x="7393141" y="2971800"/>
            <a:chExt cx="3266839" cy="591688"/>
          </a:xfrm>
        </p:grpSpPr>
        <p:pic>
          <p:nvPicPr>
            <p:cNvPr id="13315" name="Picture 3"/>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7393141" y="3162021"/>
              <a:ext cx="3266839" cy="401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ZoneTexte 7"/>
            <p:cNvSpPr txBox="1"/>
            <p:nvPr/>
          </p:nvSpPr>
          <p:spPr>
            <a:xfrm>
              <a:off x="7729232" y="2971800"/>
              <a:ext cx="593432" cy="369332"/>
            </a:xfrm>
            <a:prstGeom prst="rect">
              <a:avLst/>
            </a:prstGeom>
            <a:noFill/>
          </p:spPr>
          <p:txBody>
            <a:bodyPr wrap="none" rtlCol="0">
              <a:spAutoFit/>
            </a:bodyPr>
            <a:lstStyle/>
            <a:p>
              <a:r>
                <a:rPr lang="en-US" dirty="0">
                  <a:solidFill>
                    <a:schemeClr val="tx2">
                      <a:lumMod val="60000"/>
                      <a:lumOff val="40000"/>
                    </a:schemeClr>
                  </a:solidFill>
                </a:rPr>
                <a:t>PHP</a:t>
              </a:r>
            </a:p>
          </p:txBody>
        </p:sp>
      </p:grpSp>
    </p:spTree>
    <p:custDataLst>
      <p:tags r:id="rId1"/>
    </p:custDataLst>
    <p:extLst>
      <p:ext uri="{BB962C8B-B14F-4D97-AF65-F5344CB8AC3E}">
        <p14:creationId xmlns:p14="http://schemas.microsoft.com/office/powerpoint/2010/main" val="737023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Les réseaux</a:t>
            </a:r>
          </a:p>
        </p:txBody>
      </p:sp>
      <p:sp>
        <p:nvSpPr>
          <p:cNvPr id="5" name="Content Placeholder 4"/>
          <p:cNvSpPr>
            <a:spLocks noGrp="1"/>
          </p:cNvSpPr>
          <p:nvPr>
            <p:ph idx="1"/>
            <p:custDataLst>
              <p:tags r:id="rId3"/>
            </p:custDataLst>
          </p:nvPr>
        </p:nvSpPr>
        <p:spPr>
          <a:xfrm>
            <a:off x="2286000" y="1490562"/>
            <a:ext cx="8229600" cy="5367438"/>
          </a:xfrm>
        </p:spPr>
        <p:txBody>
          <a:bodyPr>
            <a:normAutofit fontScale="92500" lnSpcReduction="20000"/>
          </a:bodyPr>
          <a:lstStyle/>
          <a:p>
            <a:pPr marL="0" indent="0">
              <a:buNone/>
            </a:pPr>
            <a:r>
              <a:rPr lang="fr-FR" dirty="0"/>
              <a:t>Docker fonctionne en 3 modes de réseaux : Bridge, Host et None.</a:t>
            </a: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dirty="0"/>
              <a:t>Le mode par défaut est : Bridge</a:t>
            </a:r>
          </a:p>
        </p:txBody>
      </p:sp>
      <p:pic>
        <p:nvPicPr>
          <p:cNvPr id="16386" name="Picture 2"/>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429000" y="2126673"/>
            <a:ext cx="5867400" cy="3861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ZoneTexte 3"/>
          <p:cNvSpPr txBox="1"/>
          <p:nvPr/>
        </p:nvSpPr>
        <p:spPr>
          <a:xfrm>
            <a:off x="7757421" y="3868363"/>
            <a:ext cx="3134448" cy="338554"/>
          </a:xfrm>
          <a:prstGeom prst="rect">
            <a:avLst/>
          </a:prstGeom>
          <a:noFill/>
        </p:spPr>
        <p:txBody>
          <a:bodyPr wrap="none" rtlCol="0">
            <a:spAutoFit/>
          </a:bodyPr>
          <a:lstStyle/>
          <a:p>
            <a:r>
              <a:rPr lang="en-US" sz="1600" b="1" dirty="0" err="1">
                <a:solidFill>
                  <a:schemeClr val="tx2">
                    <a:lumMod val="60000"/>
                    <a:lumOff val="40000"/>
                  </a:schemeClr>
                </a:solidFill>
              </a:rPr>
              <a:t>docker</a:t>
            </a:r>
            <a:r>
              <a:rPr lang="en-US" sz="1600" b="1" dirty="0">
                <a:solidFill>
                  <a:schemeClr val="tx2">
                    <a:lumMod val="60000"/>
                    <a:lumOff val="40000"/>
                  </a:schemeClr>
                </a:solidFill>
              </a:rPr>
              <a:t> run image --network=none </a:t>
            </a:r>
          </a:p>
        </p:txBody>
      </p:sp>
      <p:sp>
        <p:nvSpPr>
          <p:cNvPr id="10" name="ZoneTexte 9"/>
          <p:cNvSpPr txBox="1"/>
          <p:nvPr/>
        </p:nvSpPr>
        <p:spPr>
          <a:xfrm>
            <a:off x="6934201" y="4969877"/>
            <a:ext cx="3071225" cy="338554"/>
          </a:xfrm>
          <a:prstGeom prst="rect">
            <a:avLst/>
          </a:prstGeom>
          <a:noFill/>
        </p:spPr>
        <p:txBody>
          <a:bodyPr wrap="none" rtlCol="0">
            <a:spAutoFit/>
          </a:bodyPr>
          <a:lstStyle/>
          <a:p>
            <a:r>
              <a:rPr lang="en-US" sz="1600" b="1" dirty="0" err="1">
                <a:solidFill>
                  <a:schemeClr val="tx2">
                    <a:lumMod val="60000"/>
                    <a:lumOff val="40000"/>
                  </a:schemeClr>
                </a:solidFill>
              </a:rPr>
              <a:t>docker</a:t>
            </a:r>
            <a:r>
              <a:rPr lang="en-US" sz="1600" b="1" dirty="0">
                <a:solidFill>
                  <a:schemeClr val="tx2">
                    <a:lumMod val="60000"/>
                    <a:lumOff val="40000"/>
                  </a:schemeClr>
                </a:solidFill>
              </a:rPr>
              <a:t> run image --network=host </a:t>
            </a:r>
          </a:p>
        </p:txBody>
      </p:sp>
      <p:sp>
        <p:nvSpPr>
          <p:cNvPr id="11" name="ZoneTexte 10"/>
          <p:cNvSpPr txBox="1"/>
          <p:nvPr/>
        </p:nvSpPr>
        <p:spPr>
          <a:xfrm>
            <a:off x="2145570" y="4958163"/>
            <a:ext cx="1693412" cy="338554"/>
          </a:xfrm>
          <a:prstGeom prst="rect">
            <a:avLst/>
          </a:prstGeom>
          <a:noFill/>
        </p:spPr>
        <p:txBody>
          <a:bodyPr wrap="none" rtlCol="0">
            <a:spAutoFit/>
          </a:bodyPr>
          <a:lstStyle/>
          <a:p>
            <a:r>
              <a:rPr lang="en-US" sz="1600" b="1" dirty="0" err="1">
                <a:solidFill>
                  <a:schemeClr val="tx2">
                    <a:lumMod val="60000"/>
                    <a:lumOff val="40000"/>
                  </a:schemeClr>
                </a:solidFill>
              </a:rPr>
              <a:t>docker</a:t>
            </a:r>
            <a:r>
              <a:rPr lang="en-US" sz="1600" b="1" dirty="0">
                <a:solidFill>
                  <a:schemeClr val="tx2">
                    <a:lumMod val="60000"/>
                    <a:lumOff val="40000"/>
                  </a:schemeClr>
                </a:solidFill>
              </a:rPr>
              <a:t> run image</a:t>
            </a:r>
          </a:p>
        </p:txBody>
      </p:sp>
    </p:spTree>
    <p:custDataLst>
      <p:tags r:id="rId1"/>
    </p:custDataLst>
    <p:extLst>
      <p:ext uri="{BB962C8B-B14F-4D97-AF65-F5344CB8AC3E}">
        <p14:creationId xmlns:p14="http://schemas.microsoft.com/office/powerpoint/2010/main" val="193114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Les réseaux, conteneurs entre eux</a:t>
            </a:r>
          </a:p>
        </p:txBody>
      </p:sp>
      <p:sp>
        <p:nvSpPr>
          <p:cNvPr id="5" name="Content Placeholder 4"/>
          <p:cNvSpPr>
            <a:spLocks noGrp="1"/>
          </p:cNvSpPr>
          <p:nvPr>
            <p:ph idx="1"/>
            <p:custDataLst>
              <p:tags r:id="rId3"/>
            </p:custDataLst>
          </p:nvPr>
        </p:nvSpPr>
        <p:spPr>
          <a:xfrm>
            <a:off x="1595120" y="2011955"/>
            <a:ext cx="9987280" cy="4084045"/>
          </a:xfrm>
        </p:spPr>
        <p:txBody>
          <a:bodyPr>
            <a:normAutofit/>
          </a:bodyPr>
          <a:lstStyle/>
          <a:p>
            <a:pPr marL="0" indent="0">
              <a:buNone/>
            </a:pPr>
            <a:r>
              <a:rPr lang="fr-FR" sz="1800" dirty="0"/>
              <a:t>Si l’on souhaite faire communiquer plusieurs conteneurs entre eux, par exemple : une application web dans un conteneur c1 veut se connecter au serveur de base de données dans un conteneur c2.</a:t>
            </a:r>
          </a:p>
          <a:p>
            <a:pPr marL="0" indent="0">
              <a:buNone/>
            </a:pPr>
            <a:endParaRPr lang="fr-FR" sz="1800" dirty="0"/>
          </a:p>
          <a:p>
            <a:pPr marL="0" indent="0">
              <a:buNone/>
            </a:pPr>
            <a:r>
              <a:rPr lang="fr-FR" sz="1800" dirty="0"/>
              <a:t>Comment le conteneur c1 communique-t-il avec le conteneur c2 : </a:t>
            </a:r>
          </a:p>
          <a:p>
            <a:pPr marL="0" indent="0">
              <a:buNone/>
            </a:pPr>
            <a:endParaRPr lang="fr-FR" sz="1800" dirty="0"/>
          </a:p>
          <a:p>
            <a:pPr marL="0" indent="0">
              <a:buNone/>
            </a:pPr>
            <a:r>
              <a:rPr lang="fr-FR" sz="1800" dirty="0"/>
              <a:t>1 . Via son adresse IP, vu qu’il sont dans le même réseau. NON</a:t>
            </a:r>
          </a:p>
          <a:p>
            <a:pPr marL="0" indent="0">
              <a:buNone/>
            </a:pPr>
            <a:r>
              <a:rPr lang="fr-FR" sz="1800" dirty="0"/>
              <a:t>2. Via le nom du conteneur, docker met a disposition des conteneurs un DNS interne (</a:t>
            </a:r>
            <a:r>
              <a:rPr lang="fr-FR" sz="1800" dirty="0" err="1"/>
              <a:t>embedded</a:t>
            </a:r>
            <a:r>
              <a:rPr lang="fr-FR" sz="1800" dirty="0"/>
              <a:t> DNS sur le 172.0.0.11) qui fait correspondre le nom du conteneur à son adresse </a:t>
            </a:r>
            <a:r>
              <a:rPr lang="fr-FR" sz="1800" dirty="0" err="1"/>
              <a:t>ip</a:t>
            </a:r>
            <a:endParaRPr lang="fr-FR" sz="1800" dirty="0"/>
          </a:p>
          <a:p>
            <a:pPr marL="0" indent="0">
              <a:buNone/>
            </a:pPr>
            <a:endParaRPr lang="fr-FR" sz="1800" dirty="0"/>
          </a:p>
          <a:p>
            <a:pPr marL="0" indent="0">
              <a:buNone/>
            </a:pPr>
            <a:r>
              <a:rPr lang="fr-FR" sz="1800" b="1" dirty="0"/>
              <a:t>docker </a:t>
            </a:r>
            <a:r>
              <a:rPr lang="fr-FR" sz="1800" b="1" dirty="0" err="1"/>
              <a:t>run</a:t>
            </a:r>
            <a:r>
              <a:rPr lang="fr-FR" sz="1800" b="1" dirty="0"/>
              <a:t> --</a:t>
            </a:r>
            <a:r>
              <a:rPr lang="fr-FR" sz="1800" b="1" dirty="0" err="1"/>
              <a:t>name</a:t>
            </a:r>
            <a:r>
              <a:rPr lang="fr-FR" sz="1800" b="1" dirty="0"/>
              <a:t> c1 ….</a:t>
            </a:r>
          </a:p>
        </p:txBody>
      </p:sp>
    </p:spTree>
    <p:custDataLst>
      <p:tags r:id="rId1"/>
    </p:custDataLst>
    <p:extLst>
      <p:ext uri="{BB962C8B-B14F-4D97-AF65-F5344CB8AC3E}">
        <p14:creationId xmlns:p14="http://schemas.microsoft.com/office/powerpoint/2010/main" val="1308399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Le stockage</a:t>
            </a:r>
          </a:p>
        </p:txBody>
      </p:sp>
      <p:sp>
        <p:nvSpPr>
          <p:cNvPr id="5" name="Content Placeholder 4"/>
          <p:cNvSpPr>
            <a:spLocks noGrp="1"/>
          </p:cNvSpPr>
          <p:nvPr>
            <p:ph idx="1"/>
            <p:custDataLst>
              <p:tags r:id="rId3"/>
            </p:custDataLst>
          </p:nvPr>
        </p:nvSpPr>
        <p:spPr>
          <a:xfrm>
            <a:off x="1635760" y="1833880"/>
            <a:ext cx="9601200" cy="5367438"/>
          </a:xfrm>
        </p:spPr>
        <p:txBody>
          <a:bodyPr>
            <a:normAutofit/>
          </a:bodyPr>
          <a:lstStyle/>
          <a:p>
            <a:pPr marL="0" indent="0">
              <a:buNone/>
            </a:pPr>
            <a:r>
              <a:rPr lang="fr-FR" sz="1800" dirty="0"/>
              <a:t>Chaque conteneur contient ses fichier d’origine, qui ont été créé par docker à partir de l’image.</a:t>
            </a:r>
          </a:p>
          <a:p>
            <a:pPr marL="0" indent="0">
              <a:buNone/>
            </a:pPr>
            <a:endParaRPr lang="fr-FR" sz="1800" dirty="0"/>
          </a:p>
          <a:p>
            <a:pPr marL="0" indent="0">
              <a:buNone/>
            </a:pPr>
            <a:r>
              <a:rPr lang="fr-FR" sz="1800" dirty="0"/>
              <a:t>Toutes les modifications apportées à ce conteneur (ajouts, modifications ou suppressions de fichiers) sont apportées à ce conteneur et disparaitront à la fin de ce conteneur.</a:t>
            </a:r>
          </a:p>
          <a:p>
            <a:pPr marL="0" indent="0">
              <a:buNone/>
            </a:pPr>
            <a:endParaRPr lang="fr-FR" sz="1800" dirty="0"/>
          </a:p>
          <a:p>
            <a:pPr marL="0" indent="0">
              <a:buNone/>
            </a:pPr>
            <a:r>
              <a:rPr lang="fr-FR" sz="1800" dirty="0"/>
              <a:t>Le prochain conteneur créé sera une instanciation propre de l’image.</a:t>
            </a:r>
          </a:p>
          <a:p>
            <a:pPr marL="0" indent="0">
              <a:buNone/>
            </a:pPr>
            <a:endParaRPr lang="fr-FR" sz="1800" dirty="0"/>
          </a:p>
          <a:p>
            <a:pPr marL="0" indent="0">
              <a:buNone/>
            </a:pPr>
            <a:r>
              <a:rPr lang="fr-FR" sz="1800" dirty="0"/>
              <a:t>Problème : Comment faire pour persister les modifications apportées aux fichiers du conteneur ? Cas d’un conteneur </a:t>
            </a:r>
            <a:r>
              <a:rPr lang="fr-FR" sz="1800" dirty="0" err="1"/>
              <a:t>mysql</a:t>
            </a:r>
            <a:r>
              <a:rPr lang="fr-FR" sz="1800" dirty="0"/>
              <a:t>, un conteneur pour fichiers, etc.</a:t>
            </a:r>
          </a:p>
          <a:p>
            <a:pPr marL="0" indent="0">
              <a:buNone/>
            </a:pPr>
            <a:endParaRPr lang="fr-FR" sz="1800" dirty="0"/>
          </a:p>
          <a:p>
            <a:pPr marL="0" indent="0">
              <a:buNone/>
            </a:pPr>
            <a:r>
              <a:rPr lang="fr-FR" sz="1800" dirty="0"/>
              <a:t>Solution : le </a:t>
            </a:r>
            <a:r>
              <a:rPr lang="fr-FR" sz="1800" dirty="0" err="1"/>
              <a:t>mapping</a:t>
            </a:r>
            <a:r>
              <a:rPr lang="fr-FR" sz="1800" dirty="0"/>
              <a:t> du stockage. </a:t>
            </a:r>
          </a:p>
        </p:txBody>
      </p:sp>
      <p:pic>
        <p:nvPicPr>
          <p:cNvPr id="174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9765" y="6067626"/>
            <a:ext cx="7458075"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55901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Exemples : </a:t>
            </a:r>
            <a:r>
              <a:rPr lang="fr-FR" dirty="0" err="1"/>
              <a:t>mysql</a:t>
            </a:r>
            <a:r>
              <a:rPr lang="fr-FR" dirty="0"/>
              <a:t> (1) </a:t>
            </a:r>
          </a:p>
        </p:txBody>
      </p:sp>
      <p:sp>
        <p:nvSpPr>
          <p:cNvPr id="5" name="Content Placeholder 4"/>
          <p:cNvSpPr>
            <a:spLocks noGrp="1"/>
          </p:cNvSpPr>
          <p:nvPr>
            <p:ph idx="1"/>
            <p:custDataLst>
              <p:tags r:id="rId3"/>
            </p:custDataLst>
          </p:nvPr>
        </p:nvSpPr>
        <p:spPr>
          <a:xfrm>
            <a:off x="2286000" y="1295400"/>
            <a:ext cx="8229600" cy="5367438"/>
          </a:xfrm>
        </p:spPr>
        <p:txBody>
          <a:bodyPr>
            <a:normAutofit/>
          </a:bodyPr>
          <a:lstStyle/>
          <a:p>
            <a:pPr marL="0" indent="0">
              <a:buNone/>
            </a:pPr>
            <a:endParaRPr lang="fr-FR" dirty="0"/>
          </a:p>
        </p:txBody>
      </p:sp>
      <p:pic>
        <p:nvPicPr>
          <p:cNvPr id="18434" name="Picture 2"/>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1187457" y="1522387"/>
            <a:ext cx="8240554" cy="28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457" y="1913890"/>
            <a:ext cx="38957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457" y="2276475"/>
            <a:ext cx="603885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3401" y="3553460"/>
            <a:ext cx="38100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8"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3519" y="4367313"/>
            <a:ext cx="2638425" cy="2476500"/>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72200" y="4591150"/>
            <a:ext cx="3171825" cy="2028825"/>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9"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339107" y="1271099"/>
            <a:ext cx="3000375" cy="553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75097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Exemples : </a:t>
            </a:r>
            <a:r>
              <a:rPr lang="fr-FR" dirty="0" err="1"/>
              <a:t>mysql</a:t>
            </a:r>
            <a:r>
              <a:rPr lang="fr-FR" dirty="0"/>
              <a:t> (2) </a:t>
            </a:r>
          </a:p>
        </p:txBody>
      </p:sp>
      <p:sp>
        <p:nvSpPr>
          <p:cNvPr id="5" name="Content Placeholder 4"/>
          <p:cNvSpPr>
            <a:spLocks noGrp="1"/>
          </p:cNvSpPr>
          <p:nvPr>
            <p:ph idx="1"/>
            <p:custDataLst>
              <p:tags r:id="rId3"/>
            </p:custDataLst>
          </p:nvPr>
        </p:nvSpPr>
        <p:spPr>
          <a:xfrm>
            <a:off x="2286000" y="1295400"/>
            <a:ext cx="8229600" cy="5367438"/>
          </a:xfrm>
        </p:spPr>
        <p:txBody>
          <a:bodyPr>
            <a:normAutofit/>
          </a:bodyPr>
          <a:lstStyle/>
          <a:p>
            <a:pPr marL="0" indent="0">
              <a:buNone/>
            </a:pPr>
            <a:endParaRPr lang="fr-FR" dirty="0"/>
          </a:p>
        </p:txBody>
      </p:sp>
      <p:pic>
        <p:nvPicPr>
          <p:cNvPr id="2048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5663" y="1456054"/>
            <a:ext cx="3076575"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3"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5663" y="2113280"/>
            <a:ext cx="29241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12772" y="1128813"/>
            <a:ext cx="3000375" cy="553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4"/>
          <p:cNvPicPr>
            <a:picLocks noChangeAspect="1" noChangeArrowheads="1"/>
          </p:cNvPicPr>
          <p:nvPr/>
        </p:nvPicPr>
        <p:blipFill>
          <a:blip r:embed="rId9" cstate="email">
            <a:extLst>
              <a:ext uri="{28A0092B-C50C-407E-A947-70E740481C1C}">
                <a14:useLocalDpi xmlns:a14="http://schemas.microsoft.com/office/drawing/2010/main" val="0"/>
              </a:ext>
            </a:extLst>
          </a:blip>
          <a:srcRect/>
          <a:stretch>
            <a:fillRect/>
          </a:stretch>
        </p:blipFill>
        <p:spPr bwMode="auto">
          <a:xfrm>
            <a:off x="1200556" y="2799080"/>
            <a:ext cx="10615524" cy="262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2063" y="3246755"/>
            <a:ext cx="38957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1417" y="3723005"/>
            <a:ext cx="603885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10281" y="4259003"/>
            <a:ext cx="2638425" cy="2476500"/>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98240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Exemples : apache (1) </a:t>
            </a:r>
          </a:p>
        </p:txBody>
      </p:sp>
      <p:sp>
        <p:nvSpPr>
          <p:cNvPr id="5" name="Content Placeholder 4"/>
          <p:cNvSpPr>
            <a:spLocks noGrp="1"/>
          </p:cNvSpPr>
          <p:nvPr>
            <p:ph idx="1"/>
            <p:custDataLst>
              <p:tags r:id="rId3"/>
            </p:custDataLst>
          </p:nvPr>
        </p:nvSpPr>
        <p:spPr>
          <a:xfrm>
            <a:off x="2286000" y="1295400"/>
            <a:ext cx="8229600" cy="5367438"/>
          </a:xfrm>
        </p:spPr>
        <p:txBody>
          <a:bodyPr>
            <a:normAutofit/>
          </a:bodyPr>
          <a:lstStyle/>
          <a:p>
            <a:pPr marL="0" indent="0">
              <a:buNone/>
            </a:pPr>
            <a:endParaRPr lang="fr-FR" dirty="0"/>
          </a:p>
        </p:txBody>
      </p:sp>
      <p:pic>
        <p:nvPicPr>
          <p:cNvPr id="21507" name="Picture 3"/>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1371600" y="1863896"/>
            <a:ext cx="9733997" cy="371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8" name="Picture 4"/>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1915160" y="2695576"/>
            <a:ext cx="5221432" cy="385329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9" name="Picture 5"/>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5758295" y="5156200"/>
            <a:ext cx="4147705" cy="12382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56641055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a:t>Exemples : apache (2) </a:t>
            </a:r>
          </a:p>
        </p:txBody>
      </p:sp>
      <p:sp>
        <p:nvSpPr>
          <p:cNvPr id="5" name="Content Placeholder 4"/>
          <p:cNvSpPr>
            <a:spLocks noGrp="1"/>
          </p:cNvSpPr>
          <p:nvPr>
            <p:ph idx="1"/>
            <p:custDataLst>
              <p:tags r:id="rId3"/>
            </p:custDataLst>
          </p:nvPr>
        </p:nvSpPr>
        <p:spPr>
          <a:xfrm>
            <a:off x="2057401" y="1950586"/>
            <a:ext cx="9154160" cy="1214120"/>
          </a:xfrm>
        </p:spPr>
        <p:txBody>
          <a:bodyPr>
            <a:normAutofit/>
          </a:bodyPr>
          <a:lstStyle/>
          <a:p>
            <a:pPr marL="0" indent="0">
              <a:buNone/>
            </a:pPr>
            <a:r>
              <a:rPr lang="fr-FR" sz="1800" dirty="0"/>
              <a:t>Si nous  souhaitons que ce conteneur  </a:t>
            </a:r>
            <a:r>
              <a:rPr lang="fr-FR" sz="1800" b="1" dirty="0"/>
              <a:t>apache_c2 </a:t>
            </a:r>
            <a:r>
              <a:rPr lang="fr-FR" sz="1800" dirty="0"/>
              <a:t>puisse communiquer via </a:t>
            </a:r>
            <a:r>
              <a:rPr lang="fr-FR" sz="1800" b="1" dirty="0"/>
              <a:t>mysql_c1</a:t>
            </a:r>
            <a:r>
              <a:rPr lang="fr-FR" sz="1800" dirty="0"/>
              <a:t>. il faut ajouter un </a:t>
            </a:r>
            <a:r>
              <a:rPr lang="fr-FR" sz="1800" dirty="0" err="1"/>
              <a:t>link</a:t>
            </a:r>
            <a:r>
              <a:rPr lang="fr-FR" sz="1800" dirty="0"/>
              <a:t> lors de la création du conteneur </a:t>
            </a:r>
            <a:r>
              <a:rPr lang="fr-FR" sz="1800" b="1" dirty="0"/>
              <a:t>apache_c2</a:t>
            </a:r>
            <a:r>
              <a:rPr lang="fr-FR" sz="1800" dirty="0"/>
              <a:t>.</a:t>
            </a:r>
          </a:p>
        </p:txBody>
      </p:sp>
      <p:pic>
        <p:nvPicPr>
          <p:cNvPr id="21507" name="Picture 3"/>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2057401" y="3315216"/>
            <a:ext cx="9733997" cy="371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8" name="Picture 4"/>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1702967" y="3676536"/>
            <a:ext cx="5221432" cy="385329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9" name="Picture 5"/>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7203441" y="4429492"/>
            <a:ext cx="4147705" cy="12382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8378515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E0670C5-99F8-C5E8-9D78-9395E4D29FEF}"/>
              </a:ext>
            </a:extLst>
          </p:cNvPr>
          <p:cNvSpPr>
            <a:spLocks noGrp="1"/>
          </p:cNvSpPr>
          <p:nvPr>
            <p:ph type="title"/>
          </p:nvPr>
        </p:nvSpPr>
        <p:spPr/>
        <p:txBody>
          <a:bodyPr>
            <a:normAutofit/>
          </a:bodyPr>
          <a:lstStyle/>
          <a:p>
            <a:r>
              <a:rPr lang="fr-FR" sz="7200" dirty="0" err="1"/>
              <a:t>DockerFile</a:t>
            </a:r>
            <a:r>
              <a:rPr lang="fr-FR" sz="7200" dirty="0"/>
              <a:t> et </a:t>
            </a:r>
            <a:br>
              <a:rPr lang="fr-FR" sz="7200" dirty="0"/>
            </a:br>
            <a:r>
              <a:rPr lang="fr-FR" sz="7200" dirty="0"/>
              <a:t>les images</a:t>
            </a:r>
            <a:endParaRPr lang="fr-MA" dirty="0"/>
          </a:p>
        </p:txBody>
      </p:sp>
      <p:sp>
        <p:nvSpPr>
          <p:cNvPr id="5" name="Espace réservé du texte 4">
            <a:extLst>
              <a:ext uri="{FF2B5EF4-FFF2-40B4-BE49-F238E27FC236}">
                <a16:creationId xmlns:a16="http://schemas.microsoft.com/office/drawing/2014/main" id="{8EB179B7-A169-BCCF-2634-2469173CC399}"/>
              </a:ext>
            </a:extLst>
          </p:cNvPr>
          <p:cNvSpPr>
            <a:spLocks noGrp="1"/>
          </p:cNvSpPr>
          <p:nvPr>
            <p:ph type="body" idx="1"/>
          </p:nvPr>
        </p:nvSpPr>
        <p:spPr/>
        <p:txBody>
          <a:bodyPr/>
          <a:lstStyle/>
          <a:p>
            <a:endParaRPr lang="fr-MA"/>
          </a:p>
        </p:txBody>
      </p:sp>
    </p:spTree>
    <p:extLst>
      <p:ext uri="{BB962C8B-B14F-4D97-AF65-F5344CB8AC3E}">
        <p14:creationId xmlns:p14="http://schemas.microsoft.com/office/powerpoint/2010/main" val="23938593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320800" y="442352"/>
            <a:ext cx="8458200" cy="1143000"/>
          </a:xfrm>
        </p:spPr>
        <p:txBody>
          <a:bodyPr>
            <a:normAutofit fontScale="90000"/>
          </a:bodyPr>
          <a:lstStyle/>
          <a:p>
            <a:r>
              <a:rPr lang="fr-FR" dirty="0"/>
              <a:t>Pourquoi et comment créer une image</a:t>
            </a:r>
          </a:p>
        </p:txBody>
      </p:sp>
      <p:sp>
        <p:nvSpPr>
          <p:cNvPr id="5" name="Content Placeholder 4"/>
          <p:cNvSpPr>
            <a:spLocks noGrp="1"/>
          </p:cNvSpPr>
          <p:nvPr>
            <p:ph idx="1"/>
            <p:custDataLst>
              <p:tags r:id="rId3"/>
            </p:custDataLst>
          </p:nvPr>
        </p:nvSpPr>
        <p:spPr>
          <a:xfrm>
            <a:off x="1320800" y="1719162"/>
            <a:ext cx="10769600" cy="4869206"/>
          </a:xfrm>
        </p:spPr>
        <p:txBody>
          <a:bodyPr>
            <a:normAutofit/>
          </a:bodyPr>
          <a:lstStyle/>
          <a:p>
            <a:pPr marL="0" indent="0">
              <a:buNone/>
            </a:pPr>
            <a:r>
              <a:rPr lang="fr-FR" sz="1600" dirty="0"/>
              <a:t>Vous décidez que votre application doit être </a:t>
            </a:r>
            <a:r>
              <a:rPr lang="fr-FR" sz="1600" dirty="0" err="1"/>
              <a:t>dockerisée</a:t>
            </a:r>
            <a:r>
              <a:rPr lang="fr-FR" sz="1600" dirty="0"/>
              <a:t> (</a:t>
            </a:r>
            <a:r>
              <a:rPr lang="fr-FR" sz="1600" dirty="0" err="1"/>
              <a:t>dockerized</a:t>
            </a:r>
            <a:r>
              <a:rPr lang="fr-FR" sz="1600" dirty="0"/>
              <a:t>) afin de faciliter le déploiement. Vous devez créer une image docker contenant tout ce qu’il faut.</a:t>
            </a:r>
          </a:p>
          <a:p>
            <a:pPr marL="0" indent="0">
              <a:buNone/>
            </a:pPr>
            <a:endParaRPr lang="fr-FR" sz="1600" dirty="0"/>
          </a:p>
          <a:p>
            <a:pPr marL="0" indent="0">
              <a:buNone/>
            </a:pPr>
            <a:r>
              <a:rPr lang="fr-FR" sz="1600" dirty="0"/>
              <a:t>Cette image sera utilisée par la suite pour créer autant de conteneurs que l’on souhaite</a:t>
            </a:r>
          </a:p>
          <a:p>
            <a:pPr marL="0" indent="0">
              <a:buNone/>
            </a:pPr>
            <a:endParaRPr lang="fr-FR" sz="1600" dirty="0"/>
          </a:p>
          <a:p>
            <a:pPr marL="0" indent="0">
              <a:buNone/>
            </a:pPr>
            <a:r>
              <a:rPr lang="fr-FR" sz="1600" dirty="0"/>
              <a:t>Rappel : Un conteneur est un SE contenant notre application et ses dépendances. </a:t>
            </a:r>
          </a:p>
          <a:p>
            <a:pPr marL="0" indent="0">
              <a:buNone/>
            </a:pPr>
            <a:endParaRPr lang="fr-FR" sz="1600" dirty="0"/>
          </a:p>
          <a:p>
            <a:pPr marL="0" indent="0">
              <a:buNone/>
            </a:pPr>
            <a:r>
              <a:rPr lang="fr-FR" sz="1600" dirty="0"/>
              <a:t>Une image est donc : 	Une </a:t>
            </a:r>
            <a:r>
              <a:rPr lang="fr-FR" sz="1600" dirty="0" err="1"/>
              <a:t>imgae</a:t>
            </a:r>
            <a:r>
              <a:rPr lang="fr-FR" sz="1600" dirty="0"/>
              <a:t> de base (OS o </a:t>
            </a:r>
            <a:r>
              <a:rPr lang="fr-FR" sz="1600" dirty="0" err="1"/>
              <a:t>uautre</a:t>
            </a:r>
            <a:r>
              <a:rPr lang="fr-FR" sz="1600" dirty="0"/>
              <a:t>)		</a:t>
            </a:r>
          </a:p>
          <a:p>
            <a:pPr marL="0" indent="0">
              <a:buNone/>
            </a:pPr>
            <a:r>
              <a:rPr lang="fr-FR" sz="1600" dirty="0"/>
              <a:t>			Dépendances</a:t>
            </a:r>
          </a:p>
          <a:p>
            <a:pPr marL="0" indent="0">
              <a:buNone/>
            </a:pPr>
            <a:r>
              <a:rPr lang="fr-FR" sz="1600" dirty="0"/>
              <a:t>			Service (PHP, </a:t>
            </a:r>
            <a:r>
              <a:rPr lang="fr-FR" sz="1600" dirty="0" err="1"/>
              <a:t>Tomcat</a:t>
            </a:r>
            <a:r>
              <a:rPr lang="fr-FR" sz="1600" dirty="0"/>
              <a:t>, etc.) lancé</a:t>
            </a:r>
          </a:p>
          <a:p>
            <a:pPr marL="0" indent="0">
              <a:buNone/>
            </a:pPr>
            <a:r>
              <a:rPr lang="fr-FR" sz="1600" dirty="0"/>
              <a:t>			Code source de l’application</a:t>
            </a:r>
          </a:p>
          <a:p>
            <a:pPr marL="0" indent="0">
              <a:buNone/>
            </a:pPr>
            <a:endParaRPr lang="fr-FR" sz="1600" dirty="0"/>
          </a:p>
          <a:p>
            <a:pPr marL="0" indent="0">
              <a:buNone/>
            </a:pPr>
            <a:r>
              <a:rPr lang="fr-FR" sz="1600" dirty="0"/>
              <a:t>Ces étapes sont formulées dans un fichier appelé </a:t>
            </a:r>
            <a:r>
              <a:rPr lang="fr-FR" sz="1600" b="1" dirty="0" err="1"/>
              <a:t>DockerFile</a:t>
            </a:r>
            <a:r>
              <a:rPr lang="fr-FR" sz="1600" dirty="0"/>
              <a:t>.	</a:t>
            </a:r>
          </a:p>
        </p:txBody>
      </p:sp>
    </p:spTree>
    <p:custDataLst>
      <p:tags r:id="rId1"/>
    </p:custDataLst>
    <p:extLst>
      <p:ext uri="{BB962C8B-B14F-4D97-AF65-F5344CB8AC3E}">
        <p14:creationId xmlns:p14="http://schemas.microsoft.com/office/powerpoint/2010/main" val="36521809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err="1"/>
              <a:t>DockerFile</a:t>
            </a:r>
            <a:r>
              <a:rPr lang="fr-FR" dirty="0"/>
              <a:t> (1)</a:t>
            </a:r>
          </a:p>
        </p:txBody>
      </p:sp>
      <p:sp>
        <p:nvSpPr>
          <p:cNvPr id="5" name="Content Placeholder 4"/>
          <p:cNvSpPr>
            <a:spLocks noGrp="1"/>
          </p:cNvSpPr>
          <p:nvPr>
            <p:ph idx="1"/>
            <p:custDataLst>
              <p:tags r:id="rId3"/>
            </p:custDataLst>
          </p:nvPr>
        </p:nvSpPr>
        <p:spPr>
          <a:xfrm>
            <a:off x="1463040" y="1983322"/>
            <a:ext cx="10058400" cy="5138838"/>
          </a:xfrm>
        </p:spPr>
        <p:txBody>
          <a:bodyPr>
            <a:normAutofit/>
          </a:bodyPr>
          <a:lstStyle/>
          <a:p>
            <a:pPr marL="0" indent="0">
              <a:buNone/>
            </a:pPr>
            <a:r>
              <a:rPr lang="fr-FR" sz="1800" dirty="0" err="1"/>
              <a:t>DockerFile</a:t>
            </a:r>
            <a:r>
              <a:rPr lang="fr-FR" sz="1800" dirty="0"/>
              <a:t> est utilisé pour créer des commandes pour créer des images docker. En voici un exemple :</a:t>
            </a:r>
            <a:endParaRPr lang="fr-FR" sz="1800" i="1" dirty="0"/>
          </a:p>
          <a:p>
            <a:pPr marL="0" indent="0">
              <a:buNone/>
            </a:pPr>
            <a:r>
              <a:rPr lang="fr-FR" sz="1800" dirty="0"/>
              <a:t>	</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r>
              <a:rPr lang="fr-FR" sz="1800" dirty="0"/>
              <a:t>Tout fichier docker commence par FROM puis le nom d’une image. Puis les commandes à exécuter sur cette image. Enfin le processus à lancer.</a:t>
            </a:r>
          </a:p>
        </p:txBody>
      </p:sp>
      <p:pic>
        <p:nvPicPr>
          <p:cNvPr id="14339" name="Picture 3"/>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2362200" y="2764179"/>
            <a:ext cx="4486984" cy="255836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86600" y="3352801"/>
            <a:ext cx="3409950" cy="1381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2412533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fr-FR" dirty="0" err="1"/>
              <a:t>DockerFile</a:t>
            </a:r>
            <a:r>
              <a:rPr lang="fr-FR" dirty="0"/>
              <a:t> (2)</a:t>
            </a:r>
          </a:p>
        </p:txBody>
      </p:sp>
      <p:sp>
        <p:nvSpPr>
          <p:cNvPr id="5" name="Content Placeholder 4"/>
          <p:cNvSpPr>
            <a:spLocks noGrp="1"/>
          </p:cNvSpPr>
          <p:nvPr>
            <p:ph idx="1"/>
            <p:custDataLst>
              <p:tags r:id="rId3"/>
            </p:custDataLst>
          </p:nvPr>
        </p:nvSpPr>
        <p:spPr>
          <a:xfrm>
            <a:off x="1633105" y="1963002"/>
            <a:ext cx="8882495" cy="5138838"/>
          </a:xfrm>
        </p:spPr>
        <p:txBody>
          <a:bodyPr>
            <a:normAutofit/>
          </a:bodyPr>
          <a:lstStyle/>
          <a:p>
            <a:pPr marL="0" indent="0">
              <a:buNone/>
            </a:pPr>
            <a:r>
              <a:rPr lang="fr-FR" sz="1800" dirty="0"/>
              <a:t>Il faut ensuite compiler le  fichier pour créer l’image : </a:t>
            </a:r>
            <a:r>
              <a:rPr lang="fr-FR" sz="1800" b="1" dirty="0"/>
              <a:t>docker </a:t>
            </a:r>
            <a:r>
              <a:rPr lang="fr-FR" sz="1800" b="1" dirty="0" err="1"/>
              <a:t>build</a:t>
            </a:r>
            <a:r>
              <a:rPr lang="fr-FR" sz="1800" b="1" dirty="0"/>
              <a:t> </a:t>
            </a: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p:txBody>
      </p:sp>
      <p:pic>
        <p:nvPicPr>
          <p:cNvPr id="1434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0" y="4132119"/>
            <a:ext cx="3409950" cy="1381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3480" y="2543174"/>
            <a:ext cx="58197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2" name="Picture 6"/>
          <p:cNvPicPr>
            <a:picLocks noChangeAspect="1" noChangeArrowheads="1"/>
          </p:cNvPicPr>
          <p:nvPr/>
        </p:nvPicPr>
        <p:blipFill>
          <a:blip r:embed="rId8" cstate="email">
            <a:extLst>
              <a:ext uri="{28A0092B-C50C-407E-A947-70E740481C1C}">
                <a14:useLocalDpi xmlns:a14="http://schemas.microsoft.com/office/drawing/2010/main" val="0"/>
              </a:ext>
            </a:extLst>
          </a:blip>
          <a:srcRect/>
          <a:stretch>
            <a:fillRect/>
          </a:stretch>
        </p:blipFill>
        <p:spPr bwMode="auto">
          <a:xfrm>
            <a:off x="2200015" y="3281896"/>
            <a:ext cx="8358880" cy="608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0"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0972" y="4255943"/>
            <a:ext cx="256222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3395336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E0670C5-99F8-C5E8-9D78-9395E4D29FEF}"/>
              </a:ext>
            </a:extLst>
          </p:cNvPr>
          <p:cNvSpPr>
            <a:spLocks noGrp="1"/>
          </p:cNvSpPr>
          <p:nvPr>
            <p:ph type="title"/>
          </p:nvPr>
        </p:nvSpPr>
        <p:spPr/>
        <p:txBody>
          <a:bodyPr>
            <a:normAutofit/>
          </a:bodyPr>
          <a:lstStyle/>
          <a:p>
            <a:r>
              <a:rPr lang="fr-FR" sz="7200" dirty="0"/>
              <a:t>Docker Compose</a:t>
            </a:r>
            <a:endParaRPr lang="fr-MA" dirty="0"/>
          </a:p>
        </p:txBody>
      </p:sp>
      <p:sp>
        <p:nvSpPr>
          <p:cNvPr id="5" name="Espace réservé du texte 4">
            <a:extLst>
              <a:ext uri="{FF2B5EF4-FFF2-40B4-BE49-F238E27FC236}">
                <a16:creationId xmlns:a16="http://schemas.microsoft.com/office/drawing/2014/main" id="{8EB179B7-A169-BCCF-2634-2469173CC399}"/>
              </a:ext>
            </a:extLst>
          </p:cNvPr>
          <p:cNvSpPr>
            <a:spLocks noGrp="1"/>
          </p:cNvSpPr>
          <p:nvPr>
            <p:ph type="body" idx="1"/>
          </p:nvPr>
        </p:nvSpPr>
        <p:spPr/>
        <p:txBody>
          <a:bodyPr/>
          <a:lstStyle/>
          <a:p>
            <a:endParaRPr lang="fr-MA"/>
          </a:p>
        </p:txBody>
      </p:sp>
    </p:spTree>
    <p:extLst>
      <p:ext uri="{BB962C8B-B14F-4D97-AF65-F5344CB8AC3E}">
        <p14:creationId xmlns:p14="http://schemas.microsoft.com/office/powerpoint/2010/main" val="279570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188720" y="497840"/>
            <a:ext cx="8458200" cy="1143000"/>
          </a:xfrm>
        </p:spPr>
        <p:txBody>
          <a:bodyPr>
            <a:normAutofit/>
          </a:bodyPr>
          <a:lstStyle/>
          <a:p>
            <a:r>
              <a:rPr lang="fr-FR" dirty="0"/>
              <a:t>Problème avec les commandes </a:t>
            </a:r>
            <a:r>
              <a:rPr lang="fr-FR" dirty="0" err="1"/>
              <a:t>run</a:t>
            </a:r>
            <a:endParaRPr lang="fr-FR" dirty="0"/>
          </a:p>
        </p:txBody>
      </p:sp>
      <p:sp>
        <p:nvSpPr>
          <p:cNvPr id="5" name="Content Placeholder 4"/>
          <p:cNvSpPr>
            <a:spLocks noGrp="1"/>
          </p:cNvSpPr>
          <p:nvPr>
            <p:ph idx="1"/>
            <p:custDataLst>
              <p:tags r:id="rId3"/>
            </p:custDataLst>
          </p:nvPr>
        </p:nvSpPr>
        <p:spPr>
          <a:xfrm>
            <a:off x="1188720" y="2054442"/>
            <a:ext cx="10769600" cy="4305718"/>
          </a:xfrm>
        </p:spPr>
        <p:txBody>
          <a:bodyPr>
            <a:normAutofit/>
          </a:bodyPr>
          <a:lstStyle/>
          <a:p>
            <a:pPr marL="0" indent="0">
              <a:buNone/>
            </a:pPr>
            <a:r>
              <a:rPr lang="fr-FR" sz="1800" dirty="0"/>
              <a:t>Les commandes  </a:t>
            </a:r>
            <a:r>
              <a:rPr lang="fr-FR" sz="1800" b="1" dirty="0"/>
              <a:t>docker </a:t>
            </a:r>
            <a:r>
              <a:rPr lang="fr-FR" sz="1800" b="1" dirty="0" err="1"/>
              <a:t>run</a:t>
            </a:r>
            <a:r>
              <a:rPr lang="fr-FR" sz="1800" b="1" dirty="0"/>
              <a:t> </a:t>
            </a:r>
            <a:r>
              <a:rPr lang="fr-FR" sz="1800" dirty="0"/>
              <a:t>ne sont pas toujours simples, surtout avec des variables d’environnement, des </a:t>
            </a:r>
            <a:r>
              <a:rPr lang="fr-FR" sz="1800" dirty="0" err="1"/>
              <a:t>link</a:t>
            </a:r>
            <a:r>
              <a:rPr lang="fr-FR" sz="1800" dirty="0"/>
              <a:t>, des noms de conteneurs, etc.</a:t>
            </a:r>
          </a:p>
          <a:p>
            <a:pPr marL="0" indent="0">
              <a:buNone/>
            </a:pPr>
            <a:endParaRPr lang="fr-FR" sz="1800" dirty="0"/>
          </a:p>
          <a:p>
            <a:pPr marL="0" indent="0">
              <a:buNone/>
            </a:pPr>
            <a:r>
              <a:rPr lang="fr-FR" sz="1800" b="1" dirty="0"/>
              <a:t>docker </a:t>
            </a:r>
            <a:r>
              <a:rPr lang="fr-FR" sz="1800" b="1" dirty="0" err="1"/>
              <a:t>run</a:t>
            </a:r>
            <a:r>
              <a:rPr lang="fr-FR" sz="1800" b="1" dirty="0"/>
              <a:t> -d -p 80:80 --</a:t>
            </a:r>
            <a:r>
              <a:rPr lang="fr-FR" sz="1800" b="1" dirty="0" err="1"/>
              <a:t>name</a:t>
            </a:r>
            <a:r>
              <a:rPr lang="fr-FR" sz="1800" b="1" dirty="0"/>
              <a:t>=apache_c2 --</a:t>
            </a:r>
            <a:r>
              <a:rPr lang="fr-FR" sz="1800" b="1" dirty="0" err="1"/>
              <a:t>link</a:t>
            </a:r>
            <a:r>
              <a:rPr lang="fr-FR" sz="1800" b="1" dirty="0"/>
              <a:t>=</a:t>
            </a:r>
            <a:r>
              <a:rPr lang="fr-FR" sz="1800" b="1" dirty="0" err="1"/>
              <a:t>cool_dirac</a:t>
            </a:r>
            <a:r>
              <a:rPr lang="fr-FR" sz="1800" b="1" dirty="0"/>
              <a:t> -e DB_URL=mysql_c1 -e DB_USERNAME=</a:t>
            </a:r>
            <a:r>
              <a:rPr lang="fr-FR" sz="1800" b="1" dirty="0" err="1"/>
              <a:t>root</a:t>
            </a:r>
            <a:r>
              <a:rPr lang="fr-FR" sz="1800" b="1" dirty="0"/>
              <a:t> -e DB_PASSWORD=</a:t>
            </a:r>
            <a:r>
              <a:rPr lang="fr-FR" sz="1800" b="1" dirty="0" err="1"/>
              <a:t>mypassword</a:t>
            </a:r>
            <a:r>
              <a:rPr lang="fr-FR" sz="1800" b="1" dirty="0"/>
              <a:t> -e DB_NAME=</a:t>
            </a:r>
            <a:r>
              <a:rPr lang="fr-FR" sz="1800" b="1" dirty="0" err="1"/>
              <a:t>test_db</a:t>
            </a:r>
            <a:r>
              <a:rPr lang="fr-FR" sz="1800" b="1" dirty="0"/>
              <a:t> -v d:/docker_data/php:/var/www/html </a:t>
            </a:r>
            <a:r>
              <a:rPr lang="fr-FR" sz="1800" b="1" dirty="0" err="1"/>
              <a:t>nimmis</a:t>
            </a:r>
            <a:r>
              <a:rPr lang="fr-FR" sz="1800" b="1" dirty="0"/>
              <a:t>/apache-php5</a:t>
            </a:r>
          </a:p>
          <a:p>
            <a:pPr marL="0" indent="0">
              <a:buNone/>
            </a:pPr>
            <a:endParaRPr lang="fr-FR" sz="1800" b="1" dirty="0"/>
          </a:p>
          <a:p>
            <a:pPr marL="0" indent="0">
              <a:buNone/>
            </a:pPr>
            <a:r>
              <a:rPr lang="fr-FR" sz="1800" dirty="0"/>
              <a:t>Docker propose l’outil docker-compose qui permet de contourner ce problème.</a:t>
            </a:r>
          </a:p>
          <a:p>
            <a:pPr marL="0" indent="0">
              <a:buNone/>
            </a:pPr>
            <a:endParaRPr lang="fr-FR" sz="1800" dirty="0"/>
          </a:p>
          <a:p>
            <a:pPr marL="0" indent="0">
              <a:buNone/>
            </a:pPr>
            <a:r>
              <a:rPr lang="fr-FR" sz="1800" b="1" dirty="0"/>
              <a:t>Docker-compose</a:t>
            </a:r>
            <a:r>
              <a:rPr lang="fr-FR" sz="1800" dirty="0"/>
              <a:t> est un fichier </a:t>
            </a:r>
            <a:r>
              <a:rPr lang="fr-FR" sz="1800" dirty="0" err="1"/>
              <a:t>yml</a:t>
            </a:r>
            <a:r>
              <a:rPr lang="fr-FR" sz="1800" dirty="0"/>
              <a:t> (basé sur les tabulations) contenant le descriptif des conteneurs à lancer.</a:t>
            </a:r>
          </a:p>
        </p:txBody>
      </p:sp>
    </p:spTree>
    <p:custDataLst>
      <p:tags r:id="rId1"/>
    </p:custDataLst>
    <p:extLst>
      <p:ext uri="{BB962C8B-B14F-4D97-AF65-F5344CB8AC3E}">
        <p14:creationId xmlns:p14="http://schemas.microsoft.com/office/powerpoint/2010/main" val="30715107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262063" y="637067"/>
            <a:ext cx="8458200" cy="1143000"/>
          </a:xfrm>
        </p:spPr>
        <p:txBody>
          <a:bodyPr>
            <a:normAutofit/>
          </a:bodyPr>
          <a:lstStyle/>
          <a:p>
            <a:r>
              <a:rPr lang="fr-FR" dirty="0"/>
              <a:t>docker-compose : exemple 1</a:t>
            </a:r>
          </a:p>
        </p:txBody>
      </p:sp>
      <p:sp>
        <p:nvSpPr>
          <p:cNvPr id="5" name="Content Placeholder 4"/>
          <p:cNvSpPr>
            <a:spLocks noGrp="1"/>
          </p:cNvSpPr>
          <p:nvPr>
            <p:ph idx="1"/>
            <p:custDataLst>
              <p:tags r:id="rId3"/>
            </p:custDataLst>
          </p:nvPr>
        </p:nvSpPr>
        <p:spPr>
          <a:xfrm>
            <a:off x="1717040" y="2242822"/>
            <a:ext cx="8382000" cy="977061"/>
          </a:xfrm>
        </p:spPr>
        <p:txBody>
          <a:bodyPr>
            <a:normAutofit/>
          </a:bodyPr>
          <a:lstStyle/>
          <a:p>
            <a:pPr marL="0" indent="0">
              <a:buNone/>
            </a:pPr>
            <a:r>
              <a:rPr lang="fr-FR" b="1" dirty="0"/>
              <a:t>docker </a:t>
            </a:r>
            <a:r>
              <a:rPr lang="fr-FR" b="1" dirty="0" err="1"/>
              <a:t>run</a:t>
            </a:r>
            <a:r>
              <a:rPr lang="fr-FR" b="1" dirty="0"/>
              <a:t> -v d:/docker_data/mysql:/var/lib/mysql --</a:t>
            </a:r>
            <a:r>
              <a:rPr lang="fr-FR" b="1" dirty="0" err="1"/>
              <a:t>name</a:t>
            </a:r>
            <a:r>
              <a:rPr lang="fr-FR" b="1" dirty="0"/>
              <a:t> mysql_c1 mysql:5.7</a:t>
            </a:r>
          </a:p>
        </p:txBody>
      </p:sp>
      <p:pic>
        <p:nvPicPr>
          <p:cNvPr id="2457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4315" y="3638118"/>
            <a:ext cx="6267450" cy="2352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291544" y="2274193"/>
            <a:ext cx="1858483"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415602" y="4608757"/>
            <a:ext cx="1313879" cy="27709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794752" y="2577191"/>
            <a:ext cx="1085850" cy="3048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738880" y="4885848"/>
            <a:ext cx="2143125" cy="277091"/>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987201" y="2274193"/>
            <a:ext cx="4304343" cy="32004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738880" y="5147375"/>
            <a:ext cx="5181600" cy="58189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6612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9" grpId="0" animBg="1"/>
      <p:bldP spid="10"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157215" y="480236"/>
            <a:ext cx="8458200" cy="1143000"/>
          </a:xfrm>
        </p:spPr>
        <p:txBody>
          <a:bodyPr>
            <a:normAutofit/>
          </a:bodyPr>
          <a:lstStyle/>
          <a:p>
            <a:r>
              <a:rPr lang="fr-FR" dirty="0"/>
              <a:t>docker-compose : exemple 2</a:t>
            </a:r>
          </a:p>
        </p:txBody>
      </p:sp>
      <p:sp>
        <p:nvSpPr>
          <p:cNvPr id="5" name="Content Placeholder 4"/>
          <p:cNvSpPr>
            <a:spLocks noGrp="1"/>
          </p:cNvSpPr>
          <p:nvPr>
            <p:ph idx="1"/>
            <p:custDataLst>
              <p:tags r:id="rId3"/>
            </p:custDataLst>
          </p:nvPr>
        </p:nvSpPr>
        <p:spPr>
          <a:xfrm>
            <a:off x="2223063" y="1329560"/>
            <a:ext cx="8382000" cy="5291238"/>
          </a:xfrm>
        </p:spPr>
        <p:txBody>
          <a:bodyPr>
            <a:normAutofit/>
          </a:bodyPr>
          <a:lstStyle/>
          <a:p>
            <a:pPr marL="0" indent="0">
              <a:buNone/>
            </a:pPr>
            <a:endParaRPr lang="fr-FR" b="1" dirty="0"/>
          </a:p>
          <a:p>
            <a:pPr marL="0" indent="0">
              <a:buNone/>
            </a:pPr>
            <a:r>
              <a:rPr lang="fr-FR" b="1" dirty="0"/>
              <a:t>docker </a:t>
            </a:r>
            <a:r>
              <a:rPr lang="fr-FR" b="1" dirty="0" err="1"/>
              <a:t>run</a:t>
            </a:r>
            <a:r>
              <a:rPr lang="fr-FR" b="1" dirty="0"/>
              <a:t> -d -p 80:80 --</a:t>
            </a:r>
            <a:r>
              <a:rPr lang="fr-FR" b="1" dirty="0" err="1"/>
              <a:t>name</a:t>
            </a:r>
            <a:r>
              <a:rPr lang="fr-FR" b="1" dirty="0"/>
              <a:t>=apache_c2 --</a:t>
            </a:r>
            <a:r>
              <a:rPr lang="fr-FR" b="1" dirty="0" err="1"/>
              <a:t>link</a:t>
            </a:r>
            <a:r>
              <a:rPr lang="fr-FR" b="1" dirty="0"/>
              <a:t>=mysql_c1 -e DB_URL=mysql_c1 -e DB_USERNAME=</a:t>
            </a:r>
            <a:r>
              <a:rPr lang="fr-FR" b="1" dirty="0" err="1"/>
              <a:t>root</a:t>
            </a:r>
            <a:r>
              <a:rPr lang="fr-FR" b="1" dirty="0"/>
              <a:t> -e DB_PASSWORD=</a:t>
            </a:r>
            <a:r>
              <a:rPr lang="fr-FR" b="1" dirty="0" err="1"/>
              <a:t>mypassword</a:t>
            </a:r>
            <a:r>
              <a:rPr lang="fr-FR" b="1" dirty="0"/>
              <a:t> -e DB_NAME=</a:t>
            </a:r>
            <a:r>
              <a:rPr lang="fr-FR" b="1" dirty="0" err="1"/>
              <a:t>test_db</a:t>
            </a:r>
            <a:r>
              <a:rPr lang="fr-FR" b="1" dirty="0"/>
              <a:t> -v d:/docker_data/php:/var/www/html </a:t>
            </a:r>
            <a:r>
              <a:rPr lang="fr-FR" b="1" dirty="0" err="1"/>
              <a:t>nimmis</a:t>
            </a:r>
            <a:r>
              <a:rPr lang="fr-FR" b="1" dirty="0"/>
              <a:t>/apache-php5</a:t>
            </a:r>
          </a:p>
        </p:txBody>
      </p:sp>
      <p:pic>
        <p:nvPicPr>
          <p:cNvPr id="25602" name="Picture 2"/>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2133601" y="3079804"/>
            <a:ext cx="4502727" cy="400679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734433" y="1776288"/>
            <a:ext cx="2118311" cy="3118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79111" y="4066954"/>
            <a:ext cx="1085850" cy="2290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569898" y="4295554"/>
            <a:ext cx="2816417" cy="22900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242121" y="2694738"/>
            <a:ext cx="2445741" cy="28279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735933" y="1812209"/>
            <a:ext cx="951929" cy="268227"/>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574584" y="4563764"/>
            <a:ext cx="1161349" cy="405689"/>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6899315" y="1811008"/>
            <a:ext cx="1992437" cy="277091"/>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569898" y="4981337"/>
            <a:ext cx="1700331" cy="49088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4590266" y="2430929"/>
            <a:ext cx="4346539" cy="251924"/>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569898" y="5490065"/>
            <a:ext cx="3962400" cy="405689"/>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569897" y="5928393"/>
            <a:ext cx="3962400" cy="1176299"/>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286000" y="2121199"/>
            <a:ext cx="8305800" cy="277091"/>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2242122" y="2434516"/>
            <a:ext cx="2348144" cy="280977"/>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603" name="Picture 3"/>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6496931" y="2896253"/>
            <a:ext cx="8597837" cy="4548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50850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203434" y="381111"/>
            <a:ext cx="8458200" cy="1143000"/>
          </a:xfrm>
        </p:spPr>
        <p:txBody>
          <a:bodyPr>
            <a:normAutofit/>
          </a:bodyPr>
          <a:lstStyle/>
          <a:p>
            <a:r>
              <a:rPr lang="fr-FR" dirty="0"/>
              <a:t>docker-compose : exemple 3</a:t>
            </a:r>
          </a:p>
        </p:txBody>
      </p:sp>
      <p:sp>
        <p:nvSpPr>
          <p:cNvPr id="3" name="Espace réservé du contenu 2"/>
          <p:cNvSpPr>
            <a:spLocks noGrp="1"/>
          </p:cNvSpPr>
          <p:nvPr>
            <p:ph idx="1"/>
          </p:nvPr>
        </p:nvSpPr>
        <p:spPr/>
        <p:txBody>
          <a:bodyPr/>
          <a:lstStyle/>
          <a:p>
            <a:endParaRPr lang="en-US"/>
          </a:p>
        </p:txBody>
      </p:sp>
      <p:pic>
        <p:nvPicPr>
          <p:cNvPr id="26626" name="Picture 2"/>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1230633" y="2046504"/>
            <a:ext cx="4209190" cy="443038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5066" y="2766327"/>
            <a:ext cx="5076825"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95066" y="4614177"/>
            <a:ext cx="3981450"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3801251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371600" y="490210"/>
            <a:ext cx="8458200" cy="1143000"/>
          </a:xfrm>
        </p:spPr>
        <p:txBody>
          <a:bodyPr>
            <a:normAutofit/>
          </a:bodyPr>
          <a:lstStyle/>
          <a:p>
            <a:r>
              <a:rPr lang="fr-FR" dirty="0"/>
              <a:t>docker-compose : exemple 3</a:t>
            </a:r>
          </a:p>
        </p:txBody>
      </p:sp>
      <p:sp>
        <p:nvSpPr>
          <p:cNvPr id="3" name="Espace réservé du contenu 2"/>
          <p:cNvSpPr>
            <a:spLocks noGrp="1"/>
          </p:cNvSpPr>
          <p:nvPr>
            <p:ph idx="1"/>
          </p:nvPr>
        </p:nvSpPr>
        <p:spPr/>
        <p:txBody>
          <a:bodyPr/>
          <a:lstStyle/>
          <a:p>
            <a:endParaRPr lang="en-US" dirty="0"/>
          </a:p>
        </p:txBody>
      </p:sp>
      <p:pic>
        <p:nvPicPr>
          <p:cNvPr id="8"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1752601"/>
            <a:ext cx="7467600"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1" y="2800129"/>
            <a:ext cx="7248525"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22636" y="4358287"/>
            <a:ext cx="4514850" cy="15716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13243175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E0670C5-99F8-C5E8-9D78-9395E4D29FEF}"/>
              </a:ext>
            </a:extLst>
          </p:cNvPr>
          <p:cNvSpPr>
            <a:spLocks noGrp="1"/>
          </p:cNvSpPr>
          <p:nvPr>
            <p:ph type="title"/>
          </p:nvPr>
        </p:nvSpPr>
        <p:spPr/>
        <p:txBody>
          <a:bodyPr>
            <a:normAutofit/>
          </a:bodyPr>
          <a:lstStyle/>
          <a:p>
            <a:pPr algn="r"/>
            <a:r>
              <a:rPr lang="fr-FR" sz="7200" dirty="0"/>
              <a:t>Orchestration des conteneurs</a:t>
            </a:r>
          </a:p>
        </p:txBody>
      </p:sp>
      <p:sp>
        <p:nvSpPr>
          <p:cNvPr id="5" name="Espace réservé du texte 4">
            <a:extLst>
              <a:ext uri="{FF2B5EF4-FFF2-40B4-BE49-F238E27FC236}">
                <a16:creationId xmlns:a16="http://schemas.microsoft.com/office/drawing/2014/main" id="{8EB179B7-A169-BCCF-2634-2469173CC399}"/>
              </a:ext>
            </a:extLst>
          </p:cNvPr>
          <p:cNvSpPr>
            <a:spLocks noGrp="1"/>
          </p:cNvSpPr>
          <p:nvPr>
            <p:ph type="body" idx="1"/>
          </p:nvPr>
        </p:nvSpPr>
        <p:spPr/>
        <p:txBody>
          <a:bodyPr/>
          <a:lstStyle/>
          <a:p>
            <a:endParaRPr lang="fr-MA"/>
          </a:p>
        </p:txBody>
      </p:sp>
    </p:spTree>
    <p:extLst>
      <p:ext uri="{BB962C8B-B14F-4D97-AF65-F5344CB8AC3E}">
        <p14:creationId xmlns:p14="http://schemas.microsoft.com/office/powerpoint/2010/main" val="286562733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91D01A-8679-B430-EBEB-3BAE2EE35FF6}"/>
              </a:ext>
            </a:extLst>
          </p:cNvPr>
          <p:cNvSpPr>
            <a:spLocks noGrp="1"/>
          </p:cNvSpPr>
          <p:nvPr>
            <p:ph type="title"/>
          </p:nvPr>
        </p:nvSpPr>
        <p:spPr/>
        <p:txBody>
          <a:bodyPr/>
          <a:lstStyle/>
          <a:p>
            <a:r>
              <a:rPr lang="fr-FR" dirty="0"/>
              <a:t>L’orchestration, introduction</a:t>
            </a:r>
            <a:endParaRPr lang="fr-MA" dirty="0"/>
          </a:p>
        </p:txBody>
      </p:sp>
      <p:sp>
        <p:nvSpPr>
          <p:cNvPr id="3" name="Espace réservé du contenu 2">
            <a:extLst>
              <a:ext uri="{FF2B5EF4-FFF2-40B4-BE49-F238E27FC236}">
                <a16:creationId xmlns:a16="http://schemas.microsoft.com/office/drawing/2014/main" id="{602B319B-BFE2-00FF-05EF-0700B1303217}"/>
              </a:ext>
            </a:extLst>
          </p:cNvPr>
          <p:cNvSpPr>
            <a:spLocks noGrp="1"/>
          </p:cNvSpPr>
          <p:nvPr>
            <p:ph idx="1"/>
          </p:nvPr>
        </p:nvSpPr>
        <p:spPr/>
        <p:txBody>
          <a:bodyPr/>
          <a:lstStyle/>
          <a:p>
            <a:r>
              <a:rPr lang="fr-FR" dirty="0"/>
              <a:t>Il s’agit du processus de gestion automatisée, de déploiement, de mise à l'échelle, de coordination et de maintenance des conteneurs logiciels dans un environnement de production.</a:t>
            </a:r>
          </a:p>
          <a:p>
            <a:endParaRPr lang="fr-FR" dirty="0"/>
          </a:p>
          <a:p>
            <a:r>
              <a:rPr lang="fr-FR" dirty="0"/>
              <a:t>Les conteneurs, comme Docker, sont des unités légères qui encapsulent une application, ses dépendances et son environnement d'exécution. </a:t>
            </a:r>
          </a:p>
          <a:p>
            <a:endParaRPr lang="fr-FR" dirty="0"/>
          </a:p>
          <a:p>
            <a:r>
              <a:rPr lang="fr-FR" dirty="0"/>
              <a:t>L'orchestration permet de gérer efficacement un grand nombre de conteneurs, de les distribuer sur différents nœuds (hôtes) et de garantir leur disponibilité et leur performance.</a:t>
            </a:r>
            <a:endParaRPr lang="fr-MA" dirty="0"/>
          </a:p>
        </p:txBody>
      </p:sp>
    </p:spTree>
    <p:extLst>
      <p:ext uri="{BB962C8B-B14F-4D97-AF65-F5344CB8AC3E}">
        <p14:creationId xmlns:p14="http://schemas.microsoft.com/office/powerpoint/2010/main" val="39070153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91D01A-8679-B430-EBEB-3BAE2EE35FF6}"/>
              </a:ext>
            </a:extLst>
          </p:cNvPr>
          <p:cNvSpPr>
            <a:spLocks noGrp="1"/>
          </p:cNvSpPr>
          <p:nvPr>
            <p:ph type="title"/>
          </p:nvPr>
        </p:nvSpPr>
        <p:spPr/>
        <p:txBody>
          <a:bodyPr/>
          <a:lstStyle/>
          <a:p>
            <a:r>
              <a:rPr lang="fr-FR" dirty="0" err="1"/>
              <a:t>Private</a:t>
            </a:r>
            <a:r>
              <a:rPr lang="fr-FR" dirty="0"/>
              <a:t> Docker Repository</a:t>
            </a:r>
            <a:endParaRPr lang="fr-MA" dirty="0"/>
          </a:p>
        </p:txBody>
      </p:sp>
      <p:sp>
        <p:nvSpPr>
          <p:cNvPr id="3" name="Espace réservé du contenu 2">
            <a:extLst>
              <a:ext uri="{FF2B5EF4-FFF2-40B4-BE49-F238E27FC236}">
                <a16:creationId xmlns:a16="http://schemas.microsoft.com/office/drawing/2014/main" id="{602B319B-BFE2-00FF-05EF-0700B1303217}"/>
              </a:ext>
            </a:extLst>
          </p:cNvPr>
          <p:cNvSpPr>
            <a:spLocks noGrp="1"/>
          </p:cNvSpPr>
          <p:nvPr>
            <p:ph idx="1"/>
          </p:nvPr>
        </p:nvSpPr>
        <p:spPr>
          <a:xfrm>
            <a:off x="1371600" y="2001520"/>
            <a:ext cx="10474960" cy="4714240"/>
          </a:xfrm>
        </p:spPr>
        <p:txBody>
          <a:bodyPr>
            <a:normAutofit/>
          </a:bodyPr>
          <a:lstStyle/>
          <a:p>
            <a:r>
              <a:rPr lang="fr-FR" sz="2100" dirty="0"/>
              <a:t>Un </a:t>
            </a:r>
            <a:r>
              <a:rPr lang="fr-FR" sz="2100" dirty="0" err="1"/>
              <a:t>Private</a:t>
            </a:r>
            <a:r>
              <a:rPr lang="fr-FR" sz="2100" dirty="0"/>
              <a:t> Docker Repository (ou registre Docker privé) est un service de stockage sécurisé qui permet aux utilisateurs de Docker de stocker, gérer et distribuer des images Docker de manière privée. </a:t>
            </a:r>
          </a:p>
          <a:p>
            <a:endParaRPr lang="fr-FR" sz="2100" dirty="0"/>
          </a:p>
          <a:p>
            <a:r>
              <a:rPr lang="fr-FR" sz="2100" dirty="0"/>
              <a:t>Contrairement aux registres Docker publics, tels que Docker Hub, un registre privé est destiné à un usage restreint, souvent au sein d'une organisation ou d'une entreprise, et offre un niveau de confidentialité et de contrôle supplémentaire sur les images Docker.</a:t>
            </a:r>
          </a:p>
          <a:p>
            <a:endParaRPr lang="fr-FR" sz="2100" dirty="0"/>
          </a:p>
          <a:p>
            <a:r>
              <a:rPr lang="fr-FR" sz="2100" dirty="0"/>
              <a:t>Particulièrement utiles pour le stockage d'images personnalisées, d'images internes. </a:t>
            </a:r>
          </a:p>
          <a:p>
            <a:endParaRPr lang="fr-FR" sz="2100" dirty="0"/>
          </a:p>
          <a:p>
            <a:r>
              <a:rPr lang="fr-FR" sz="2100" dirty="0"/>
              <a:t>Outils : Docker </a:t>
            </a:r>
            <a:r>
              <a:rPr lang="fr-FR" sz="2100" dirty="0" err="1"/>
              <a:t>Trusted</a:t>
            </a:r>
            <a:r>
              <a:rPr lang="fr-FR" sz="2100" dirty="0"/>
              <a:t> </a:t>
            </a:r>
            <a:r>
              <a:rPr lang="fr-FR" sz="2100" dirty="0" err="1"/>
              <a:t>Registry</a:t>
            </a:r>
            <a:r>
              <a:rPr lang="fr-FR" sz="2100" dirty="0"/>
              <a:t> (DTR), Amazon </a:t>
            </a:r>
            <a:r>
              <a:rPr lang="fr-FR" sz="2100" dirty="0" err="1"/>
              <a:t>Elastic</a:t>
            </a:r>
            <a:r>
              <a:rPr lang="fr-FR" sz="2100" dirty="0"/>
              <a:t> Container </a:t>
            </a:r>
            <a:r>
              <a:rPr lang="fr-FR" sz="2100" dirty="0" err="1"/>
              <a:t>Registry</a:t>
            </a:r>
            <a:r>
              <a:rPr lang="fr-FR" sz="2100" dirty="0"/>
              <a:t> (ECR), Google Container </a:t>
            </a:r>
            <a:r>
              <a:rPr lang="fr-FR" sz="2100" dirty="0" err="1"/>
              <a:t>Registry</a:t>
            </a:r>
            <a:r>
              <a:rPr lang="fr-FR" sz="2100" dirty="0"/>
              <a:t>.</a:t>
            </a:r>
          </a:p>
        </p:txBody>
      </p:sp>
    </p:spTree>
    <p:extLst>
      <p:ext uri="{BB962C8B-B14F-4D97-AF65-F5344CB8AC3E}">
        <p14:creationId xmlns:p14="http://schemas.microsoft.com/office/powerpoint/2010/main" val="175731359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447800" y="576162"/>
            <a:ext cx="8458200" cy="1143000"/>
          </a:xfrm>
        </p:spPr>
        <p:txBody>
          <a:bodyPr>
            <a:normAutofit/>
          </a:bodyPr>
          <a:lstStyle/>
          <a:p>
            <a:r>
              <a:rPr lang="fr-FR" dirty="0"/>
              <a:t>Orchestration, objectifs (1)</a:t>
            </a:r>
          </a:p>
        </p:txBody>
      </p:sp>
      <p:sp>
        <p:nvSpPr>
          <p:cNvPr id="5" name="Content Placeholder 4"/>
          <p:cNvSpPr>
            <a:spLocks noGrp="1"/>
          </p:cNvSpPr>
          <p:nvPr>
            <p:ph idx="1"/>
            <p:custDataLst>
              <p:tags r:id="rId3"/>
            </p:custDataLst>
          </p:nvPr>
        </p:nvSpPr>
        <p:spPr>
          <a:xfrm>
            <a:off x="1447800" y="1579044"/>
            <a:ext cx="10205720" cy="5291238"/>
          </a:xfrm>
        </p:spPr>
        <p:txBody>
          <a:bodyPr>
            <a:normAutofit/>
          </a:bodyPr>
          <a:lstStyle/>
          <a:p>
            <a:pPr>
              <a:lnSpc>
                <a:spcPct val="104000"/>
              </a:lnSpc>
            </a:pPr>
            <a:endParaRPr lang="fr-FR" b="1" dirty="0"/>
          </a:p>
          <a:p>
            <a:pPr>
              <a:lnSpc>
                <a:spcPct val="104000"/>
              </a:lnSpc>
            </a:pPr>
            <a:r>
              <a:rPr lang="fr-FR" b="1" dirty="0"/>
              <a:t>Déploiement Automatisé </a:t>
            </a:r>
            <a:r>
              <a:rPr lang="fr-FR" dirty="0"/>
              <a:t>: L'orchestration permet de déployer automatiquement des conteneurs sur les hôtes du cluster</a:t>
            </a:r>
          </a:p>
          <a:p>
            <a:pPr>
              <a:lnSpc>
                <a:spcPct val="104000"/>
              </a:lnSpc>
            </a:pPr>
            <a:endParaRPr lang="fr-FR" dirty="0"/>
          </a:p>
          <a:p>
            <a:pPr>
              <a:lnSpc>
                <a:spcPct val="104000"/>
              </a:lnSpc>
            </a:pPr>
            <a:r>
              <a:rPr lang="fr-FR" b="1" dirty="0"/>
              <a:t>Mise à l'Échelle Automatique </a:t>
            </a:r>
            <a:r>
              <a:rPr lang="fr-FR" dirty="0"/>
              <a:t>: En fonction de la charge de travail, l'orchestration peut augmenter ou réduire le nombre de conteneurs en cours d'exécution.</a:t>
            </a:r>
          </a:p>
          <a:p>
            <a:pPr>
              <a:lnSpc>
                <a:spcPct val="104000"/>
              </a:lnSpc>
            </a:pPr>
            <a:endParaRPr lang="fr-FR" b="1" dirty="0"/>
          </a:p>
          <a:p>
            <a:pPr>
              <a:lnSpc>
                <a:spcPct val="104000"/>
              </a:lnSpc>
            </a:pPr>
            <a:r>
              <a:rPr lang="fr-FR" b="1" dirty="0"/>
              <a:t>Gestion des Versions </a:t>
            </a:r>
            <a:r>
              <a:rPr lang="fr-FR" dirty="0"/>
              <a:t>: L'orchestration facilite la mise à jour et le déploiement de nouvelles versions des applications sans interruption de service.</a:t>
            </a:r>
          </a:p>
          <a:p>
            <a:pPr>
              <a:lnSpc>
                <a:spcPct val="104000"/>
              </a:lnSpc>
            </a:pPr>
            <a:endParaRPr lang="fr-FR" b="1" dirty="0"/>
          </a:p>
          <a:p>
            <a:pPr>
              <a:lnSpc>
                <a:spcPct val="104000"/>
              </a:lnSpc>
            </a:pPr>
            <a:r>
              <a:rPr lang="fr-FR" b="1" dirty="0"/>
              <a:t>Répartition de Charge </a:t>
            </a:r>
            <a:r>
              <a:rPr lang="fr-FR" dirty="0"/>
              <a:t>: Elle permet de répartir la charge du trafic réseau entre les conteneurs pour une meilleure performance et une disponibilité continue.</a:t>
            </a:r>
          </a:p>
        </p:txBody>
      </p:sp>
    </p:spTree>
    <p:custDataLst>
      <p:tags r:id="rId1"/>
    </p:custDataLst>
    <p:extLst>
      <p:ext uri="{BB962C8B-B14F-4D97-AF65-F5344CB8AC3E}">
        <p14:creationId xmlns:p14="http://schemas.microsoft.com/office/powerpoint/2010/main" val="29143211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2"/>
            </p:custDataLst>
          </p:nvPr>
        </p:nvSpPr>
        <p:spPr>
          <a:xfrm>
            <a:off x="1447800" y="1719162"/>
            <a:ext cx="10205720" cy="5291238"/>
          </a:xfrm>
        </p:spPr>
        <p:txBody>
          <a:bodyPr>
            <a:normAutofit/>
          </a:bodyPr>
          <a:lstStyle/>
          <a:p>
            <a:pPr>
              <a:lnSpc>
                <a:spcPct val="104000"/>
              </a:lnSpc>
            </a:pPr>
            <a:endParaRPr lang="fr-FR" b="1" dirty="0"/>
          </a:p>
          <a:p>
            <a:pPr>
              <a:lnSpc>
                <a:spcPct val="104000"/>
              </a:lnSpc>
            </a:pPr>
            <a:r>
              <a:rPr lang="fr-FR" b="1" dirty="0"/>
              <a:t>Haute Disponibilité </a:t>
            </a:r>
            <a:r>
              <a:rPr lang="fr-FR" dirty="0"/>
              <a:t>: En cas de défaillance d'un nœud ou d'un conteneur, l'orchestration réaffecte automatiquement les charges de travail pour éviter les interruptions de service.</a:t>
            </a:r>
          </a:p>
          <a:p>
            <a:pPr>
              <a:lnSpc>
                <a:spcPct val="104000"/>
              </a:lnSpc>
            </a:pPr>
            <a:endParaRPr lang="fr-FR" dirty="0"/>
          </a:p>
          <a:p>
            <a:pPr>
              <a:lnSpc>
                <a:spcPct val="104000"/>
              </a:lnSpc>
            </a:pPr>
            <a:r>
              <a:rPr lang="fr-FR" b="1" dirty="0"/>
              <a:t>Configuration Centralisée </a:t>
            </a:r>
            <a:r>
              <a:rPr lang="fr-FR" dirty="0"/>
              <a:t>: L'orchestration offre un moyen centralisé de gérer la configuration, les secrets et les paramètres d'application pour les conteneurs.</a:t>
            </a:r>
          </a:p>
          <a:p>
            <a:pPr>
              <a:lnSpc>
                <a:spcPct val="104000"/>
              </a:lnSpc>
            </a:pPr>
            <a:endParaRPr lang="fr-FR" dirty="0"/>
          </a:p>
          <a:p>
            <a:pPr>
              <a:lnSpc>
                <a:spcPct val="104000"/>
              </a:lnSpc>
            </a:pPr>
            <a:r>
              <a:rPr lang="fr-FR" b="1" dirty="0"/>
              <a:t>Sécurité</a:t>
            </a:r>
            <a:r>
              <a:rPr lang="fr-FR" dirty="0"/>
              <a:t> : Il permet de mettre en place des fonctionnalités de sécurité telles que la gestion des certificats, la segmentation réseau et l'isolation des conteneurs.</a:t>
            </a:r>
          </a:p>
          <a:p>
            <a:pPr>
              <a:lnSpc>
                <a:spcPct val="104000"/>
              </a:lnSpc>
            </a:pPr>
            <a:endParaRPr lang="fr-FR" dirty="0"/>
          </a:p>
          <a:p>
            <a:pPr>
              <a:lnSpc>
                <a:spcPct val="104000"/>
              </a:lnSpc>
            </a:pPr>
            <a:r>
              <a:rPr lang="fr-FR" b="1" dirty="0"/>
              <a:t>Surveillance et Journalisation </a:t>
            </a:r>
            <a:r>
              <a:rPr lang="fr-FR" dirty="0"/>
              <a:t>: Les outils d'orchestration fournissent des fonctionnalités de surveillance avancées, ce qui facilite le dépannage et la surveillance des applications.</a:t>
            </a:r>
          </a:p>
        </p:txBody>
      </p:sp>
      <p:sp>
        <p:nvSpPr>
          <p:cNvPr id="6" name="Title 1">
            <a:extLst>
              <a:ext uri="{FF2B5EF4-FFF2-40B4-BE49-F238E27FC236}">
                <a16:creationId xmlns:a16="http://schemas.microsoft.com/office/drawing/2014/main" id="{2A9EDFFF-0633-C246-AFBD-594F26F6E3B6}"/>
              </a:ext>
            </a:extLst>
          </p:cNvPr>
          <p:cNvSpPr txBox="1">
            <a:spLocks/>
          </p:cNvSpPr>
          <p:nvPr>
            <p:custDataLst>
              <p:tags r:id="rId3"/>
            </p:custDataLst>
          </p:nvPr>
        </p:nvSpPr>
        <p:spPr>
          <a:xfrm>
            <a:off x="1447800" y="576162"/>
            <a:ext cx="8458200" cy="1143000"/>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fr-FR" dirty="0"/>
              <a:t>Orchestration, objectifs (2)</a:t>
            </a:r>
          </a:p>
        </p:txBody>
      </p:sp>
    </p:spTree>
    <p:custDataLst>
      <p:tags r:id="rId1"/>
    </p:custDataLst>
    <p:extLst>
      <p:ext uri="{BB962C8B-B14F-4D97-AF65-F5344CB8AC3E}">
        <p14:creationId xmlns:p14="http://schemas.microsoft.com/office/powerpoint/2010/main" val="19963098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custDataLst>
              <p:tags r:id="rId2"/>
            </p:custDataLst>
          </p:nvPr>
        </p:nvSpPr>
        <p:spPr>
          <a:xfrm>
            <a:off x="1310640" y="1719162"/>
            <a:ext cx="8229600" cy="5291238"/>
          </a:xfrm>
        </p:spPr>
        <p:txBody>
          <a:bodyPr>
            <a:normAutofit/>
          </a:bodyPr>
          <a:lstStyle/>
          <a:p>
            <a:pPr marL="0" indent="0">
              <a:buNone/>
            </a:pPr>
            <a:endParaRPr lang="fr-FR" dirty="0"/>
          </a:p>
          <a:p>
            <a:pPr lvl="1"/>
            <a:r>
              <a:rPr lang="fr-FR" b="1" dirty="0"/>
              <a:t>Google </a:t>
            </a:r>
            <a:r>
              <a:rPr lang="fr-FR" b="1" dirty="0" err="1"/>
              <a:t>Kubernetes</a:t>
            </a:r>
            <a:endParaRPr lang="fr-FR" b="1" dirty="0"/>
          </a:p>
          <a:p>
            <a:pPr lvl="1"/>
            <a:r>
              <a:rPr lang="fr-FR" b="1" dirty="0"/>
              <a:t>Apache MESOS</a:t>
            </a:r>
          </a:p>
          <a:p>
            <a:pPr lvl="1"/>
            <a:r>
              <a:rPr lang="fr-FR" b="1" dirty="0"/>
              <a:t>Docker </a:t>
            </a:r>
            <a:r>
              <a:rPr lang="fr-FR" b="1" dirty="0" err="1"/>
              <a:t>Swarm</a:t>
            </a:r>
            <a:endParaRPr lang="fr-FR" b="1" dirty="0"/>
          </a:p>
        </p:txBody>
      </p:sp>
      <p:sp>
        <p:nvSpPr>
          <p:cNvPr id="8" name="Title 1">
            <a:extLst>
              <a:ext uri="{FF2B5EF4-FFF2-40B4-BE49-F238E27FC236}">
                <a16:creationId xmlns:a16="http://schemas.microsoft.com/office/drawing/2014/main" id="{E47B366E-6C9E-C11A-CEDF-A2F9C3A068B8}"/>
              </a:ext>
            </a:extLst>
          </p:cNvPr>
          <p:cNvSpPr txBox="1">
            <a:spLocks/>
          </p:cNvSpPr>
          <p:nvPr>
            <p:custDataLst>
              <p:tags r:id="rId3"/>
            </p:custDataLst>
          </p:nvPr>
        </p:nvSpPr>
        <p:spPr>
          <a:xfrm>
            <a:off x="1447800" y="576162"/>
            <a:ext cx="8458200" cy="1143000"/>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fr-FR" dirty="0"/>
              <a:t>Orchestration - Orchestration</a:t>
            </a:r>
          </a:p>
        </p:txBody>
      </p:sp>
      <p:pic>
        <p:nvPicPr>
          <p:cNvPr id="10" name="Image 9">
            <a:extLst>
              <a:ext uri="{FF2B5EF4-FFF2-40B4-BE49-F238E27FC236}">
                <a16:creationId xmlns:a16="http://schemas.microsoft.com/office/drawing/2014/main" id="{A6FFBD1E-597D-B6A4-9174-16CC0A2D45C9}"/>
              </a:ext>
            </a:extLst>
          </p:cNvPr>
          <p:cNvPicPr>
            <a:picLocks noChangeAspect="1"/>
          </p:cNvPicPr>
          <p:nvPr/>
        </p:nvPicPr>
        <p:blipFill>
          <a:blip r:embed="rId6"/>
          <a:stretch>
            <a:fillRect/>
          </a:stretch>
        </p:blipFill>
        <p:spPr>
          <a:xfrm>
            <a:off x="4683760" y="1566638"/>
            <a:ext cx="7345680" cy="5199750"/>
          </a:xfrm>
          <a:prstGeom prst="rect">
            <a:avLst/>
          </a:prstGeom>
        </p:spPr>
      </p:pic>
    </p:spTree>
    <p:custDataLst>
      <p:tags r:id="rId1"/>
    </p:custDataLst>
    <p:extLst>
      <p:ext uri="{BB962C8B-B14F-4D97-AF65-F5344CB8AC3E}">
        <p14:creationId xmlns:p14="http://schemas.microsoft.com/office/powerpoint/2010/main" val="360504644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D7CDF6-6BBA-C6B9-45C5-831CD75C4575}"/>
              </a:ext>
            </a:extLst>
          </p:cNvPr>
          <p:cNvSpPr>
            <a:spLocks noGrp="1"/>
          </p:cNvSpPr>
          <p:nvPr>
            <p:ph type="title"/>
          </p:nvPr>
        </p:nvSpPr>
        <p:spPr/>
        <p:txBody>
          <a:bodyPr/>
          <a:lstStyle/>
          <a:p>
            <a:r>
              <a:rPr lang="fr-FR" dirty="0"/>
              <a:t>Autres fonctions …</a:t>
            </a:r>
            <a:endParaRPr lang="fr-MA" dirty="0"/>
          </a:p>
        </p:txBody>
      </p:sp>
      <p:sp>
        <p:nvSpPr>
          <p:cNvPr id="3" name="Espace réservé du contenu 2">
            <a:extLst>
              <a:ext uri="{FF2B5EF4-FFF2-40B4-BE49-F238E27FC236}">
                <a16:creationId xmlns:a16="http://schemas.microsoft.com/office/drawing/2014/main" id="{0B0793C8-3B3B-4A46-371D-C8ED402F521B}"/>
              </a:ext>
            </a:extLst>
          </p:cNvPr>
          <p:cNvSpPr>
            <a:spLocks noGrp="1"/>
          </p:cNvSpPr>
          <p:nvPr>
            <p:ph idx="1"/>
          </p:nvPr>
        </p:nvSpPr>
        <p:spPr/>
        <p:txBody>
          <a:bodyPr/>
          <a:lstStyle/>
          <a:p>
            <a:r>
              <a:rPr lang="fr-FR" dirty="0"/>
              <a:t>Gestion des ressources</a:t>
            </a:r>
          </a:p>
          <a:p>
            <a:r>
              <a:rPr lang="fr-FR" dirty="0"/>
              <a:t>Migration des </a:t>
            </a:r>
            <a:r>
              <a:rPr lang="fr-FR" dirty="0" err="1"/>
              <a:t>VMs</a:t>
            </a:r>
            <a:endParaRPr lang="fr-FR" dirty="0"/>
          </a:p>
          <a:p>
            <a:r>
              <a:rPr lang="fr-FR" dirty="0"/>
              <a:t>Snapshots</a:t>
            </a:r>
            <a:endParaRPr lang="fr-MA" dirty="0"/>
          </a:p>
        </p:txBody>
      </p:sp>
    </p:spTree>
    <p:extLst>
      <p:ext uri="{BB962C8B-B14F-4D97-AF65-F5344CB8AC3E}">
        <p14:creationId xmlns:p14="http://schemas.microsoft.com/office/powerpoint/2010/main" val="14397049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2.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3.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4.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5.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6.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7.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8.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9.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10.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11.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12.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13.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14.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15.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16.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17.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18.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19.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20.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21.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22.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23.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24.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25.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26.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27.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28.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29.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30.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31.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32.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33.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34.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35.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36.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37.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38.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39.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40.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41.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42.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43.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44.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45.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46.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47.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48.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49.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50.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51.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52.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53.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54.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55.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56.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57.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58.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59.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60.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61.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62.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63.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64.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65.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66.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67.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68.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69.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70.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71.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72.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73.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74.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75.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76.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77.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78.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79.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80.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81.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82.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83.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84.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85.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86.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87.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88.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89.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90.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91.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92.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93.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94.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95.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96.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97.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98.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99.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100.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heme/theme1.xml><?xml version="1.0" encoding="utf-8"?>
<a:theme xmlns:a="http://schemas.openxmlformats.org/drawingml/2006/main" name="Cadrage">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{11D23B2C-3D59-4614-A8AA-563268A4D673}tf10001105</Template>
  <TotalTime>25345</TotalTime>
  <Words>5773</Words>
  <Application>Microsoft Office PowerPoint</Application>
  <PresentationFormat>Widescreen</PresentationFormat>
  <Paragraphs>644</Paragraphs>
  <Slides>107</Slides>
  <Notes>34</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107</vt:i4>
      </vt:variant>
    </vt:vector>
  </HeadingPairs>
  <TitlesOfParts>
    <vt:vector size="116" baseType="lpstr">
      <vt:lpstr>Arial</vt:lpstr>
      <vt:lpstr>Calibri</vt:lpstr>
      <vt:lpstr>Courier New</vt:lpstr>
      <vt:lpstr>Franklin Gothic Book</vt:lpstr>
      <vt:lpstr>Söhne</vt:lpstr>
      <vt:lpstr>Symbol</vt:lpstr>
      <vt:lpstr>Times New Roman</vt:lpstr>
      <vt:lpstr>Wingdings</vt:lpstr>
      <vt:lpstr>Cadrage</vt:lpstr>
      <vt:lpstr>Cloud  &amp;  virtualisation</vt:lpstr>
      <vt:lpstr>Chapitre 1</vt:lpstr>
      <vt:lpstr>Introduction :</vt:lpstr>
      <vt:lpstr>Introduction</vt:lpstr>
      <vt:lpstr>Virtualisation / Conteneurisation</vt:lpstr>
      <vt:lpstr>Virtualisation / Conteneurisation</vt:lpstr>
      <vt:lpstr>Machine Virtuelle</vt:lpstr>
      <vt:lpstr>Conteneur</vt:lpstr>
      <vt:lpstr>Pourquoi utiliser la virtualisation ?</vt:lpstr>
      <vt:lpstr>Histoire de la Virtualisation</vt:lpstr>
      <vt:lpstr>Avantage de la virtualisation</vt:lpstr>
      <vt:lpstr>Avantage de la virtualisation</vt:lpstr>
      <vt:lpstr>Inconvénients de la virtualisation</vt:lpstr>
      <vt:lpstr>Chapitre 2</vt:lpstr>
      <vt:lpstr>Techniques de cloisonnement</vt:lpstr>
      <vt:lpstr>Techniques de cloisonnement</vt:lpstr>
      <vt:lpstr>Techniques de cloisonnement</vt:lpstr>
      <vt:lpstr>Techniques de cloisonnement</vt:lpstr>
      <vt:lpstr>Chapitre 3</vt:lpstr>
      <vt:lpstr>Domaines de virtualisation</vt:lpstr>
      <vt:lpstr>Virtualisation des Applications - Aperçu</vt:lpstr>
      <vt:lpstr>Virtualisation des Applications - Types</vt:lpstr>
      <vt:lpstr>Virtualisation des Applications – Types  - Conteneurs (Docker, Linux)</vt:lpstr>
      <vt:lpstr>Virtualisation des Applications – Types  - Client / serveur (Streaming / Pixel)</vt:lpstr>
      <vt:lpstr>Virtualisation des Applications – Types  - Virtualisation d’Applications Autonomes</vt:lpstr>
      <vt:lpstr>Virtualisation des Applications - Outils</vt:lpstr>
      <vt:lpstr>Virtualisation des Applications – Pros</vt:lpstr>
      <vt:lpstr>Virtualisation des Applications –Cons</vt:lpstr>
      <vt:lpstr>Virtualisation des Machines - Aperçu</vt:lpstr>
      <vt:lpstr>Virtualisation des Machines - Outils</vt:lpstr>
      <vt:lpstr>Virtualisation des Machines – Pros</vt:lpstr>
      <vt:lpstr>Virtualisation des Machines –Cons</vt:lpstr>
      <vt:lpstr>Virtualisation des Serveurs - Aperçu</vt:lpstr>
      <vt:lpstr>Hyperviseur de TYPE 1 et TYPE 2</vt:lpstr>
      <vt:lpstr>Virtualisation des Serveurs - Avancée</vt:lpstr>
      <vt:lpstr>Virtualisation des Serveurs - Outils</vt:lpstr>
      <vt:lpstr>Virtualisation des Serveurs– Pros</vt:lpstr>
      <vt:lpstr>Virtualisation des Serveurs –Cons</vt:lpstr>
      <vt:lpstr>Virtualisation du stockage - Aperçu</vt:lpstr>
      <vt:lpstr>Virtualisation du stockage – utilités</vt:lpstr>
      <vt:lpstr>Virtualisation du stockage – RAID  Redundant Array of Independent Disks</vt:lpstr>
      <vt:lpstr>Virtualisation du stockage – RAID  Redundant Array of Independent Disks</vt:lpstr>
      <vt:lpstr>Virtualisation du stockage - DAS/NAS/SAN</vt:lpstr>
      <vt:lpstr>Virtualisation du stockage - DAS</vt:lpstr>
      <vt:lpstr>Virtualisation du stockage - NAS</vt:lpstr>
      <vt:lpstr>Virtualisation du stockage - SAN</vt:lpstr>
      <vt:lpstr>Virtualisation du stockage - SAN</vt:lpstr>
      <vt:lpstr>Virtualisation du stockage - Datacenters</vt:lpstr>
      <vt:lpstr>Virtualisation du stockage – Block-Level / File Level</vt:lpstr>
      <vt:lpstr>Virtualisation du stockage – Block-Level</vt:lpstr>
      <vt:lpstr>Virtualisation du stockage – File-Level</vt:lpstr>
      <vt:lpstr>Virtualisation du stockage – Block-Level / File-Level</vt:lpstr>
      <vt:lpstr>Virtualisation du stockage – Pros</vt:lpstr>
      <vt:lpstr>Virtualisation des réseaux - Aperçu</vt:lpstr>
      <vt:lpstr>Virtualisation des réseaux– utilités</vt:lpstr>
      <vt:lpstr>Virtualisation des réseaux– VLAN Virtual LAN</vt:lpstr>
      <vt:lpstr>Virtualisation des réseaux– VPN Virtual Private Network</vt:lpstr>
      <vt:lpstr>Virtualisation des réseaux– SDN Software-Defined Network</vt:lpstr>
      <vt:lpstr>Virtualisation des réseaux– SDN Sofwares</vt:lpstr>
      <vt:lpstr>Virtualisation des réseaux– SDN Hardwares</vt:lpstr>
      <vt:lpstr>Fonctions des hyperviseurs</vt:lpstr>
      <vt:lpstr>Le stockage</vt:lpstr>
      <vt:lpstr>Le réseau</vt:lpstr>
      <vt:lpstr>Le réseau</vt:lpstr>
      <vt:lpstr>Docker – intro.</vt:lpstr>
      <vt:lpstr>Docker - Introduction</vt:lpstr>
      <vt:lpstr>Pourquoi docker ?</vt:lpstr>
      <vt:lpstr>Docker est il un hyperviseur ?</vt:lpstr>
      <vt:lpstr>C’est quoi un conteneur ? </vt:lpstr>
      <vt:lpstr>C’est quoi un conteneur ? </vt:lpstr>
      <vt:lpstr>Docker Hub? </vt:lpstr>
      <vt:lpstr>Docker Hub? </vt:lpstr>
      <vt:lpstr>Images Vs Conteneurs </vt:lpstr>
      <vt:lpstr>PowerPoint Presentation</vt:lpstr>
      <vt:lpstr>Docker – how to?</vt:lpstr>
      <vt:lpstr>Docker : Commandes (1) </vt:lpstr>
      <vt:lpstr>Docker : Commandes (2)  </vt:lpstr>
      <vt:lpstr>Docker : Commandes (3)  </vt:lpstr>
      <vt:lpstr>Essayer d’expliquer cet exemple </vt:lpstr>
      <vt:lpstr>Mode attaché / détaché </vt:lpstr>
      <vt:lpstr>Mapping de ports</vt:lpstr>
      <vt:lpstr>Mapping de volumes</vt:lpstr>
      <vt:lpstr>Variables d’environnement</vt:lpstr>
      <vt:lpstr>Les réseaux</vt:lpstr>
      <vt:lpstr>Les réseaux, conteneurs entre eux</vt:lpstr>
      <vt:lpstr>Le stockage</vt:lpstr>
      <vt:lpstr>Exemples : mysql (1) </vt:lpstr>
      <vt:lpstr>Exemples : mysql (2) </vt:lpstr>
      <vt:lpstr>Exemples : apache (1) </vt:lpstr>
      <vt:lpstr>Exemples : apache (2) </vt:lpstr>
      <vt:lpstr>DockerFile et  les images</vt:lpstr>
      <vt:lpstr>Pourquoi et comment créer une image</vt:lpstr>
      <vt:lpstr>DockerFile (1)</vt:lpstr>
      <vt:lpstr>DockerFile (2)</vt:lpstr>
      <vt:lpstr>Docker Compose</vt:lpstr>
      <vt:lpstr>Problème avec les commandes run</vt:lpstr>
      <vt:lpstr>docker-compose : exemple 1</vt:lpstr>
      <vt:lpstr>docker-compose : exemple 2</vt:lpstr>
      <vt:lpstr>docker-compose : exemple 3</vt:lpstr>
      <vt:lpstr>docker-compose : exemple 3</vt:lpstr>
      <vt:lpstr>Orchestration des conteneurs</vt:lpstr>
      <vt:lpstr>L’orchestration, introduction</vt:lpstr>
      <vt:lpstr>Private Docker Repository</vt:lpstr>
      <vt:lpstr>Orchestration, objectifs (1)</vt:lpstr>
      <vt:lpstr>PowerPoint Presentation</vt:lpstr>
      <vt:lpstr>PowerPoint Presentation</vt:lpstr>
      <vt:lpstr>Autres fonctions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&amp;  virtualisation</dc:title>
  <dc:creator>mohammed Nasri</dc:creator>
  <cp:lastModifiedBy>mohammed Nasri</cp:lastModifiedBy>
  <cp:revision>79</cp:revision>
  <dcterms:created xsi:type="dcterms:W3CDTF">2023-09-20T09:52:59Z</dcterms:created>
  <dcterms:modified xsi:type="dcterms:W3CDTF">2024-10-31T09:02:33Z</dcterms:modified>
</cp:coreProperties>
</file>